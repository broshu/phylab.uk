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733"/>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3A4150"/>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848D9E"/>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848D9E"/>
                </a:solidFill>
                <a:latin typeface="Poppins" pitchFamily="34" charset="0"/>
                <a:ea typeface="Poppins" pitchFamily="34" charset="-122"/>
                <a:cs typeface="Poppins" pitchFamily="34" charset="-120"/>
              </a:rPr>
              <a:t>1</a:t>
            </a:r>
            <a:endParaRPr lang="en-US" sz="650" dirty="0"/>
          </a:p>
        </p:txBody>
      </p:sp>
      <p:sp>
        <p:nvSpPr>
          <p:cNvPr id="5" name="Shape 3"/>
          <p:cNvSpPr/>
          <p:nvPr/>
        </p:nvSpPr>
        <p:spPr>
          <a:xfrm>
            <a:off x="0" y="0"/>
            <a:ext cx="9144000" cy="64008"/>
          </a:xfrm>
          <a:prstGeom prst="rect">
            <a:avLst/>
          </a:prstGeom>
          <a:solidFill>
            <a:srgbClr val="C0541F"/>
          </a:solidFill>
          <a:ln/>
        </p:spPr>
      </p:sp>
      <p:sp>
        <p:nvSpPr>
          <p:cNvPr id="6" name="Shape 4"/>
          <p:cNvSpPr/>
          <p:nvPr/>
        </p:nvSpPr>
        <p:spPr>
          <a:xfrm>
            <a:off x="502920" y="1572768"/>
            <a:ext cx="274320" cy="45720"/>
          </a:xfrm>
          <a:prstGeom prst="rect">
            <a:avLst/>
          </a:prstGeom>
          <a:solidFill>
            <a:srgbClr val="C0541F"/>
          </a:solidFill>
          <a:ln/>
        </p:spPr>
      </p:sp>
      <p:sp>
        <p:nvSpPr>
          <p:cNvPr id="7" name="Text 5"/>
          <p:cNvSpPr/>
          <p:nvPr/>
        </p:nvSpPr>
        <p:spPr>
          <a:xfrm>
            <a:off x="502920" y="1783080"/>
            <a:ext cx="7315200" cy="1371600"/>
          </a:xfrm>
          <a:prstGeom prst="rect">
            <a:avLst/>
          </a:prstGeom>
          <a:noFill/>
          <a:ln/>
        </p:spPr>
        <p:txBody>
          <a:bodyPr wrap="square" lIns="0" tIns="0" rIns="0" bIns="0" rtlCol="0" anchor="t"/>
          <a:lstStyle/>
          <a:p>
            <a:pPr indent="0" marL="0">
              <a:lnSpc>
                <a:spcPct val="105000"/>
              </a:lnSpc>
              <a:buNone/>
            </a:pPr>
            <a:r>
              <a:rPr lang="en-US" sz="3800" b="1" dirty="0">
                <a:solidFill>
                  <a:srgbClr val="FFFFFF"/>
                </a:solidFill>
                <a:latin typeface="Poppins SemiBold" pitchFamily="34" charset="0"/>
                <a:ea typeface="Poppins SemiBold" pitchFamily="34" charset="-122"/>
                <a:cs typeface="Poppins SemiBold" pitchFamily="34" charset="-120"/>
              </a:rPr>
              <a:t>Resistance</a:t>
            </a:r>
            <a:endParaRPr lang="en-US" sz="3800" dirty="0"/>
          </a:p>
          <a:p>
            <a:pPr indent="0" marL="0">
              <a:lnSpc>
                <a:spcPct val="105000"/>
              </a:lnSpc>
              <a:buNone/>
            </a:pPr>
            <a:r>
              <a:rPr lang="en-US" sz="3800" b="1" dirty="0">
                <a:solidFill>
                  <a:srgbClr val="FFFFFF"/>
                </a:solidFill>
                <a:latin typeface="Poppins SemiBold" pitchFamily="34" charset="0"/>
                <a:ea typeface="Poppins SemiBold" pitchFamily="34" charset="-122"/>
                <a:cs typeface="Poppins SemiBold" pitchFamily="34" charset="-120"/>
              </a:rPr>
              <a:t>of a Conductor</a:t>
            </a:r>
            <a:endParaRPr lang="en-US" sz="3800" dirty="0"/>
          </a:p>
        </p:txBody>
      </p:sp>
      <p:sp>
        <p:nvSpPr>
          <p:cNvPr id="8" name="Text 6"/>
          <p:cNvSpPr/>
          <p:nvPr/>
        </p:nvSpPr>
        <p:spPr>
          <a:xfrm>
            <a:off x="502920" y="3246120"/>
            <a:ext cx="5486400" cy="274320"/>
          </a:xfrm>
          <a:prstGeom prst="rect">
            <a:avLst/>
          </a:prstGeom>
          <a:noFill/>
          <a:ln/>
        </p:spPr>
        <p:txBody>
          <a:bodyPr wrap="square" lIns="0" tIns="0" rIns="0" bIns="0" rtlCol="0" anchor="ctr"/>
          <a:lstStyle/>
          <a:p>
            <a:pPr indent="0" marL="0">
              <a:buNone/>
            </a:pPr>
            <a:r>
              <a:rPr lang="en-US" sz="1200" dirty="0">
                <a:solidFill>
                  <a:srgbClr val="B9C0CC"/>
                </a:solidFill>
                <a:latin typeface="Poppins" pitchFamily="34" charset="0"/>
                <a:ea typeface="Poppins" pitchFamily="34" charset="-122"/>
                <a:cs typeface="Poppins" pitchFamily="34" charset="-120"/>
              </a:rPr>
              <a:t>Senior High Physics   ·   Electric Circuits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2</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OPENING QUESTION</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300" b="1" dirty="0">
                <a:solidFill>
                  <a:srgbClr val="222733"/>
                </a:solidFill>
                <a:latin typeface="Poppins SemiBold" pitchFamily="34" charset="0"/>
                <a:ea typeface="Poppins SemiBold" pitchFamily="34" charset="-122"/>
                <a:cs typeface="Poppins SemiBold" pitchFamily="34" charset="-120"/>
              </a:rPr>
              <a:t>Why are these wires so different?</a:t>
            </a:r>
            <a:endParaRPr lang="en-US" sz="2300" dirty="0"/>
          </a:p>
        </p:txBody>
      </p:sp>
      <p:pic>
        <p:nvPicPr>
          <p:cNvPr id="7" name="Image 0" descr="assets/image1.jpeg">    </p:cNvPr>
          <p:cNvPicPr>
            <a:picLocks noChangeAspect="1"/>
          </p:cNvPicPr>
          <p:nvPr/>
        </p:nvPicPr>
        <p:blipFill>
          <a:blip r:embed="rId1"/>
          <a:stretch>
            <a:fillRect/>
          </a:stretch>
        </p:blipFill>
        <p:spPr>
          <a:xfrm>
            <a:off x="502920" y="1143000"/>
            <a:ext cx="4140533" cy="2329804"/>
          </a:xfrm>
          <a:prstGeom prst="rect">
            <a:avLst/>
          </a:prstGeom>
        </p:spPr>
      </p:pic>
      <p:pic>
        <p:nvPicPr>
          <p:cNvPr id="8" name="Image 1" descr="assets/image2.jpeg">    </p:cNvPr>
          <p:cNvPicPr>
            <a:picLocks noChangeAspect="1"/>
          </p:cNvPicPr>
          <p:nvPr/>
        </p:nvPicPr>
        <p:blipFill>
          <a:blip r:embed="rId2"/>
          <a:stretch>
            <a:fillRect/>
          </a:stretch>
        </p:blipFill>
        <p:spPr>
          <a:xfrm>
            <a:off x="5146373" y="1143000"/>
            <a:ext cx="3494707" cy="2329804"/>
          </a:xfrm>
          <a:prstGeom prst="rect">
            <a:avLst/>
          </a:prstGeom>
        </p:spPr>
      </p:pic>
      <p:sp>
        <p:nvSpPr>
          <p:cNvPr id="9" name="Text 5"/>
          <p:cNvSpPr/>
          <p:nvPr/>
        </p:nvSpPr>
        <p:spPr>
          <a:xfrm>
            <a:off x="502920" y="3545956"/>
            <a:ext cx="4140533" cy="384048"/>
          </a:xfrm>
          <a:prstGeom prst="rect">
            <a:avLst/>
          </a:prstGeom>
          <a:noFill/>
          <a:ln/>
        </p:spPr>
        <p:txBody>
          <a:bodyPr wrap="square" lIns="0" tIns="0" rIns="0" bIns="0" rtlCol="0" anchor="t"/>
          <a:lstStyle/>
          <a:p>
            <a:pPr algn="ctr" indent="0" marL="0">
              <a:buNone/>
            </a:pPr>
            <a:r>
              <a:rPr lang="en-US" sz="900" dirty="0">
                <a:solidFill>
                  <a:srgbClr val="8A8378"/>
                </a:solidFill>
                <a:latin typeface="Poppins" pitchFamily="34" charset="0"/>
                <a:ea typeface="Poppins" pitchFamily="34" charset="-122"/>
                <a:cs typeface="Poppins" pitchFamily="34" charset="-120"/>
              </a:rPr>
              <a:t>Household wiring: every gauge carries a different maximum current</a:t>
            </a:r>
            <a:endParaRPr lang="en-US" sz="900" dirty="0"/>
          </a:p>
        </p:txBody>
      </p:sp>
      <p:sp>
        <p:nvSpPr>
          <p:cNvPr id="10" name="Text 6"/>
          <p:cNvSpPr/>
          <p:nvPr/>
        </p:nvSpPr>
        <p:spPr>
          <a:xfrm>
            <a:off x="5146373" y="3545956"/>
            <a:ext cx="3494707" cy="384048"/>
          </a:xfrm>
          <a:prstGeom prst="rect">
            <a:avLst/>
          </a:prstGeom>
          <a:noFill/>
          <a:ln/>
        </p:spPr>
        <p:txBody>
          <a:bodyPr wrap="square" lIns="0" tIns="0" rIns="0" bIns="0" rtlCol="0" anchor="t"/>
          <a:lstStyle/>
          <a:p>
            <a:pPr algn="ctr" indent="0" marL="0">
              <a:buNone/>
            </a:pPr>
            <a:r>
              <a:rPr lang="en-US" sz="900" dirty="0">
                <a:solidFill>
                  <a:srgbClr val="8A8378"/>
                </a:solidFill>
                <a:latin typeface="Poppins" pitchFamily="34" charset="0"/>
                <a:ea typeface="Poppins" pitchFamily="34" charset="-122"/>
                <a:cs typeface="Poppins" pitchFamily="34" charset="-120"/>
              </a:rPr>
              <a:t>High-voltage lines: thick, bare aluminium — why?</a:t>
            </a:r>
            <a:endParaRPr lang="en-US" sz="900" dirty="0"/>
          </a:p>
        </p:txBody>
      </p:sp>
      <p:sp>
        <p:nvSpPr>
          <p:cNvPr id="11" name="Shape 7"/>
          <p:cNvSpPr/>
          <p:nvPr/>
        </p:nvSpPr>
        <p:spPr>
          <a:xfrm>
            <a:off x="685800" y="4087368"/>
            <a:ext cx="32004" cy="384048"/>
          </a:xfrm>
          <a:prstGeom prst="rect">
            <a:avLst/>
          </a:prstGeom>
          <a:solidFill>
            <a:srgbClr val="C0541F"/>
          </a:solidFill>
          <a:ln/>
        </p:spPr>
      </p:sp>
      <p:sp>
        <p:nvSpPr>
          <p:cNvPr id="12" name="Text 8"/>
          <p:cNvSpPr/>
          <p:nvPr/>
        </p:nvSpPr>
        <p:spPr>
          <a:xfrm>
            <a:off x="850392" y="4069080"/>
            <a:ext cx="7607808" cy="457200"/>
          </a:xfrm>
          <a:prstGeom prst="rect">
            <a:avLst/>
          </a:prstGeom>
          <a:noFill/>
          <a:ln/>
        </p:spPr>
        <p:txBody>
          <a:bodyPr wrap="square" lIns="0" tIns="0" rIns="0" bIns="0" rtlCol="0" anchor="t"/>
          <a:lstStyle/>
          <a:p>
            <a:pPr indent="0" marL="0">
              <a:buNone/>
            </a:pPr>
            <a:r>
              <a:rPr lang="en-US" sz="1150" i="1" dirty="0">
                <a:solidFill>
                  <a:srgbClr val="4A5260"/>
                </a:solidFill>
                <a:latin typeface="Lora" pitchFamily="34" charset="0"/>
                <a:ea typeface="Lora" pitchFamily="34" charset="-122"/>
                <a:cs typeface="Lora" pitchFamily="34" charset="-120"/>
              </a:rPr>
              <a:t>Same metal, same electricity — yet thickness, length and material all matter. By the end of this lesson you will be able to say exactly how much they matter.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3</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CONTEXT</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300" b="1" dirty="0">
                <a:solidFill>
                  <a:srgbClr val="222733"/>
                </a:solidFill>
                <a:latin typeface="Poppins SemiBold" pitchFamily="34" charset="0"/>
                <a:ea typeface="Poppins SemiBold" pitchFamily="34" charset="-122"/>
                <a:cs typeface="Poppins SemiBold" pitchFamily="34" charset="-120"/>
              </a:rPr>
              <a:t>Sometimes resistance is the whole point</a:t>
            </a:r>
            <a:endParaRPr lang="en-US" sz="2300" dirty="0"/>
          </a:p>
        </p:txBody>
      </p:sp>
      <p:sp>
        <p:nvSpPr>
          <p:cNvPr id="7" name="Text 5"/>
          <p:cNvSpPr/>
          <p:nvPr/>
        </p:nvSpPr>
        <p:spPr>
          <a:xfrm>
            <a:off x="502920" y="1463040"/>
            <a:ext cx="3383280" cy="274320"/>
          </a:xfrm>
          <a:prstGeom prst="rect">
            <a:avLst/>
          </a:prstGeom>
          <a:noFill/>
          <a:ln/>
        </p:spPr>
        <p:txBody>
          <a:bodyPr wrap="square" lIns="0" tIns="0" rIns="0" bIns="0" rtlCol="0" anchor="ctr"/>
          <a:lstStyle/>
          <a:p>
            <a:pPr indent="0" marL="0">
              <a:buNone/>
            </a:pPr>
            <a:r>
              <a:rPr lang="en-US" sz="1250" b="1" dirty="0">
                <a:solidFill>
                  <a:srgbClr val="222733"/>
                </a:solidFill>
                <a:latin typeface="Poppins Medium" pitchFamily="34" charset="0"/>
                <a:ea typeface="Poppins Medium" pitchFamily="34" charset="-122"/>
                <a:cs typeface="Poppins Medium" pitchFamily="34" charset="-120"/>
              </a:rPr>
              <a:t>Every conductor resists</a:t>
            </a:r>
            <a:endParaRPr lang="en-US" sz="1250" dirty="0"/>
          </a:p>
        </p:txBody>
      </p:sp>
      <p:sp>
        <p:nvSpPr>
          <p:cNvPr id="8" name="Text 6"/>
          <p:cNvSpPr/>
          <p:nvPr/>
        </p:nvSpPr>
        <p:spPr>
          <a:xfrm>
            <a:off x="502920" y="1737360"/>
            <a:ext cx="3383280" cy="640080"/>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Wires, filaments, even your body — anything that carries current opposes it to some degree.</a:t>
            </a:r>
            <a:endParaRPr lang="en-US" sz="1050" dirty="0"/>
          </a:p>
        </p:txBody>
      </p:sp>
      <p:sp>
        <p:nvSpPr>
          <p:cNvPr id="9" name="Text 7"/>
          <p:cNvSpPr/>
          <p:nvPr/>
        </p:nvSpPr>
        <p:spPr>
          <a:xfrm>
            <a:off x="502920" y="2514600"/>
            <a:ext cx="3383280" cy="274320"/>
          </a:xfrm>
          <a:prstGeom prst="rect">
            <a:avLst/>
          </a:prstGeom>
          <a:noFill/>
          <a:ln/>
        </p:spPr>
        <p:txBody>
          <a:bodyPr wrap="square" lIns="0" tIns="0" rIns="0" bIns="0" rtlCol="0" anchor="ctr"/>
          <a:lstStyle/>
          <a:p>
            <a:pPr indent="0" marL="0">
              <a:buNone/>
            </a:pPr>
            <a:r>
              <a:rPr lang="en-US" sz="1250" b="1" dirty="0">
                <a:solidFill>
                  <a:srgbClr val="222733"/>
                </a:solidFill>
                <a:latin typeface="Poppins Medium" pitchFamily="34" charset="0"/>
                <a:ea typeface="Poppins Medium" pitchFamily="34" charset="-122"/>
                <a:cs typeface="Poppins Medium" pitchFamily="34" charset="-120"/>
              </a:rPr>
              <a:t>Resistors are deliberate</a:t>
            </a:r>
            <a:endParaRPr lang="en-US" sz="1250" dirty="0"/>
          </a:p>
        </p:txBody>
      </p:sp>
      <p:sp>
        <p:nvSpPr>
          <p:cNvPr id="10" name="Text 8"/>
          <p:cNvSpPr/>
          <p:nvPr/>
        </p:nvSpPr>
        <p:spPr>
          <a:xfrm>
            <a:off x="502920" y="2788920"/>
            <a:ext cx="3383280" cy="640080"/>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Manufactured components that provide a precise, reliable amount of resistance.</a:t>
            </a:r>
            <a:endParaRPr lang="en-US" sz="1050" dirty="0"/>
          </a:p>
        </p:txBody>
      </p:sp>
      <p:sp>
        <p:nvSpPr>
          <p:cNvPr id="11" name="Text 9"/>
          <p:cNvSpPr/>
          <p:nvPr/>
        </p:nvSpPr>
        <p:spPr>
          <a:xfrm>
            <a:off x="502920" y="3566160"/>
            <a:ext cx="3383280" cy="274320"/>
          </a:xfrm>
          <a:prstGeom prst="rect">
            <a:avLst/>
          </a:prstGeom>
          <a:noFill/>
          <a:ln/>
        </p:spPr>
        <p:txBody>
          <a:bodyPr wrap="square" lIns="0" tIns="0" rIns="0" bIns="0" rtlCol="0" anchor="ctr"/>
          <a:lstStyle/>
          <a:p>
            <a:pPr indent="0" marL="0">
              <a:buNone/>
            </a:pPr>
            <a:r>
              <a:rPr lang="en-US" sz="1250" b="1" dirty="0">
                <a:solidFill>
                  <a:srgbClr val="222733"/>
                </a:solidFill>
                <a:latin typeface="Poppins Medium" pitchFamily="34" charset="0"/>
                <a:ea typeface="Poppins Medium" pitchFamily="34" charset="-122"/>
                <a:cs typeface="Poppins Medium" pitchFamily="34" charset="-120"/>
              </a:rPr>
              <a:t>Why we need them</a:t>
            </a:r>
            <a:endParaRPr lang="en-US" sz="1250" dirty="0"/>
          </a:p>
        </p:txBody>
      </p:sp>
      <p:sp>
        <p:nvSpPr>
          <p:cNvPr id="12" name="Text 10"/>
          <p:cNvSpPr/>
          <p:nvPr/>
        </p:nvSpPr>
        <p:spPr>
          <a:xfrm>
            <a:off x="502920" y="3840480"/>
            <a:ext cx="3383280" cy="640080"/>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They set currents and divide voltages — the quiet workhorses of every circuit.</a:t>
            </a:r>
            <a:endParaRPr lang="en-US" sz="1050" dirty="0"/>
          </a:p>
        </p:txBody>
      </p:sp>
      <p:sp>
        <p:nvSpPr>
          <p:cNvPr id="13" name="Shape 11"/>
          <p:cNvSpPr/>
          <p:nvPr/>
        </p:nvSpPr>
        <p:spPr>
          <a:xfrm>
            <a:off x="4297680" y="1463040"/>
            <a:ext cx="4343400" cy="251460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pic>
        <p:nvPicPr>
          <p:cNvPr id="14" name="Image 0" descr="assets/resistors.jpg">    </p:cNvPr>
          <p:cNvPicPr>
            <a:picLocks noChangeAspect="1"/>
          </p:cNvPicPr>
          <p:nvPr/>
        </p:nvPicPr>
        <p:blipFill>
          <a:blip r:embed="rId1"/>
          <a:stretch>
            <a:fillRect/>
          </a:stretch>
        </p:blipFill>
        <p:spPr>
          <a:xfrm>
            <a:off x="4480560" y="1810422"/>
            <a:ext cx="3977640" cy="1819835"/>
          </a:xfrm>
          <a:prstGeom prst="rect">
            <a:avLst/>
          </a:prstGeom>
        </p:spPr>
      </p:pic>
      <p:sp>
        <p:nvSpPr>
          <p:cNvPr id="15" name="Text 12"/>
          <p:cNvSpPr/>
          <p:nvPr/>
        </p:nvSpPr>
        <p:spPr>
          <a:xfrm>
            <a:off x="4297680" y="4069080"/>
            <a:ext cx="4343400" cy="384048"/>
          </a:xfrm>
          <a:prstGeom prst="rect">
            <a:avLst/>
          </a:prstGeom>
          <a:noFill/>
          <a:ln/>
        </p:spPr>
        <p:txBody>
          <a:bodyPr wrap="square" lIns="0" tIns="0" rIns="0" bIns="0" rtlCol="0" anchor="t"/>
          <a:lstStyle/>
          <a:p>
            <a:pPr algn="ctr" indent="0" marL="0">
              <a:buNone/>
            </a:pPr>
            <a:r>
              <a:rPr lang="en-US" sz="900" dirty="0">
                <a:solidFill>
                  <a:srgbClr val="8A8378"/>
                </a:solidFill>
                <a:latin typeface="Poppins" pitchFamily="34" charset="0"/>
                <a:ea typeface="Poppins" pitchFamily="34" charset="-122"/>
                <a:cs typeface="Poppins" pitchFamily="34" charset="-120"/>
              </a:rPr>
              <a:t>Fixed, variable, thermal, light-dependent — a family portrait of resistors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4</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THE MICROSCOPIC PICTURE</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300" b="1" dirty="0">
                <a:solidFill>
                  <a:srgbClr val="222733"/>
                </a:solidFill>
                <a:latin typeface="Poppins SemiBold" pitchFamily="34" charset="0"/>
                <a:ea typeface="Poppins SemiBold" pitchFamily="34" charset="-122"/>
                <a:cs typeface="Poppins SemiBold" pitchFamily="34" charset="-120"/>
              </a:rPr>
              <a:t>Where does resistance come from?</a:t>
            </a:r>
            <a:endParaRPr lang="en-US" sz="2300" dirty="0"/>
          </a:p>
        </p:txBody>
      </p:sp>
      <p:sp>
        <p:nvSpPr>
          <p:cNvPr id="7" name="Text 5"/>
          <p:cNvSpPr/>
          <p:nvPr/>
        </p:nvSpPr>
        <p:spPr>
          <a:xfrm>
            <a:off x="502920" y="1207008"/>
            <a:ext cx="3977640" cy="1188720"/>
          </a:xfrm>
          <a:prstGeom prst="rect">
            <a:avLst/>
          </a:prstGeom>
          <a:noFill/>
          <a:ln/>
        </p:spPr>
        <p:txBody>
          <a:bodyPr wrap="square" lIns="0" tIns="0" rIns="0" bIns="0" rtlCol="0" anchor="t"/>
          <a:lstStyle/>
          <a:p>
            <a:pPr indent="0" marL="0">
              <a:lnSpc>
                <a:spcPct val="110000"/>
              </a:lnSpc>
              <a:buNone/>
            </a:pPr>
            <a:r>
              <a:rPr lang="en-US" sz="1150" dirty="0">
                <a:solidFill>
                  <a:srgbClr val="4A5260"/>
                </a:solidFill>
                <a:latin typeface="Poppins" pitchFamily="34" charset="0"/>
                <a:ea typeface="Poppins" pitchFamily="34" charset="-122"/>
                <a:cs typeface="Poppins" pitchFamily="34" charset="-120"/>
              </a:rPr>
              <a:t>Inside a metal, free electrons drift through a lattice of vibrating positive ions.</a:t>
            </a:r>
            <a:endParaRPr lang="en-US" sz="1150" dirty="0"/>
          </a:p>
          <a:p>
            <a:pPr indent="0" marL="0">
              <a:lnSpc>
                <a:spcPct val="110000"/>
              </a:lnSpc>
              <a:buNone/>
            </a:pPr>
            <a:endParaRPr lang="en-US" sz="1150" dirty="0"/>
          </a:p>
          <a:p>
            <a:pPr indent="0" marL="0">
              <a:lnSpc>
                <a:spcPct val="110000"/>
              </a:lnSpc>
              <a:buNone/>
            </a:pPr>
            <a:r>
              <a:rPr lang="en-US" sz="1150" dirty="0">
                <a:solidFill>
                  <a:srgbClr val="4A5260"/>
                </a:solidFill>
                <a:latin typeface="Poppins" pitchFamily="34" charset="0"/>
                <a:ea typeface="Poppins" pitchFamily="34" charset="-122"/>
                <a:cs typeface="Poppins" pitchFamily="34" charset="-120"/>
              </a:rPr>
              <a:t>Each collision with an ion disturbs the drift — the accumulated effect is what we call resistance.</a:t>
            </a:r>
            <a:endParaRPr lang="en-US" sz="1150" dirty="0"/>
          </a:p>
        </p:txBody>
      </p:sp>
      <p:pic>
        <p:nvPicPr>
          <p:cNvPr id="8" name="Image 0" descr="assets/electrons_dark.png">    </p:cNvPr>
          <p:cNvPicPr>
            <a:picLocks noChangeAspect="1"/>
          </p:cNvPicPr>
          <p:nvPr/>
        </p:nvPicPr>
        <p:blipFill>
          <a:blip r:embed="rId1"/>
          <a:stretch>
            <a:fillRect/>
          </a:stretch>
        </p:blipFill>
        <p:spPr>
          <a:xfrm>
            <a:off x="502920" y="2606040"/>
            <a:ext cx="3977640" cy="1675825"/>
          </a:xfrm>
          <a:prstGeom prst="rect">
            <a:avLst/>
          </a:prstGeom>
        </p:spPr>
      </p:pic>
      <p:sp>
        <p:nvSpPr>
          <p:cNvPr id="9" name="Text 6"/>
          <p:cNvSpPr/>
          <p:nvPr/>
        </p:nvSpPr>
        <p:spPr>
          <a:xfrm>
            <a:off x="502920" y="4336729"/>
            <a:ext cx="3977640" cy="384048"/>
          </a:xfrm>
          <a:prstGeom prst="rect">
            <a:avLst/>
          </a:prstGeom>
          <a:noFill/>
          <a:ln/>
        </p:spPr>
        <p:txBody>
          <a:bodyPr wrap="square" lIns="0" tIns="0" rIns="0" bIns="0" rtlCol="0" anchor="t"/>
          <a:lstStyle/>
          <a:p>
            <a:pPr algn="ctr" indent="0" marL="0">
              <a:buNone/>
            </a:pPr>
            <a:r>
              <a:rPr lang="en-US" sz="900" dirty="0">
                <a:solidFill>
                  <a:srgbClr val="8A8378"/>
                </a:solidFill>
                <a:latin typeface="Poppins" pitchFamily="34" charset="0"/>
                <a:ea typeface="Poppins" pitchFamily="34" charset="-122"/>
                <a:cs typeface="Poppins" pitchFamily="34" charset="-120"/>
              </a:rPr>
              <a:t>Drifting electrons scatter off lattice ions</a:t>
            </a:r>
            <a:endParaRPr lang="en-US" sz="900" dirty="0"/>
          </a:p>
        </p:txBody>
      </p:sp>
      <p:sp>
        <p:nvSpPr>
          <p:cNvPr id="10" name="Shape 7"/>
          <p:cNvSpPr/>
          <p:nvPr/>
        </p:nvSpPr>
        <p:spPr>
          <a:xfrm>
            <a:off x="4983480" y="1207008"/>
            <a:ext cx="3657600" cy="283464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pic>
        <p:nvPicPr>
          <p:cNvPr id="11" name="Image 1" descr="assets/image5.png">    </p:cNvPr>
          <p:cNvPicPr>
            <a:picLocks noChangeAspect="1"/>
          </p:cNvPicPr>
          <p:nvPr/>
        </p:nvPicPr>
        <p:blipFill>
          <a:blip r:embed="rId2"/>
          <a:stretch>
            <a:fillRect/>
          </a:stretch>
        </p:blipFill>
        <p:spPr>
          <a:xfrm>
            <a:off x="5120640" y="1417927"/>
            <a:ext cx="3383280" cy="2376226"/>
          </a:xfrm>
          <a:prstGeom prst="rect">
            <a:avLst/>
          </a:prstGeom>
        </p:spPr>
      </p:pic>
      <p:sp>
        <p:nvSpPr>
          <p:cNvPr id="12" name="Text 8"/>
          <p:cNvSpPr/>
          <p:nvPr/>
        </p:nvSpPr>
        <p:spPr>
          <a:xfrm>
            <a:off x="4983480" y="4114800"/>
            <a:ext cx="3657600" cy="384048"/>
          </a:xfrm>
          <a:prstGeom prst="rect">
            <a:avLst/>
          </a:prstGeom>
          <a:noFill/>
          <a:ln/>
        </p:spPr>
        <p:txBody>
          <a:bodyPr wrap="square" lIns="0" tIns="0" rIns="0" bIns="0" rtlCol="0" anchor="t"/>
          <a:lstStyle/>
          <a:p>
            <a:pPr algn="ctr" indent="0" marL="0">
              <a:buNone/>
            </a:pPr>
            <a:r>
              <a:rPr lang="en-US" sz="900" dirty="0">
                <a:solidFill>
                  <a:srgbClr val="8A8378"/>
                </a:solidFill>
                <a:latin typeface="Poppins" pitchFamily="34" charset="0"/>
                <a:ea typeface="Poppins" pitchFamily="34" charset="-122"/>
                <a:cs typeface="Poppins" pitchFamily="34" charset="-120"/>
              </a:rPr>
              <a:t>Water analogy: an obstructed pipe needs more pressure for the same flow</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5</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DEFINITION</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300" b="1" dirty="0">
                <a:solidFill>
                  <a:srgbClr val="222733"/>
                </a:solidFill>
                <a:latin typeface="Poppins SemiBold" pitchFamily="34" charset="0"/>
                <a:ea typeface="Poppins SemiBold" pitchFamily="34" charset="-122"/>
                <a:cs typeface="Poppins SemiBold" pitchFamily="34" charset="-120"/>
              </a:rPr>
              <a:t>Putting a number on it</a:t>
            </a:r>
            <a:endParaRPr lang="en-US" sz="2300" dirty="0"/>
          </a:p>
        </p:txBody>
      </p:sp>
      <p:sp>
        <p:nvSpPr>
          <p:cNvPr id="7" name="Shape 5"/>
          <p:cNvSpPr/>
          <p:nvPr/>
        </p:nvSpPr>
        <p:spPr>
          <a:xfrm>
            <a:off x="502920" y="1280160"/>
            <a:ext cx="3383280" cy="182880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pic>
        <p:nvPicPr>
          <p:cNvPr id="8" name="Image 0" descr="assets/f_def.png">    </p:cNvPr>
          <p:cNvPicPr>
            <a:picLocks noChangeAspect="1"/>
          </p:cNvPicPr>
          <p:nvPr/>
        </p:nvPicPr>
        <p:blipFill>
          <a:blip r:embed="rId1"/>
          <a:stretch>
            <a:fillRect/>
          </a:stretch>
        </p:blipFill>
        <p:spPr>
          <a:xfrm>
            <a:off x="1325880" y="1603971"/>
            <a:ext cx="1737360" cy="989154"/>
          </a:xfrm>
          <a:prstGeom prst="rect">
            <a:avLst/>
          </a:prstGeom>
        </p:spPr>
      </p:pic>
      <p:sp>
        <p:nvSpPr>
          <p:cNvPr id="9" name="Text 6"/>
          <p:cNvSpPr/>
          <p:nvPr/>
        </p:nvSpPr>
        <p:spPr>
          <a:xfrm>
            <a:off x="502920" y="3218688"/>
            <a:ext cx="3383280" cy="274320"/>
          </a:xfrm>
          <a:prstGeom prst="rect">
            <a:avLst/>
          </a:prstGeom>
          <a:noFill/>
          <a:ln/>
        </p:spPr>
        <p:txBody>
          <a:bodyPr wrap="square" lIns="0" tIns="0" rIns="0" bIns="0" rtlCol="0" anchor="ctr"/>
          <a:lstStyle/>
          <a:p>
            <a:pPr algn="ctr" indent="0" marL="0">
              <a:buNone/>
            </a:pPr>
            <a:r>
              <a:rPr lang="en-US" sz="1100" dirty="0">
                <a:solidFill>
                  <a:srgbClr val="4A5260"/>
                </a:solidFill>
                <a:latin typeface="Poppins" pitchFamily="34" charset="0"/>
                <a:ea typeface="Poppins" pitchFamily="34" charset="-122"/>
                <a:cs typeface="Poppins" pitchFamily="34" charset="-120"/>
              </a:rPr>
              <a:t>unit: ohm — </a:t>
            </a:r>
            <a:pPr algn="ctr" indent="0" marL="0">
              <a:buNone/>
            </a:pPr>
            <a:r>
              <a:rPr lang="en-US" sz="1100" dirty="0">
                <a:solidFill>
                  <a:srgbClr val="4A5260"/>
                </a:solidFill>
                <a:latin typeface="Carlito" pitchFamily="34" charset="0"/>
                <a:ea typeface="Carlito" pitchFamily="34" charset="-122"/>
                <a:cs typeface="Carlito" pitchFamily="34" charset="-120"/>
              </a:rPr>
              <a:t>1 Ω = 1 V/A</a:t>
            </a:r>
            <a:endParaRPr lang="en-US" sz="1100" dirty="0"/>
          </a:p>
        </p:txBody>
      </p:sp>
      <p:pic>
        <p:nvPicPr>
          <p:cNvPr id="10" name="Image 1" descr="assets/f_units.png">    </p:cNvPr>
          <p:cNvPicPr>
            <a:picLocks noChangeAspect="1"/>
          </p:cNvPicPr>
          <p:nvPr/>
        </p:nvPicPr>
        <p:blipFill>
          <a:blip r:embed="rId2"/>
          <a:stretch>
            <a:fillRect/>
          </a:stretch>
        </p:blipFill>
        <p:spPr>
          <a:xfrm>
            <a:off x="1005840" y="3639312"/>
            <a:ext cx="2377440" cy="220268"/>
          </a:xfrm>
          <a:prstGeom prst="rect">
            <a:avLst/>
          </a:prstGeom>
        </p:spPr>
      </p:pic>
      <p:sp>
        <p:nvSpPr>
          <p:cNvPr id="11" name="Shape 7"/>
          <p:cNvSpPr/>
          <p:nvPr/>
        </p:nvSpPr>
        <p:spPr>
          <a:xfrm>
            <a:off x="4434840" y="1325880"/>
            <a:ext cx="32004" cy="841248"/>
          </a:xfrm>
          <a:prstGeom prst="rect">
            <a:avLst/>
          </a:prstGeom>
          <a:solidFill>
            <a:srgbClr val="D8D0C2"/>
          </a:solidFill>
          <a:ln/>
        </p:spPr>
      </p:sp>
      <p:sp>
        <p:nvSpPr>
          <p:cNvPr id="12" name="Text 8"/>
          <p:cNvSpPr/>
          <p:nvPr/>
        </p:nvSpPr>
        <p:spPr>
          <a:xfrm>
            <a:off x="4617720" y="1280160"/>
            <a:ext cx="4023360" cy="256032"/>
          </a:xfrm>
          <a:prstGeom prst="rect">
            <a:avLst/>
          </a:prstGeom>
          <a:noFill/>
          <a:ln/>
        </p:spPr>
        <p:txBody>
          <a:bodyPr wrap="square" lIns="0" tIns="0" rIns="0" bIns="0" rtlCol="0" anchor="ctr"/>
          <a:lstStyle/>
          <a:p>
            <a:pPr indent="0" marL="0">
              <a:buNone/>
            </a:pPr>
            <a:r>
              <a:rPr lang="en-US" sz="1200" b="1" dirty="0">
                <a:solidFill>
                  <a:srgbClr val="222733"/>
                </a:solidFill>
                <a:latin typeface="Poppins Medium" pitchFamily="34" charset="0"/>
                <a:ea typeface="Poppins Medium" pitchFamily="34" charset="-122"/>
                <a:cs typeface="Poppins Medium" pitchFamily="34" charset="-120"/>
              </a:rPr>
              <a:t>A ratio at one operating point</a:t>
            </a:r>
            <a:endParaRPr lang="en-US" sz="1200" dirty="0"/>
          </a:p>
        </p:txBody>
      </p:sp>
      <p:sp>
        <p:nvSpPr>
          <p:cNvPr id="13" name="Text 9"/>
          <p:cNvSpPr/>
          <p:nvPr/>
        </p:nvSpPr>
        <p:spPr>
          <a:xfrm>
            <a:off x="4617720" y="1554480"/>
            <a:ext cx="4023360" cy="685800"/>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R compares the voltage across a conductor with the current through it — measured together, at the same moment.</a:t>
            </a:r>
            <a:endParaRPr lang="en-US" sz="1050" dirty="0"/>
          </a:p>
        </p:txBody>
      </p:sp>
      <p:sp>
        <p:nvSpPr>
          <p:cNvPr id="14" name="Shape 10"/>
          <p:cNvSpPr/>
          <p:nvPr/>
        </p:nvSpPr>
        <p:spPr>
          <a:xfrm>
            <a:off x="4434840" y="2404872"/>
            <a:ext cx="32004" cy="841248"/>
          </a:xfrm>
          <a:prstGeom prst="rect">
            <a:avLst/>
          </a:prstGeom>
          <a:solidFill>
            <a:srgbClr val="D8D0C2"/>
          </a:solidFill>
          <a:ln/>
        </p:spPr>
      </p:sp>
      <p:sp>
        <p:nvSpPr>
          <p:cNvPr id="15" name="Text 11"/>
          <p:cNvSpPr/>
          <p:nvPr/>
        </p:nvSpPr>
        <p:spPr>
          <a:xfrm>
            <a:off x="4617720" y="2359152"/>
            <a:ext cx="4023360" cy="256032"/>
          </a:xfrm>
          <a:prstGeom prst="rect">
            <a:avLst/>
          </a:prstGeom>
          <a:noFill/>
          <a:ln/>
        </p:spPr>
        <p:txBody>
          <a:bodyPr wrap="square" lIns="0" tIns="0" rIns="0" bIns="0" rtlCol="0" anchor="ctr"/>
          <a:lstStyle/>
          <a:p>
            <a:pPr indent="0" marL="0">
              <a:buNone/>
            </a:pPr>
            <a:r>
              <a:rPr lang="en-US" sz="1200" b="1" dirty="0">
                <a:solidFill>
                  <a:srgbClr val="222733"/>
                </a:solidFill>
                <a:latin typeface="Poppins Medium" pitchFamily="34" charset="0"/>
                <a:ea typeface="Poppins Medium" pitchFamily="34" charset="-122"/>
                <a:cs typeface="Poppins Medium" pitchFamily="34" charset="-120"/>
              </a:rPr>
              <a:t>A property of the conductor</a:t>
            </a:r>
            <a:endParaRPr lang="en-US" sz="1200" dirty="0"/>
          </a:p>
        </p:txBody>
      </p:sp>
      <p:sp>
        <p:nvSpPr>
          <p:cNvPr id="16" name="Text 12"/>
          <p:cNvSpPr/>
          <p:nvPr/>
        </p:nvSpPr>
        <p:spPr>
          <a:xfrm>
            <a:off x="4617720" y="2633472"/>
            <a:ext cx="4023360" cy="685800"/>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R is set by the conductor itself — its material, its dimensions, its temperature — not by the circuit you put it in.</a:t>
            </a:r>
            <a:endParaRPr lang="en-US" sz="1050" dirty="0"/>
          </a:p>
        </p:txBody>
      </p:sp>
      <p:sp>
        <p:nvSpPr>
          <p:cNvPr id="17" name="Shape 13"/>
          <p:cNvSpPr/>
          <p:nvPr/>
        </p:nvSpPr>
        <p:spPr>
          <a:xfrm>
            <a:off x="4434840" y="3483864"/>
            <a:ext cx="32004" cy="841248"/>
          </a:xfrm>
          <a:prstGeom prst="rect">
            <a:avLst/>
          </a:prstGeom>
          <a:solidFill>
            <a:srgbClr val="D8D0C2"/>
          </a:solidFill>
          <a:ln/>
        </p:spPr>
      </p:sp>
      <p:sp>
        <p:nvSpPr>
          <p:cNvPr id="18" name="Text 14"/>
          <p:cNvSpPr/>
          <p:nvPr/>
        </p:nvSpPr>
        <p:spPr>
          <a:xfrm>
            <a:off x="4617720" y="3438144"/>
            <a:ext cx="4023360" cy="256032"/>
          </a:xfrm>
          <a:prstGeom prst="rect">
            <a:avLst/>
          </a:prstGeom>
          <a:noFill/>
          <a:ln/>
        </p:spPr>
        <p:txBody>
          <a:bodyPr wrap="square" lIns="0" tIns="0" rIns="0" bIns="0" rtlCol="0" anchor="ctr"/>
          <a:lstStyle/>
          <a:p>
            <a:pPr indent="0" marL="0">
              <a:buNone/>
            </a:pPr>
            <a:r>
              <a:rPr lang="en-US" sz="1200" b="1" dirty="0">
                <a:solidFill>
                  <a:srgbClr val="222733"/>
                </a:solidFill>
                <a:latin typeface="Poppins Medium" pitchFamily="34" charset="0"/>
                <a:ea typeface="Poppins Medium" pitchFamily="34" charset="-122"/>
                <a:cs typeface="Poppins Medium" pitchFamily="34" charset="-120"/>
              </a:rPr>
              <a:t>Universal</a:t>
            </a:r>
            <a:endParaRPr lang="en-US" sz="1200" dirty="0"/>
          </a:p>
        </p:txBody>
      </p:sp>
      <p:sp>
        <p:nvSpPr>
          <p:cNvPr id="19" name="Text 15"/>
          <p:cNvSpPr/>
          <p:nvPr/>
        </p:nvSpPr>
        <p:spPr>
          <a:xfrm>
            <a:off x="4617720" y="3712464"/>
            <a:ext cx="4023360" cy="685800"/>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R = U/I defines resistance for every element — linear or not. No assumptions required.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6</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LAW</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300" b="1" dirty="0">
                <a:solidFill>
                  <a:srgbClr val="222733"/>
                </a:solidFill>
                <a:latin typeface="Poppins SemiBold" pitchFamily="34" charset="0"/>
                <a:ea typeface="Poppins SemiBold" pitchFamily="34" charset="-122"/>
                <a:cs typeface="Poppins SemiBold" pitchFamily="34" charset="-120"/>
              </a:rPr>
              <a:t>Ohm's law — and its limits</a:t>
            </a:r>
            <a:endParaRPr lang="en-US" sz="2300" dirty="0"/>
          </a:p>
        </p:txBody>
      </p:sp>
      <p:sp>
        <p:nvSpPr>
          <p:cNvPr id="7" name="Shape 5"/>
          <p:cNvSpPr/>
          <p:nvPr/>
        </p:nvSpPr>
        <p:spPr>
          <a:xfrm>
            <a:off x="502920" y="1280160"/>
            <a:ext cx="3383280" cy="182880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pic>
        <p:nvPicPr>
          <p:cNvPr id="8" name="Image 0" descr="assets/f_ohm.png">    </p:cNvPr>
          <p:cNvPicPr>
            <a:picLocks noChangeAspect="1"/>
          </p:cNvPicPr>
          <p:nvPr/>
        </p:nvPicPr>
        <p:blipFill>
          <a:blip r:embed="rId1"/>
          <a:stretch>
            <a:fillRect/>
          </a:stretch>
        </p:blipFill>
        <p:spPr>
          <a:xfrm>
            <a:off x="1371600" y="1579475"/>
            <a:ext cx="1645920" cy="1038145"/>
          </a:xfrm>
          <a:prstGeom prst="rect">
            <a:avLst/>
          </a:prstGeom>
        </p:spPr>
      </p:pic>
      <p:sp>
        <p:nvSpPr>
          <p:cNvPr id="9" name="Text 6"/>
          <p:cNvSpPr/>
          <p:nvPr/>
        </p:nvSpPr>
        <p:spPr>
          <a:xfrm>
            <a:off x="502920" y="3200400"/>
            <a:ext cx="3383280" cy="384048"/>
          </a:xfrm>
          <a:prstGeom prst="rect">
            <a:avLst/>
          </a:prstGeom>
          <a:noFill/>
          <a:ln/>
        </p:spPr>
        <p:txBody>
          <a:bodyPr wrap="square" lIns="0" tIns="0" rIns="0" bIns="0" rtlCol="0" anchor="t"/>
          <a:lstStyle/>
          <a:p>
            <a:pPr algn="ctr" indent="0" marL="0">
              <a:buNone/>
            </a:pPr>
            <a:r>
              <a:rPr lang="en-US" sz="900" dirty="0">
                <a:solidFill>
                  <a:srgbClr val="8A8378"/>
                </a:solidFill>
                <a:latin typeface="Poppins" pitchFamily="34" charset="0"/>
                <a:ea typeface="Poppins" pitchFamily="34" charset="-122"/>
                <a:cs typeface="Poppins" pitchFamily="34" charset="-120"/>
              </a:rPr>
              <a:t>current is proportional to voltage — for some conductors, at steady temperature</a:t>
            </a:r>
            <a:endParaRPr lang="en-US" sz="900" dirty="0"/>
          </a:p>
        </p:txBody>
      </p:sp>
      <p:sp>
        <p:nvSpPr>
          <p:cNvPr id="10" name="Shape 7"/>
          <p:cNvSpPr/>
          <p:nvPr/>
        </p:nvSpPr>
        <p:spPr>
          <a:xfrm>
            <a:off x="4434840" y="1280160"/>
            <a:ext cx="1965960" cy="237744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sp>
        <p:nvSpPr>
          <p:cNvPr id="11" name="Shape 8"/>
          <p:cNvSpPr/>
          <p:nvPr/>
        </p:nvSpPr>
        <p:spPr>
          <a:xfrm>
            <a:off x="6675120" y="1280160"/>
            <a:ext cx="1965960" cy="237744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sp>
        <p:nvSpPr>
          <p:cNvPr id="12" name="Text 9"/>
          <p:cNvSpPr/>
          <p:nvPr/>
        </p:nvSpPr>
        <p:spPr>
          <a:xfrm>
            <a:off x="4617720" y="1463040"/>
            <a:ext cx="1600200" cy="274320"/>
          </a:xfrm>
          <a:prstGeom prst="rect">
            <a:avLst/>
          </a:prstGeom>
          <a:noFill/>
          <a:ln/>
        </p:spPr>
        <p:txBody>
          <a:bodyPr wrap="square" lIns="0" tIns="0" rIns="0" bIns="0" rtlCol="0" anchor="ctr"/>
          <a:lstStyle/>
          <a:p>
            <a:pPr indent="0" marL="0">
              <a:buNone/>
            </a:pPr>
            <a:r>
              <a:rPr lang="en-US" sz="950" b="1" dirty="0">
                <a:solidFill>
                  <a:srgbClr val="4E7A4E"/>
                </a:solidFill>
                <a:latin typeface="DejaVu Sans" pitchFamily="34" charset="0"/>
                <a:ea typeface="DejaVu Sans" pitchFamily="34" charset="-122"/>
                <a:cs typeface="DejaVu Sans" pitchFamily="34" charset="-120"/>
              </a:rPr>
              <a:t>✓  </a:t>
            </a:r>
            <a:pPr indent="0" marL="0">
              <a:buNone/>
            </a:pPr>
            <a:r>
              <a:rPr lang="en-US" sz="950" b="1" spc="150" kern="0" dirty="0">
                <a:solidFill>
                  <a:srgbClr val="4E7A4E"/>
                </a:solidFill>
                <a:latin typeface="Poppins" pitchFamily="34" charset="0"/>
                <a:ea typeface="Poppins" pitchFamily="34" charset="-122"/>
                <a:cs typeface="Poppins" pitchFamily="34" charset="-120"/>
              </a:rPr>
              <a:t>WHERE IT HOLDS</a:t>
            </a:r>
            <a:endParaRPr lang="en-US" sz="950" dirty="0"/>
          </a:p>
        </p:txBody>
      </p:sp>
      <p:sp>
        <p:nvSpPr>
          <p:cNvPr id="13" name="Text 10"/>
          <p:cNvSpPr/>
          <p:nvPr/>
        </p:nvSpPr>
        <p:spPr>
          <a:xfrm>
            <a:off x="4617720" y="1828800"/>
            <a:ext cx="1600200" cy="164592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4A5260"/>
                </a:solidFill>
                <a:latin typeface="Poppins" pitchFamily="34" charset="0"/>
                <a:ea typeface="Poppins" pitchFamily="34" charset="-122"/>
                <a:cs typeface="Poppins" pitchFamily="34" charset="-120"/>
              </a:rPr>
              <a:t>Metallic conductors</a:t>
            </a:r>
            <a:endParaRPr lang="en-US" sz="1050" dirty="0"/>
          </a:p>
          <a:p>
            <a:pPr marL="127000" indent="-127000">
              <a:spcAft>
                <a:spcPts val="600"/>
              </a:spcAft>
              <a:buSzPct val="100000"/>
              <a:buChar char="•"/>
            </a:pPr>
            <a:r>
              <a:rPr lang="en-US" sz="1050" dirty="0">
                <a:solidFill>
                  <a:srgbClr val="4A5260"/>
                </a:solidFill>
                <a:latin typeface="Poppins" pitchFamily="34" charset="0"/>
                <a:ea typeface="Poppins" pitchFamily="34" charset="-122"/>
                <a:cs typeface="Poppins" pitchFamily="34" charset="-120"/>
              </a:rPr>
              <a:t>Electrolyte solutions</a:t>
            </a:r>
            <a:endParaRPr lang="en-US" sz="1050" dirty="0"/>
          </a:p>
        </p:txBody>
      </p:sp>
      <p:sp>
        <p:nvSpPr>
          <p:cNvPr id="14" name="Text 11"/>
          <p:cNvSpPr/>
          <p:nvPr/>
        </p:nvSpPr>
        <p:spPr>
          <a:xfrm>
            <a:off x="6858000" y="1463040"/>
            <a:ext cx="1600200" cy="274320"/>
          </a:xfrm>
          <a:prstGeom prst="rect">
            <a:avLst/>
          </a:prstGeom>
          <a:noFill/>
          <a:ln/>
        </p:spPr>
        <p:txBody>
          <a:bodyPr wrap="square" lIns="0" tIns="0" rIns="0" bIns="0" rtlCol="0" anchor="ctr"/>
          <a:lstStyle/>
          <a:p>
            <a:pPr indent="0" marL="0">
              <a:buNone/>
            </a:pPr>
            <a:r>
              <a:rPr lang="en-US" sz="950" b="1" dirty="0">
                <a:solidFill>
                  <a:srgbClr val="C0541F"/>
                </a:solidFill>
                <a:latin typeface="DejaVu Sans" pitchFamily="34" charset="0"/>
                <a:ea typeface="DejaVu Sans" pitchFamily="34" charset="-122"/>
                <a:cs typeface="DejaVu Sans" pitchFamily="34" charset="-120"/>
              </a:rPr>
              <a:t>✗  </a:t>
            </a:r>
            <a:pPr indent="0" marL="0">
              <a:buNone/>
            </a:pPr>
            <a:r>
              <a:rPr lang="en-US" sz="950" b="1" spc="150" kern="0" dirty="0">
                <a:solidFill>
                  <a:srgbClr val="C0541F"/>
                </a:solidFill>
                <a:latin typeface="Poppins" pitchFamily="34" charset="0"/>
                <a:ea typeface="Poppins" pitchFamily="34" charset="-122"/>
                <a:cs typeface="Poppins" pitchFamily="34" charset="-120"/>
              </a:rPr>
              <a:t>WHERE IT FAILS</a:t>
            </a:r>
            <a:endParaRPr lang="en-US" sz="950" dirty="0"/>
          </a:p>
        </p:txBody>
      </p:sp>
      <p:sp>
        <p:nvSpPr>
          <p:cNvPr id="15" name="Text 12"/>
          <p:cNvSpPr/>
          <p:nvPr/>
        </p:nvSpPr>
        <p:spPr>
          <a:xfrm>
            <a:off x="6858000" y="1828800"/>
            <a:ext cx="1600200" cy="164592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4A5260"/>
                </a:solidFill>
                <a:latin typeface="Poppins" pitchFamily="34" charset="0"/>
                <a:ea typeface="Poppins" pitchFamily="34" charset="-122"/>
                <a:cs typeface="Poppins" pitchFamily="34" charset="-120"/>
              </a:rPr>
              <a:t>Gas discharge tubes</a:t>
            </a:r>
            <a:endParaRPr lang="en-US" sz="1050" dirty="0"/>
          </a:p>
          <a:p>
            <a:pPr marL="127000" indent="-127000">
              <a:spcAft>
                <a:spcPts val="600"/>
              </a:spcAft>
              <a:buSzPct val="100000"/>
              <a:buChar char="•"/>
            </a:pPr>
            <a:r>
              <a:rPr lang="en-US" sz="1050" dirty="0">
                <a:solidFill>
                  <a:srgbClr val="4A5260"/>
                </a:solidFill>
                <a:latin typeface="Poppins" pitchFamily="34" charset="0"/>
                <a:ea typeface="Poppins" pitchFamily="34" charset="-122"/>
                <a:cs typeface="Poppins" pitchFamily="34" charset="-120"/>
              </a:rPr>
              <a:t>Semiconductor devices</a:t>
            </a:r>
            <a:endParaRPr lang="en-US" sz="1050" dirty="0"/>
          </a:p>
          <a:p>
            <a:pPr marL="127000" indent="-127000">
              <a:spcAft>
                <a:spcPts val="600"/>
              </a:spcAft>
              <a:buSzPct val="100000"/>
              <a:buChar char="•"/>
            </a:pPr>
            <a:r>
              <a:rPr lang="en-US" sz="1050" dirty="0">
                <a:solidFill>
                  <a:srgbClr val="4A5260"/>
                </a:solidFill>
                <a:latin typeface="Poppins" pitchFamily="34" charset="0"/>
                <a:ea typeface="Poppins" pitchFamily="34" charset="-122"/>
                <a:cs typeface="Poppins" pitchFamily="34" charset="-120"/>
              </a:rPr>
              <a:t>Motors, electrolytic cells</a:t>
            </a:r>
            <a:endParaRPr lang="en-US" sz="1050" dirty="0"/>
          </a:p>
        </p:txBody>
      </p:sp>
      <p:sp>
        <p:nvSpPr>
          <p:cNvPr id="16" name="Shape 13"/>
          <p:cNvSpPr/>
          <p:nvPr/>
        </p:nvSpPr>
        <p:spPr>
          <a:xfrm>
            <a:off x="685800" y="3995928"/>
            <a:ext cx="32004" cy="384048"/>
          </a:xfrm>
          <a:prstGeom prst="rect">
            <a:avLst/>
          </a:prstGeom>
          <a:solidFill>
            <a:srgbClr val="C0541F"/>
          </a:solidFill>
          <a:ln/>
        </p:spPr>
      </p:sp>
      <p:sp>
        <p:nvSpPr>
          <p:cNvPr id="17" name="Text 14"/>
          <p:cNvSpPr/>
          <p:nvPr/>
        </p:nvSpPr>
        <p:spPr>
          <a:xfrm>
            <a:off x="850392" y="3977640"/>
            <a:ext cx="7607808" cy="457200"/>
          </a:xfrm>
          <a:prstGeom prst="rect">
            <a:avLst/>
          </a:prstGeom>
          <a:noFill/>
          <a:ln/>
        </p:spPr>
        <p:txBody>
          <a:bodyPr wrap="square" lIns="0" tIns="0" rIns="0" bIns="0" rtlCol="0" anchor="t"/>
          <a:lstStyle/>
          <a:p>
            <a:pPr indent="0" marL="0">
              <a:buNone/>
            </a:pPr>
            <a:r>
              <a:rPr lang="en-US" sz="1150" i="1" dirty="0">
                <a:solidFill>
                  <a:srgbClr val="4A5260"/>
                </a:solidFill>
                <a:latin typeface="Lora" pitchFamily="34" charset="0"/>
                <a:ea typeface="Lora" pitchFamily="34" charset="-122"/>
                <a:cs typeface="Lora" pitchFamily="34" charset="-120"/>
              </a:rPr>
              <a:t>Keep the two ideas apart: R = U/I defines resistance — always. Ohm's law claims I grows in proportion to U — a special property of some materials, not a definition.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7</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I–U CHARACTERISTICS</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300" b="1" dirty="0">
                <a:solidFill>
                  <a:srgbClr val="222733"/>
                </a:solidFill>
                <a:latin typeface="Poppins SemiBold" pitchFamily="34" charset="0"/>
                <a:ea typeface="Poppins SemiBold" pitchFamily="34" charset="-122"/>
                <a:cs typeface="Poppins SemiBold" pitchFamily="34" charset="-120"/>
              </a:rPr>
              <a:t>Reading resistance from a graph</a:t>
            </a:r>
            <a:endParaRPr lang="en-US" sz="2300" dirty="0"/>
          </a:p>
        </p:txBody>
      </p:sp>
      <p:sp>
        <p:nvSpPr>
          <p:cNvPr id="7" name="Shape 5"/>
          <p:cNvSpPr/>
          <p:nvPr/>
        </p:nvSpPr>
        <p:spPr>
          <a:xfrm>
            <a:off x="502920" y="1207008"/>
            <a:ext cx="3611880" cy="283464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sp>
        <p:nvSpPr>
          <p:cNvPr id="8" name="Shape 6"/>
          <p:cNvSpPr/>
          <p:nvPr/>
        </p:nvSpPr>
        <p:spPr>
          <a:xfrm>
            <a:off x="5029200" y="1207008"/>
            <a:ext cx="3611880" cy="283464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pic>
        <p:nvPicPr>
          <p:cNvPr id="9" name="Image 0" descr="assets/graph_ui.png">    </p:cNvPr>
          <p:cNvPicPr>
            <a:picLocks noChangeAspect="1"/>
          </p:cNvPicPr>
          <p:nvPr/>
        </p:nvPicPr>
        <p:blipFill>
          <a:blip r:embed="rId1"/>
          <a:stretch>
            <a:fillRect/>
          </a:stretch>
        </p:blipFill>
        <p:spPr>
          <a:xfrm>
            <a:off x="1071731" y="1344168"/>
            <a:ext cx="2474259" cy="2103120"/>
          </a:xfrm>
          <a:prstGeom prst="rect">
            <a:avLst/>
          </a:prstGeom>
        </p:spPr>
      </p:pic>
      <p:pic>
        <p:nvPicPr>
          <p:cNvPr id="10" name="Image 1" descr="assets/graph_iu.png">    </p:cNvPr>
          <p:cNvPicPr>
            <a:picLocks noChangeAspect="1"/>
          </p:cNvPicPr>
          <p:nvPr/>
        </p:nvPicPr>
        <p:blipFill>
          <a:blip r:embed="rId2"/>
          <a:stretch>
            <a:fillRect/>
          </a:stretch>
        </p:blipFill>
        <p:spPr>
          <a:xfrm>
            <a:off x="5598011" y="1344168"/>
            <a:ext cx="2474259" cy="2103120"/>
          </a:xfrm>
          <a:prstGeom prst="rect">
            <a:avLst/>
          </a:prstGeom>
        </p:spPr>
      </p:pic>
      <p:sp>
        <p:nvSpPr>
          <p:cNvPr id="11" name="Text 7"/>
          <p:cNvSpPr/>
          <p:nvPr/>
        </p:nvSpPr>
        <p:spPr>
          <a:xfrm>
            <a:off x="685800" y="3493008"/>
            <a:ext cx="3246120" cy="457200"/>
          </a:xfrm>
          <a:prstGeom prst="rect">
            <a:avLst/>
          </a:prstGeom>
          <a:noFill/>
          <a:ln/>
        </p:spPr>
        <p:txBody>
          <a:bodyPr wrap="square" lIns="0" tIns="0" rIns="0" bIns="0" rtlCol="0" anchor="t"/>
          <a:lstStyle/>
          <a:p>
            <a:pPr algn="ctr" indent="0" marL="0">
              <a:buNone/>
            </a:pPr>
            <a:r>
              <a:rPr lang="en-US" sz="1000" b="1" dirty="0">
                <a:solidFill>
                  <a:srgbClr val="222733"/>
                </a:solidFill>
                <a:latin typeface="Poppins Medium" pitchFamily="34" charset="0"/>
                <a:ea typeface="Poppins Medium" pitchFamily="34" charset="-122"/>
                <a:cs typeface="Poppins Medium" pitchFamily="34" charset="-120"/>
              </a:rPr>
              <a:t>U–I graph: slope = R.   </a:t>
            </a:r>
            <a:pPr algn="ctr" indent="0" marL="0">
              <a:buNone/>
            </a:pPr>
            <a:r>
              <a:rPr lang="en-US" sz="1000" dirty="0">
                <a:solidFill>
                  <a:srgbClr val="4A5260"/>
                </a:solidFill>
                <a:latin typeface="Poppins" pitchFamily="34" charset="0"/>
                <a:ea typeface="Poppins" pitchFamily="34" charset="-122"/>
                <a:cs typeface="Poppins" pitchFamily="34" charset="-120"/>
              </a:rPr>
              <a:t>The steeper line (A) has the larger resistance.</a:t>
            </a:r>
            <a:endParaRPr lang="en-US" sz="1000" dirty="0"/>
          </a:p>
        </p:txBody>
      </p:sp>
      <p:sp>
        <p:nvSpPr>
          <p:cNvPr id="12" name="Text 8"/>
          <p:cNvSpPr/>
          <p:nvPr/>
        </p:nvSpPr>
        <p:spPr>
          <a:xfrm>
            <a:off x="5212080" y="3493008"/>
            <a:ext cx="3246120" cy="457200"/>
          </a:xfrm>
          <a:prstGeom prst="rect">
            <a:avLst/>
          </a:prstGeom>
          <a:noFill/>
          <a:ln/>
        </p:spPr>
        <p:txBody>
          <a:bodyPr wrap="square" lIns="0" tIns="0" rIns="0" bIns="0" rtlCol="0" anchor="t"/>
          <a:lstStyle/>
          <a:p>
            <a:pPr algn="ctr" indent="0" marL="0">
              <a:buNone/>
            </a:pPr>
            <a:r>
              <a:rPr lang="en-US" sz="1000" b="1" dirty="0">
                <a:solidFill>
                  <a:srgbClr val="222733"/>
                </a:solidFill>
                <a:latin typeface="Poppins Medium" pitchFamily="34" charset="0"/>
                <a:ea typeface="Poppins Medium" pitchFamily="34" charset="-122"/>
                <a:cs typeface="Poppins Medium" pitchFamily="34" charset="-120"/>
              </a:rPr>
              <a:t>I–U graph: slope = 1/R.   </a:t>
            </a:r>
            <a:pPr algn="ctr" indent="0" marL="0">
              <a:buNone/>
            </a:pPr>
            <a:r>
              <a:rPr lang="en-US" sz="1000" dirty="0">
                <a:solidFill>
                  <a:srgbClr val="4A5260"/>
                </a:solidFill>
                <a:latin typeface="Poppins" pitchFamily="34" charset="0"/>
                <a:ea typeface="Poppins" pitchFamily="34" charset="-122"/>
                <a:cs typeface="Poppins" pitchFamily="34" charset="-120"/>
              </a:rPr>
              <a:t>The steeper line (B) has the smaller resistance.</a:t>
            </a:r>
            <a:endParaRPr lang="en-US" sz="1000" dirty="0"/>
          </a:p>
        </p:txBody>
      </p:sp>
      <p:sp>
        <p:nvSpPr>
          <p:cNvPr id="13" name="Shape 9"/>
          <p:cNvSpPr/>
          <p:nvPr/>
        </p:nvSpPr>
        <p:spPr>
          <a:xfrm>
            <a:off x="685800" y="4297680"/>
            <a:ext cx="32004" cy="274320"/>
          </a:xfrm>
          <a:prstGeom prst="rect">
            <a:avLst/>
          </a:prstGeom>
          <a:solidFill>
            <a:srgbClr val="C0541F"/>
          </a:solidFill>
          <a:ln/>
        </p:spPr>
      </p:sp>
      <p:sp>
        <p:nvSpPr>
          <p:cNvPr id="14" name="Text 10"/>
          <p:cNvSpPr/>
          <p:nvPr/>
        </p:nvSpPr>
        <p:spPr>
          <a:xfrm>
            <a:off x="850392" y="4279392"/>
            <a:ext cx="7607808" cy="320040"/>
          </a:xfrm>
          <a:prstGeom prst="rect">
            <a:avLst/>
          </a:prstGeom>
          <a:noFill/>
          <a:ln/>
        </p:spPr>
        <p:txBody>
          <a:bodyPr wrap="square" lIns="0" tIns="0" rIns="0" bIns="0" rtlCol="0" anchor="t"/>
          <a:lstStyle/>
          <a:p>
            <a:pPr indent="0" marL="0">
              <a:buNone/>
            </a:pPr>
            <a:r>
              <a:rPr lang="en-US" sz="1100" i="1" dirty="0">
                <a:solidFill>
                  <a:srgbClr val="4A5260"/>
                </a:solidFill>
                <a:latin typeface="Lora" pitchFamily="34" charset="0"/>
                <a:ea typeface="Lora" pitchFamily="34" charset="-122"/>
                <a:cs typeface="Lora" pitchFamily="34" charset="-120"/>
              </a:rPr>
              <a:t>The same two conductors — opposite-looking pictures. Check the axes before you compare slopes.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8</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BEYOND THE STRAIGHT LINE</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300" b="1" dirty="0">
                <a:solidFill>
                  <a:srgbClr val="222733"/>
                </a:solidFill>
                <a:latin typeface="Poppins SemiBold" pitchFamily="34" charset="0"/>
                <a:ea typeface="Poppins SemiBold" pitchFamily="34" charset="-122"/>
                <a:cs typeface="Poppins SemiBold" pitchFamily="34" charset="-120"/>
              </a:rPr>
              <a:t>Non-ohmic elements</a:t>
            </a:r>
            <a:endParaRPr lang="en-US" sz="2300" dirty="0"/>
          </a:p>
        </p:txBody>
      </p:sp>
      <p:sp>
        <p:nvSpPr>
          <p:cNvPr id="7" name="Shape 5"/>
          <p:cNvSpPr/>
          <p:nvPr/>
        </p:nvSpPr>
        <p:spPr>
          <a:xfrm>
            <a:off x="502920" y="1207008"/>
            <a:ext cx="3611880" cy="278892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sp>
        <p:nvSpPr>
          <p:cNvPr id="8" name="Shape 6"/>
          <p:cNvSpPr/>
          <p:nvPr/>
        </p:nvSpPr>
        <p:spPr>
          <a:xfrm>
            <a:off x="5029200" y="1207008"/>
            <a:ext cx="3611880" cy="278892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pic>
        <p:nvPicPr>
          <p:cNvPr id="9" name="Image 0" descr="assets/graph_lamp.png">    </p:cNvPr>
          <p:cNvPicPr>
            <a:picLocks noChangeAspect="1"/>
          </p:cNvPicPr>
          <p:nvPr/>
        </p:nvPicPr>
        <p:blipFill>
          <a:blip r:embed="rId1"/>
          <a:stretch>
            <a:fillRect/>
          </a:stretch>
        </p:blipFill>
        <p:spPr>
          <a:xfrm>
            <a:off x="1188720" y="1362583"/>
            <a:ext cx="2240280" cy="1929130"/>
          </a:xfrm>
          <a:prstGeom prst="rect">
            <a:avLst/>
          </a:prstGeom>
        </p:spPr>
      </p:pic>
      <p:pic>
        <p:nvPicPr>
          <p:cNvPr id="10" name="Image 1" descr="assets/graph_diode.png">    </p:cNvPr>
          <p:cNvPicPr>
            <a:picLocks noChangeAspect="1"/>
          </p:cNvPicPr>
          <p:nvPr/>
        </p:nvPicPr>
        <p:blipFill>
          <a:blip r:embed="rId2"/>
          <a:stretch>
            <a:fillRect/>
          </a:stretch>
        </p:blipFill>
        <p:spPr>
          <a:xfrm>
            <a:off x="5715000" y="1362583"/>
            <a:ext cx="2240280" cy="1929130"/>
          </a:xfrm>
          <a:prstGeom prst="rect">
            <a:avLst/>
          </a:prstGeom>
        </p:spPr>
      </p:pic>
      <p:sp>
        <p:nvSpPr>
          <p:cNvPr id="11" name="Text 7"/>
          <p:cNvSpPr/>
          <p:nvPr/>
        </p:nvSpPr>
        <p:spPr>
          <a:xfrm>
            <a:off x="685800" y="3401568"/>
            <a:ext cx="3246120" cy="548640"/>
          </a:xfrm>
          <a:prstGeom prst="rect">
            <a:avLst/>
          </a:prstGeom>
          <a:noFill/>
          <a:ln/>
        </p:spPr>
        <p:txBody>
          <a:bodyPr wrap="square" lIns="0" tIns="0" rIns="0" bIns="0" rtlCol="0" anchor="t"/>
          <a:lstStyle/>
          <a:p>
            <a:pPr algn="ctr" indent="0" marL="0">
              <a:buNone/>
            </a:pPr>
            <a:r>
              <a:rPr lang="en-US" sz="1000" b="1" dirty="0">
                <a:solidFill>
                  <a:srgbClr val="222733"/>
                </a:solidFill>
                <a:latin typeface="Poppins Medium" pitchFamily="34" charset="0"/>
                <a:ea typeface="Poppins Medium" pitchFamily="34" charset="-122"/>
                <a:cs typeface="Poppins Medium" pitchFamily="34" charset="-120"/>
              </a:rPr>
              <a:t>Filament lamp.   </a:t>
            </a:r>
            <a:pPr algn="ctr" indent="0" marL="0">
              <a:buNone/>
            </a:pPr>
            <a:r>
              <a:rPr lang="en-US" sz="1000" dirty="0">
                <a:solidFill>
                  <a:srgbClr val="4A5260"/>
                </a:solidFill>
                <a:latin typeface="Poppins" pitchFamily="34" charset="0"/>
                <a:ea typeface="Poppins" pitchFamily="34" charset="-122"/>
                <a:cs typeface="Poppins" pitchFamily="34" charset="-120"/>
              </a:rPr>
              <a:t>Current heats the filament; R rises, the curve bends toward the U axis.</a:t>
            </a:r>
            <a:endParaRPr lang="en-US" sz="1000" dirty="0"/>
          </a:p>
        </p:txBody>
      </p:sp>
      <p:sp>
        <p:nvSpPr>
          <p:cNvPr id="12" name="Text 8"/>
          <p:cNvSpPr/>
          <p:nvPr/>
        </p:nvSpPr>
        <p:spPr>
          <a:xfrm>
            <a:off x="5212080" y="3401568"/>
            <a:ext cx="3246120" cy="548640"/>
          </a:xfrm>
          <a:prstGeom prst="rect">
            <a:avLst/>
          </a:prstGeom>
          <a:noFill/>
          <a:ln/>
        </p:spPr>
        <p:txBody>
          <a:bodyPr wrap="square" lIns="0" tIns="0" rIns="0" bIns="0" rtlCol="0" anchor="t"/>
          <a:lstStyle/>
          <a:p>
            <a:pPr algn="ctr" indent="0" marL="0">
              <a:buNone/>
            </a:pPr>
            <a:r>
              <a:rPr lang="en-US" sz="1000" b="1" dirty="0">
                <a:solidFill>
                  <a:srgbClr val="222733"/>
                </a:solidFill>
                <a:latin typeface="Poppins Medium" pitchFamily="34" charset="0"/>
                <a:ea typeface="Poppins Medium" pitchFamily="34" charset="-122"/>
                <a:cs typeface="Poppins Medium" pitchFamily="34" charset="-120"/>
              </a:rPr>
              <a:t>Semiconductor diode.   </a:t>
            </a:r>
            <a:pPr algn="ctr" indent="0" marL="0">
              <a:buNone/>
            </a:pPr>
            <a:r>
              <a:rPr lang="en-US" sz="1000" dirty="0">
                <a:solidFill>
                  <a:srgbClr val="4A5260"/>
                </a:solidFill>
                <a:latin typeface="Poppins" pitchFamily="34" charset="0"/>
                <a:ea typeface="Poppins" pitchFamily="34" charset="-122"/>
                <a:cs typeface="Poppins" pitchFamily="34" charset="-120"/>
              </a:rPr>
              <a:t>Resistance collapses as U rises; the curve bends toward the I axis.</a:t>
            </a:r>
            <a:endParaRPr lang="en-US" sz="1000" dirty="0"/>
          </a:p>
        </p:txBody>
      </p:sp>
      <p:sp>
        <p:nvSpPr>
          <p:cNvPr id="13" name="Shape 9"/>
          <p:cNvSpPr/>
          <p:nvPr/>
        </p:nvSpPr>
        <p:spPr>
          <a:xfrm>
            <a:off x="685800" y="4297680"/>
            <a:ext cx="32004" cy="274320"/>
          </a:xfrm>
          <a:prstGeom prst="rect">
            <a:avLst/>
          </a:prstGeom>
          <a:solidFill>
            <a:srgbClr val="C0541F"/>
          </a:solidFill>
          <a:ln/>
        </p:spPr>
      </p:sp>
      <p:sp>
        <p:nvSpPr>
          <p:cNvPr id="14" name="Text 10"/>
          <p:cNvSpPr/>
          <p:nvPr/>
        </p:nvSpPr>
        <p:spPr>
          <a:xfrm>
            <a:off x="850392" y="4279392"/>
            <a:ext cx="7607808" cy="320040"/>
          </a:xfrm>
          <a:prstGeom prst="rect">
            <a:avLst/>
          </a:prstGeom>
          <a:noFill/>
          <a:ln/>
        </p:spPr>
        <p:txBody>
          <a:bodyPr wrap="square" lIns="0" tIns="0" rIns="0" bIns="0" rtlCol="0" anchor="t"/>
          <a:lstStyle/>
          <a:p>
            <a:pPr indent="0" marL="0">
              <a:buNone/>
            </a:pPr>
            <a:r>
              <a:rPr lang="en-US" sz="1100" i="1" dirty="0">
                <a:solidFill>
                  <a:srgbClr val="4A5260"/>
                </a:solidFill>
                <a:latin typeface="Lora" pitchFamily="34" charset="0"/>
                <a:ea typeface="Lora" pitchFamily="34" charset="-122"/>
                <a:cs typeface="Lora" pitchFamily="34" charset="-120"/>
              </a:rPr>
              <a:t>R = U/I still gives the resistance at every point of these curves — what is lost is only the proportionality.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9</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QUICK CHECK</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000" b="1" dirty="0">
                <a:solidFill>
                  <a:srgbClr val="222733"/>
                </a:solidFill>
                <a:latin typeface="Poppins SemiBold" pitchFamily="34" charset="0"/>
                <a:ea typeface="Poppins SemiBold" pitchFamily="34" charset="-122"/>
                <a:cs typeface="Poppins SemiBold" pitchFamily="34" charset="-120"/>
              </a:rPr>
              <a:t>The graph shows I against U for a conductor</a:t>
            </a:r>
            <a:endParaRPr lang="en-US" sz="2000" dirty="0"/>
          </a:p>
        </p:txBody>
      </p:sp>
      <p:sp>
        <p:nvSpPr>
          <p:cNvPr id="7" name="Shape 5"/>
          <p:cNvSpPr/>
          <p:nvPr/>
        </p:nvSpPr>
        <p:spPr>
          <a:xfrm>
            <a:off x="502920" y="1207008"/>
            <a:ext cx="3429000" cy="274320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pic>
        <p:nvPicPr>
          <p:cNvPr id="8" name="Image 0" descr="assets/graph_practice.png">    </p:cNvPr>
          <p:cNvPicPr>
            <a:picLocks noChangeAspect="1"/>
          </p:cNvPicPr>
          <p:nvPr/>
        </p:nvPicPr>
        <p:blipFill>
          <a:blip r:embed="rId1"/>
          <a:stretch>
            <a:fillRect/>
          </a:stretch>
        </p:blipFill>
        <p:spPr>
          <a:xfrm>
            <a:off x="731520" y="1414464"/>
            <a:ext cx="2971800" cy="2328287"/>
          </a:xfrm>
          <a:prstGeom prst="rect">
            <a:avLst/>
          </a:prstGeom>
        </p:spPr>
      </p:pic>
      <p:sp>
        <p:nvSpPr>
          <p:cNvPr id="9" name="Text 6"/>
          <p:cNvSpPr/>
          <p:nvPr/>
        </p:nvSpPr>
        <p:spPr>
          <a:xfrm>
            <a:off x="4343400" y="1234440"/>
            <a:ext cx="4297680" cy="274320"/>
          </a:xfrm>
          <a:prstGeom prst="rect">
            <a:avLst/>
          </a:prstGeom>
          <a:noFill/>
          <a:ln/>
        </p:spPr>
        <p:txBody>
          <a:bodyPr wrap="square" lIns="0" tIns="0" rIns="0" bIns="0" rtlCol="0" anchor="ctr"/>
          <a:lstStyle/>
          <a:p>
            <a:pPr indent="0" marL="0">
              <a:buNone/>
            </a:pPr>
            <a:r>
              <a:rPr lang="en-US" sz="1150" b="1" dirty="0">
                <a:solidFill>
                  <a:srgbClr val="222733"/>
                </a:solidFill>
                <a:latin typeface="Poppins Medium" pitchFamily="34" charset="0"/>
                <a:ea typeface="Poppins Medium" pitchFamily="34" charset="-122"/>
                <a:cs typeface="Poppins Medium" pitchFamily="34" charset="-120"/>
              </a:rPr>
              <a:t>Which statements are correct? Choose all that apply.</a:t>
            </a:r>
            <a:endParaRPr lang="en-US" sz="1150" dirty="0"/>
          </a:p>
        </p:txBody>
      </p:sp>
      <p:sp>
        <p:nvSpPr>
          <p:cNvPr id="10" name="Text 7"/>
          <p:cNvSpPr/>
          <p:nvPr/>
        </p:nvSpPr>
        <p:spPr>
          <a:xfrm>
            <a:off x="4617720" y="1627632"/>
            <a:ext cx="274320" cy="530352"/>
          </a:xfrm>
          <a:prstGeom prst="rect">
            <a:avLst/>
          </a:prstGeom>
          <a:noFill/>
          <a:ln/>
        </p:spPr>
        <p:txBody>
          <a:bodyPr wrap="square" lIns="0" tIns="0" rIns="0" bIns="0" rtlCol="0" anchor="t"/>
          <a:lstStyle/>
          <a:p>
            <a:pPr indent="0" marL="0">
              <a:buNone/>
            </a:pPr>
            <a:r>
              <a:rPr lang="en-US" sz="1050" b="1" dirty="0">
                <a:solidFill>
                  <a:srgbClr val="222733"/>
                </a:solidFill>
                <a:latin typeface="Poppins Medium" pitchFamily="34" charset="0"/>
                <a:ea typeface="Poppins Medium" pitchFamily="34" charset="-122"/>
                <a:cs typeface="Poppins Medium" pitchFamily="34" charset="-120"/>
              </a:rPr>
              <a:t>A</a:t>
            </a:r>
            <a:endParaRPr lang="en-US" sz="1050" dirty="0"/>
          </a:p>
        </p:txBody>
      </p:sp>
      <p:sp>
        <p:nvSpPr>
          <p:cNvPr id="11" name="Text 8"/>
          <p:cNvSpPr/>
          <p:nvPr/>
        </p:nvSpPr>
        <p:spPr>
          <a:xfrm>
            <a:off x="4928616" y="1627632"/>
            <a:ext cx="3712464" cy="530352"/>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The element is non-linear, so R = U/I cannot be used to find its resistance</a:t>
            </a:r>
            <a:endParaRPr lang="en-US" sz="1050" dirty="0"/>
          </a:p>
        </p:txBody>
      </p:sp>
      <p:sp>
        <p:nvSpPr>
          <p:cNvPr id="12" name="Text 9"/>
          <p:cNvSpPr/>
          <p:nvPr/>
        </p:nvSpPr>
        <p:spPr>
          <a:xfrm>
            <a:off x="4361688" y="2157984"/>
            <a:ext cx="237744" cy="530352"/>
          </a:xfrm>
          <a:prstGeom prst="rect">
            <a:avLst/>
          </a:prstGeom>
          <a:noFill/>
          <a:ln/>
        </p:spPr>
        <p:txBody>
          <a:bodyPr wrap="square" lIns="0" tIns="0" rIns="0" bIns="0" rtlCol="0" anchor="t"/>
          <a:lstStyle/>
          <a:p>
            <a:pPr indent="0" marL="0">
              <a:buNone/>
            </a:pPr>
            <a:r>
              <a:rPr lang="en-US" sz="1200" b="1" dirty="0">
                <a:solidFill>
                  <a:srgbClr val="C0541F"/>
                </a:solidFill>
                <a:latin typeface="DejaVu Sans" pitchFamily="34" charset="0"/>
                <a:ea typeface="DejaVu Sans" pitchFamily="34" charset="-122"/>
                <a:cs typeface="DejaVu Sans" pitchFamily="34" charset="-120"/>
              </a:rPr>
              <a:t>✓</a:t>
            </a:r>
            <a:endParaRPr lang="en-US" sz="1200" dirty="0"/>
          </a:p>
        </p:txBody>
      </p:sp>
      <p:sp>
        <p:nvSpPr>
          <p:cNvPr id="13" name="Text 10"/>
          <p:cNvSpPr/>
          <p:nvPr/>
        </p:nvSpPr>
        <p:spPr>
          <a:xfrm>
            <a:off x="4617720" y="2157984"/>
            <a:ext cx="274320" cy="530352"/>
          </a:xfrm>
          <a:prstGeom prst="rect">
            <a:avLst/>
          </a:prstGeom>
          <a:noFill/>
          <a:ln/>
        </p:spPr>
        <p:txBody>
          <a:bodyPr wrap="square" lIns="0" tIns="0" rIns="0" bIns="0" rtlCol="0" anchor="t"/>
          <a:lstStyle/>
          <a:p>
            <a:pPr indent="0" marL="0">
              <a:buNone/>
            </a:pPr>
            <a:r>
              <a:rPr lang="en-US" sz="1050" b="1" dirty="0">
                <a:solidFill>
                  <a:srgbClr val="C0541F"/>
                </a:solidFill>
                <a:latin typeface="Poppins Medium" pitchFamily="34" charset="0"/>
                <a:ea typeface="Poppins Medium" pitchFamily="34" charset="-122"/>
                <a:cs typeface="Poppins Medium" pitchFamily="34" charset="-120"/>
              </a:rPr>
              <a:t>B</a:t>
            </a:r>
            <a:endParaRPr lang="en-US" sz="1050" dirty="0"/>
          </a:p>
        </p:txBody>
      </p:sp>
      <p:sp>
        <p:nvSpPr>
          <p:cNvPr id="14" name="Text 11"/>
          <p:cNvSpPr/>
          <p:nvPr/>
        </p:nvSpPr>
        <p:spPr>
          <a:xfrm>
            <a:off x="4928616" y="2157984"/>
            <a:ext cx="3712464" cy="530352"/>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At U = 5 V its resistance is about 5 Ω</a:t>
            </a:r>
            <a:endParaRPr lang="en-US" sz="1050" dirty="0"/>
          </a:p>
        </p:txBody>
      </p:sp>
      <p:sp>
        <p:nvSpPr>
          <p:cNvPr id="15" name="Text 12"/>
          <p:cNvSpPr/>
          <p:nvPr/>
        </p:nvSpPr>
        <p:spPr>
          <a:xfrm>
            <a:off x="4617720" y="2688336"/>
            <a:ext cx="274320" cy="530352"/>
          </a:xfrm>
          <a:prstGeom prst="rect">
            <a:avLst/>
          </a:prstGeom>
          <a:noFill/>
          <a:ln/>
        </p:spPr>
        <p:txBody>
          <a:bodyPr wrap="square" lIns="0" tIns="0" rIns="0" bIns="0" rtlCol="0" anchor="t"/>
          <a:lstStyle/>
          <a:p>
            <a:pPr indent="0" marL="0">
              <a:buNone/>
            </a:pPr>
            <a:r>
              <a:rPr lang="en-US" sz="1050" b="1" dirty="0">
                <a:solidFill>
                  <a:srgbClr val="222733"/>
                </a:solidFill>
                <a:latin typeface="Poppins Medium" pitchFamily="34" charset="0"/>
                <a:ea typeface="Poppins Medium" pitchFamily="34" charset="-122"/>
                <a:cs typeface="Poppins Medium" pitchFamily="34" charset="-120"/>
              </a:rPr>
              <a:t>C</a:t>
            </a:r>
            <a:endParaRPr lang="en-US" sz="1050" dirty="0"/>
          </a:p>
        </p:txBody>
      </p:sp>
      <p:sp>
        <p:nvSpPr>
          <p:cNvPr id="16" name="Text 13"/>
          <p:cNvSpPr/>
          <p:nvPr/>
        </p:nvSpPr>
        <p:spPr>
          <a:xfrm>
            <a:off x="4928616" y="2688336"/>
            <a:ext cx="3712464" cy="530352"/>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Its resistance increases as the voltage rises</a:t>
            </a:r>
            <a:endParaRPr lang="en-US" sz="1050" dirty="0"/>
          </a:p>
        </p:txBody>
      </p:sp>
      <p:sp>
        <p:nvSpPr>
          <p:cNvPr id="17" name="Text 14"/>
          <p:cNvSpPr/>
          <p:nvPr/>
        </p:nvSpPr>
        <p:spPr>
          <a:xfrm>
            <a:off x="4361688" y="3218688"/>
            <a:ext cx="237744" cy="530352"/>
          </a:xfrm>
          <a:prstGeom prst="rect">
            <a:avLst/>
          </a:prstGeom>
          <a:noFill/>
          <a:ln/>
        </p:spPr>
        <p:txBody>
          <a:bodyPr wrap="square" lIns="0" tIns="0" rIns="0" bIns="0" rtlCol="0" anchor="t"/>
          <a:lstStyle/>
          <a:p>
            <a:pPr indent="0" marL="0">
              <a:buNone/>
            </a:pPr>
            <a:r>
              <a:rPr lang="en-US" sz="1200" b="1" dirty="0">
                <a:solidFill>
                  <a:srgbClr val="C0541F"/>
                </a:solidFill>
                <a:latin typeface="DejaVu Sans" pitchFamily="34" charset="0"/>
                <a:ea typeface="DejaVu Sans" pitchFamily="34" charset="-122"/>
                <a:cs typeface="DejaVu Sans" pitchFamily="34" charset="-120"/>
              </a:rPr>
              <a:t>✓</a:t>
            </a:r>
            <a:endParaRPr lang="en-US" sz="1200" dirty="0"/>
          </a:p>
        </p:txBody>
      </p:sp>
      <p:sp>
        <p:nvSpPr>
          <p:cNvPr id="18" name="Text 15"/>
          <p:cNvSpPr/>
          <p:nvPr/>
        </p:nvSpPr>
        <p:spPr>
          <a:xfrm>
            <a:off x="4617720" y="3218688"/>
            <a:ext cx="274320" cy="530352"/>
          </a:xfrm>
          <a:prstGeom prst="rect">
            <a:avLst/>
          </a:prstGeom>
          <a:noFill/>
          <a:ln/>
        </p:spPr>
        <p:txBody>
          <a:bodyPr wrap="square" lIns="0" tIns="0" rIns="0" bIns="0" rtlCol="0" anchor="t"/>
          <a:lstStyle/>
          <a:p>
            <a:pPr indent="0" marL="0">
              <a:buNone/>
            </a:pPr>
            <a:r>
              <a:rPr lang="en-US" sz="1050" b="1" dirty="0">
                <a:solidFill>
                  <a:srgbClr val="C0541F"/>
                </a:solidFill>
                <a:latin typeface="Poppins Medium" pitchFamily="34" charset="0"/>
                <a:ea typeface="Poppins Medium" pitchFamily="34" charset="-122"/>
                <a:cs typeface="Poppins Medium" pitchFamily="34" charset="-120"/>
              </a:rPr>
              <a:t>D</a:t>
            </a:r>
            <a:endParaRPr lang="en-US" sz="1050" dirty="0"/>
          </a:p>
        </p:txBody>
      </p:sp>
      <p:sp>
        <p:nvSpPr>
          <p:cNvPr id="19" name="Text 16"/>
          <p:cNvSpPr/>
          <p:nvPr/>
        </p:nvSpPr>
        <p:spPr>
          <a:xfrm>
            <a:off x="4928616" y="3218688"/>
            <a:ext cx="3712464" cy="530352"/>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Its resistance decreases as the voltage rises</a:t>
            </a:r>
            <a:endParaRPr lang="en-US" sz="1050" dirty="0"/>
          </a:p>
        </p:txBody>
      </p:sp>
      <p:sp>
        <p:nvSpPr>
          <p:cNvPr id="20" name="Text 17"/>
          <p:cNvSpPr/>
          <p:nvPr/>
        </p:nvSpPr>
        <p:spPr>
          <a:xfrm>
            <a:off x="502920" y="4160520"/>
            <a:ext cx="8138160" cy="548640"/>
          </a:xfrm>
          <a:prstGeom prst="rect">
            <a:avLst/>
          </a:prstGeom>
          <a:noFill/>
          <a:ln/>
        </p:spPr>
        <p:txBody>
          <a:bodyPr wrap="square" lIns="0" tIns="0" rIns="0" bIns="0" rtlCol="0" anchor="t"/>
          <a:lstStyle/>
          <a:p>
            <a:pPr indent="0" marL="0">
              <a:buNone/>
            </a:pPr>
            <a:r>
              <a:rPr lang="en-US" sz="1000" b="1" spc="200" kern="0" dirty="0">
                <a:solidFill>
                  <a:srgbClr val="C0541F"/>
                </a:solidFill>
                <a:latin typeface="Poppins" pitchFamily="34" charset="0"/>
                <a:ea typeface="Poppins" pitchFamily="34" charset="-122"/>
                <a:cs typeface="Poppins" pitchFamily="34" charset="-120"/>
              </a:rPr>
              <a:t>ANSWER   </a:t>
            </a:r>
            <a:pPr indent="0" marL="0">
              <a:buNone/>
            </a:pPr>
            <a:r>
              <a:rPr lang="en-US" sz="1200" b="1" dirty="0">
                <a:solidFill>
                  <a:srgbClr val="C0541F"/>
                </a:solidFill>
                <a:latin typeface="Poppins SemiBold" pitchFamily="34" charset="0"/>
                <a:ea typeface="Poppins SemiBold" pitchFamily="34" charset="-122"/>
                <a:cs typeface="Poppins SemiBold" pitchFamily="34" charset="-120"/>
              </a:rPr>
              <a:t>B · D    </a:t>
            </a:r>
            <a:pPr indent="0" marL="0">
              <a:buNone/>
            </a:pPr>
            <a:r>
              <a:rPr lang="en-US" sz="1050" i="1" dirty="0">
                <a:solidFill>
                  <a:srgbClr val="4A5260"/>
                </a:solidFill>
                <a:latin typeface="Lora" pitchFamily="34" charset="0"/>
                <a:ea typeface="Lora" pitchFamily="34" charset="-122"/>
                <a:cs typeface="Lora" pitchFamily="34" charset="-120"/>
              </a:rPr>
              <a:t>Read R = U/I at each point: 5 V / 1.0 A = 5 Ω, but 10 V / 2.5 A = 4 Ω — the ratio is falling. The definition works fine on a curve; only Ohm's law is off-limits.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22733"/>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3A4150"/>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848D9E"/>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848D9E"/>
                </a:solidFill>
                <a:latin typeface="Poppins" pitchFamily="34" charset="0"/>
                <a:ea typeface="Poppins" pitchFamily="34" charset="-122"/>
                <a:cs typeface="Poppins" pitchFamily="34" charset="-120"/>
              </a:rPr>
              <a:t>10</a:t>
            </a:r>
            <a:endParaRPr lang="en-US" sz="650" dirty="0"/>
          </a:p>
        </p:txBody>
      </p:sp>
      <p:sp>
        <p:nvSpPr>
          <p:cNvPr id="5" name="Text 3"/>
          <p:cNvSpPr/>
          <p:nvPr/>
        </p:nvSpPr>
        <p:spPr>
          <a:xfrm>
            <a:off x="502920" y="914400"/>
            <a:ext cx="5486400" cy="274320"/>
          </a:xfrm>
          <a:prstGeom prst="rect">
            <a:avLst/>
          </a:prstGeom>
          <a:noFill/>
          <a:ln/>
        </p:spPr>
        <p:txBody>
          <a:bodyPr wrap="square" lIns="0" tIns="0" rIns="0" bIns="0" rtlCol="0" anchor="ctr"/>
          <a:lstStyle/>
          <a:p>
            <a:pPr indent="0" marL="0">
              <a:buNone/>
            </a:pPr>
            <a:r>
              <a:rPr lang="en-US" sz="1100" b="1" spc="300" kern="0" dirty="0">
                <a:solidFill>
                  <a:srgbClr val="C0541F"/>
                </a:solidFill>
                <a:latin typeface="Poppins" pitchFamily="34" charset="0"/>
                <a:ea typeface="Poppins" pitchFamily="34" charset="-122"/>
                <a:cs typeface="Poppins" pitchFamily="34" charset="-120"/>
              </a:rPr>
              <a:t>EXPERIMENT</a:t>
            </a:r>
            <a:endParaRPr lang="en-US" sz="1100" dirty="0"/>
          </a:p>
        </p:txBody>
      </p:sp>
      <p:sp>
        <p:nvSpPr>
          <p:cNvPr id="6" name="Text 4"/>
          <p:cNvSpPr/>
          <p:nvPr/>
        </p:nvSpPr>
        <p:spPr>
          <a:xfrm>
            <a:off x="502920" y="1234440"/>
            <a:ext cx="7680960" cy="914400"/>
          </a:xfrm>
          <a:prstGeom prst="rect">
            <a:avLst/>
          </a:prstGeom>
          <a:noFill/>
          <a:ln/>
        </p:spPr>
        <p:txBody>
          <a:bodyPr wrap="square" lIns="0" tIns="0" rIns="0" bIns="0" rtlCol="0" anchor="ctr"/>
          <a:lstStyle/>
          <a:p>
            <a:pPr indent="0" marL="0">
              <a:buNone/>
            </a:pPr>
            <a:r>
              <a:rPr lang="en-US" sz="2700" b="1" dirty="0">
                <a:solidFill>
                  <a:srgbClr val="FFFFFF"/>
                </a:solidFill>
                <a:latin typeface="Poppins SemiBold" pitchFamily="34" charset="0"/>
                <a:ea typeface="Poppins SemiBold" pitchFamily="34" charset="-122"/>
                <a:cs typeface="Poppins SemiBold" pitchFamily="34" charset="-120"/>
              </a:rPr>
              <a:t>What determines the resistance of a wire?</a:t>
            </a:r>
            <a:endParaRPr lang="en-US" sz="2700" dirty="0"/>
          </a:p>
        </p:txBody>
      </p:sp>
      <p:sp>
        <p:nvSpPr>
          <p:cNvPr id="7" name="Shape 5"/>
          <p:cNvSpPr/>
          <p:nvPr/>
        </p:nvSpPr>
        <p:spPr>
          <a:xfrm>
            <a:off x="502920" y="2606040"/>
            <a:ext cx="1828800" cy="868680"/>
          </a:xfrm>
          <a:prstGeom prst="rect">
            <a:avLst/>
          </a:prstGeom>
          <a:solidFill>
            <a:srgbClr val="2F3645"/>
          </a:solidFill>
          <a:ln w="12700">
            <a:solidFill>
              <a:srgbClr val="4A5468"/>
            </a:solidFill>
            <a:prstDash val="solid"/>
          </a:ln>
        </p:spPr>
      </p:sp>
      <p:sp>
        <p:nvSpPr>
          <p:cNvPr id="8" name="Text 6"/>
          <p:cNvSpPr/>
          <p:nvPr/>
        </p:nvSpPr>
        <p:spPr>
          <a:xfrm>
            <a:off x="667512" y="2743200"/>
            <a:ext cx="640080" cy="228600"/>
          </a:xfrm>
          <a:prstGeom prst="rect">
            <a:avLst/>
          </a:prstGeom>
          <a:noFill/>
          <a:ln/>
        </p:spPr>
        <p:txBody>
          <a:bodyPr wrap="square" lIns="0" tIns="0" rIns="0" bIns="0" rtlCol="0" anchor="ctr"/>
          <a:lstStyle/>
          <a:p>
            <a:pPr indent="0" marL="0">
              <a:buNone/>
            </a:pPr>
            <a:r>
              <a:rPr lang="en-US" sz="1100" b="1" dirty="0">
                <a:solidFill>
                  <a:srgbClr val="C0541F"/>
                </a:solidFill>
                <a:latin typeface="Poppins SemiBold" pitchFamily="34" charset="0"/>
                <a:ea typeface="Poppins SemiBold" pitchFamily="34" charset="-122"/>
                <a:cs typeface="Poppins SemiBold" pitchFamily="34" charset="-120"/>
              </a:rPr>
              <a:t>01</a:t>
            </a:r>
            <a:endParaRPr lang="en-US" sz="1100" dirty="0"/>
          </a:p>
        </p:txBody>
      </p:sp>
      <p:sp>
        <p:nvSpPr>
          <p:cNvPr id="9" name="Text 7"/>
          <p:cNvSpPr/>
          <p:nvPr/>
        </p:nvSpPr>
        <p:spPr>
          <a:xfrm>
            <a:off x="667512" y="2999232"/>
            <a:ext cx="1554480" cy="274320"/>
          </a:xfrm>
          <a:prstGeom prst="rect">
            <a:avLst/>
          </a:prstGeom>
          <a:noFill/>
          <a:ln/>
        </p:spPr>
        <p:txBody>
          <a:bodyPr wrap="square" lIns="0" tIns="0" rIns="0" bIns="0" rtlCol="0" anchor="ctr"/>
          <a:lstStyle/>
          <a:p>
            <a:pPr indent="0" marL="0">
              <a:buNone/>
            </a:pPr>
            <a:r>
              <a:rPr lang="en-US" sz="1250" b="1" dirty="0">
                <a:solidFill>
                  <a:srgbClr val="FFFFFF"/>
                </a:solidFill>
                <a:latin typeface="Poppins Medium" pitchFamily="34" charset="0"/>
                <a:ea typeface="Poppins Medium" pitchFamily="34" charset="-122"/>
                <a:cs typeface="Poppins Medium" pitchFamily="34" charset="-120"/>
              </a:rPr>
              <a:t>Length</a:t>
            </a:r>
            <a:endParaRPr lang="en-US" sz="1250" dirty="0"/>
          </a:p>
        </p:txBody>
      </p:sp>
      <p:sp>
        <p:nvSpPr>
          <p:cNvPr id="10" name="Shape 8"/>
          <p:cNvSpPr/>
          <p:nvPr/>
        </p:nvSpPr>
        <p:spPr>
          <a:xfrm>
            <a:off x="2587752" y="2606040"/>
            <a:ext cx="1828800" cy="868680"/>
          </a:xfrm>
          <a:prstGeom prst="rect">
            <a:avLst/>
          </a:prstGeom>
          <a:solidFill>
            <a:srgbClr val="2F3645"/>
          </a:solidFill>
          <a:ln w="12700">
            <a:solidFill>
              <a:srgbClr val="4A5468"/>
            </a:solidFill>
            <a:prstDash val="solid"/>
          </a:ln>
        </p:spPr>
      </p:sp>
      <p:sp>
        <p:nvSpPr>
          <p:cNvPr id="11" name="Text 9"/>
          <p:cNvSpPr/>
          <p:nvPr/>
        </p:nvSpPr>
        <p:spPr>
          <a:xfrm>
            <a:off x="2752344" y="2743200"/>
            <a:ext cx="640080" cy="228600"/>
          </a:xfrm>
          <a:prstGeom prst="rect">
            <a:avLst/>
          </a:prstGeom>
          <a:noFill/>
          <a:ln/>
        </p:spPr>
        <p:txBody>
          <a:bodyPr wrap="square" lIns="0" tIns="0" rIns="0" bIns="0" rtlCol="0" anchor="ctr"/>
          <a:lstStyle/>
          <a:p>
            <a:pPr indent="0" marL="0">
              <a:buNone/>
            </a:pPr>
            <a:r>
              <a:rPr lang="en-US" sz="1100" b="1" dirty="0">
                <a:solidFill>
                  <a:srgbClr val="C0541F"/>
                </a:solidFill>
                <a:latin typeface="Poppins SemiBold" pitchFamily="34" charset="0"/>
                <a:ea typeface="Poppins SemiBold" pitchFamily="34" charset="-122"/>
                <a:cs typeface="Poppins SemiBold" pitchFamily="34" charset="-120"/>
              </a:rPr>
              <a:t>02</a:t>
            </a:r>
            <a:endParaRPr lang="en-US" sz="1100" dirty="0"/>
          </a:p>
        </p:txBody>
      </p:sp>
      <p:sp>
        <p:nvSpPr>
          <p:cNvPr id="12" name="Text 10"/>
          <p:cNvSpPr/>
          <p:nvPr/>
        </p:nvSpPr>
        <p:spPr>
          <a:xfrm>
            <a:off x="2752344" y="2999232"/>
            <a:ext cx="1554480" cy="274320"/>
          </a:xfrm>
          <a:prstGeom prst="rect">
            <a:avLst/>
          </a:prstGeom>
          <a:noFill/>
          <a:ln/>
        </p:spPr>
        <p:txBody>
          <a:bodyPr wrap="square" lIns="0" tIns="0" rIns="0" bIns="0" rtlCol="0" anchor="ctr"/>
          <a:lstStyle/>
          <a:p>
            <a:pPr indent="0" marL="0">
              <a:buNone/>
            </a:pPr>
            <a:r>
              <a:rPr lang="en-US" sz="1250" b="1" dirty="0">
                <a:solidFill>
                  <a:srgbClr val="FFFFFF"/>
                </a:solidFill>
                <a:latin typeface="Poppins Medium" pitchFamily="34" charset="0"/>
                <a:ea typeface="Poppins Medium" pitchFamily="34" charset="-122"/>
                <a:cs typeface="Poppins Medium" pitchFamily="34" charset="-120"/>
              </a:rPr>
              <a:t>Cross-section</a:t>
            </a:r>
            <a:endParaRPr lang="en-US" sz="1250" dirty="0"/>
          </a:p>
        </p:txBody>
      </p:sp>
      <p:sp>
        <p:nvSpPr>
          <p:cNvPr id="13" name="Shape 11"/>
          <p:cNvSpPr/>
          <p:nvPr/>
        </p:nvSpPr>
        <p:spPr>
          <a:xfrm>
            <a:off x="4672584" y="2606040"/>
            <a:ext cx="1828800" cy="868680"/>
          </a:xfrm>
          <a:prstGeom prst="rect">
            <a:avLst/>
          </a:prstGeom>
          <a:solidFill>
            <a:srgbClr val="2F3645"/>
          </a:solidFill>
          <a:ln w="12700">
            <a:solidFill>
              <a:srgbClr val="4A5468"/>
            </a:solidFill>
            <a:prstDash val="solid"/>
          </a:ln>
        </p:spPr>
      </p:sp>
      <p:sp>
        <p:nvSpPr>
          <p:cNvPr id="14" name="Text 12"/>
          <p:cNvSpPr/>
          <p:nvPr/>
        </p:nvSpPr>
        <p:spPr>
          <a:xfrm>
            <a:off x="4837176" y="2743200"/>
            <a:ext cx="640080" cy="228600"/>
          </a:xfrm>
          <a:prstGeom prst="rect">
            <a:avLst/>
          </a:prstGeom>
          <a:noFill/>
          <a:ln/>
        </p:spPr>
        <p:txBody>
          <a:bodyPr wrap="square" lIns="0" tIns="0" rIns="0" bIns="0" rtlCol="0" anchor="ctr"/>
          <a:lstStyle/>
          <a:p>
            <a:pPr indent="0" marL="0">
              <a:buNone/>
            </a:pPr>
            <a:r>
              <a:rPr lang="en-US" sz="1100" b="1" dirty="0">
                <a:solidFill>
                  <a:srgbClr val="C0541F"/>
                </a:solidFill>
                <a:latin typeface="Poppins SemiBold" pitchFamily="34" charset="0"/>
                <a:ea typeface="Poppins SemiBold" pitchFamily="34" charset="-122"/>
                <a:cs typeface="Poppins SemiBold" pitchFamily="34" charset="-120"/>
              </a:rPr>
              <a:t>03</a:t>
            </a:r>
            <a:endParaRPr lang="en-US" sz="1100" dirty="0"/>
          </a:p>
        </p:txBody>
      </p:sp>
      <p:sp>
        <p:nvSpPr>
          <p:cNvPr id="15" name="Text 13"/>
          <p:cNvSpPr/>
          <p:nvPr/>
        </p:nvSpPr>
        <p:spPr>
          <a:xfrm>
            <a:off x="4837176" y="2999232"/>
            <a:ext cx="1554480" cy="274320"/>
          </a:xfrm>
          <a:prstGeom prst="rect">
            <a:avLst/>
          </a:prstGeom>
          <a:noFill/>
          <a:ln/>
        </p:spPr>
        <p:txBody>
          <a:bodyPr wrap="square" lIns="0" tIns="0" rIns="0" bIns="0" rtlCol="0" anchor="ctr"/>
          <a:lstStyle/>
          <a:p>
            <a:pPr indent="0" marL="0">
              <a:buNone/>
            </a:pPr>
            <a:r>
              <a:rPr lang="en-US" sz="1250" b="1" dirty="0">
                <a:solidFill>
                  <a:srgbClr val="FFFFFF"/>
                </a:solidFill>
                <a:latin typeface="Poppins Medium" pitchFamily="34" charset="0"/>
                <a:ea typeface="Poppins Medium" pitchFamily="34" charset="-122"/>
                <a:cs typeface="Poppins Medium" pitchFamily="34" charset="-120"/>
              </a:rPr>
              <a:t>Material</a:t>
            </a:r>
            <a:endParaRPr lang="en-US" sz="1250" dirty="0"/>
          </a:p>
        </p:txBody>
      </p:sp>
      <p:sp>
        <p:nvSpPr>
          <p:cNvPr id="16" name="Shape 14"/>
          <p:cNvSpPr/>
          <p:nvPr/>
        </p:nvSpPr>
        <p:spPr>
          <a:xfrm>
            <a:off x="6757416" y="2606040"/>
            <a:ext cx="1828800" cy="868680"/>
          </a:xfrm>
          <a:prstGeom prst="rect">
            <a:avLst/>
          </a:prstGeom>
          <a:solidFill>
            <a:srgbClr val="2F3645"/>
          </a:solidFill>
          <a:ln w="12700">
            <a:solidFill>
              <a:srgbClr val="4A5468"/>
            </a:solidFill>
            <a:prstDash val="solid"/>
          </a:ln>
        </p:spPr>
      </p:sp>
      <p:sp>
        <p:nvSpPr>
          <p:cNvPr id="17" name="Text 15"/>
          <p:cNvSpPr/>
          <p:nvPr/>
        </p:nvSpPr>
        <p:spPr>
          <a:xfrm>
            <a:off x="6922008" y="2743200"/>
            <a:ext cx="640080" cy="228600"/>
          </a:xfrm>
          <a:prstGeom prst="rect">
            <a:avLst/>
          </a:prstGeom>
          <a:noFill/>
          <a:ln/>
        </p:spPr>
        <p:txBody>
          <a:bodyPr wrap="square" lIns="0" tIns="0" rIns="0" bIns="0" rtlCol="0" anchor="ctr"/>
          <a:lstStyle/>
          <a:p>
            <a:pPr indent="0" marL="0">
              <a:buNone/>
            </a:pPr>
            <a:r>
              <a:rPr lang="en-US" sz="1100" b="1" dirty="0">
                <a:solidFill>
                  <a:srgbClr val="C0541F"/>
                </a:solidFill>
                <a:latin typeface="Poppins SemiBold" pitchFamily="34" charset="0"/>
                <a:ea typeface="Poppins SemiBold" pitchFamily="34" charset="-122"/>
                <a:cs typeface="Poppins SemiBold" pitchFamily="34" charset="-120"/>
              </a:rPr>
              <a:t>04</a:t>
            </a:r>
            <a:endParaRPr lang="en-US" sz="1100" dirty="0"/>
          </a:p>
        </p:txBody>
      </p:sp>
      <p:sp>
        <p:nvSpPr>
          <p:cNvPr id="18" name="Text 16"/>
          <p:cNvSpPr/>
          <p:nvPr/>
        </p:nvSpPr>
        <p:spPr>
          <a:xfrm>
            <a:off x="6922008" y="2999232"/>
            <a:ext cx="1554480" cy="274320"/>
          </a:xfrm>
          <a:prstGeom prst="rect">
            <a:avLst/>
          </a:prstGeom>
          <a:noFill/>
          <a:ln/>
        </p:spPr>
        <p:txBody>
          <a:bodyPr wrap="square" lIns="0" tIns="0" rIns="0" bIns="0" rtlCol="0" anchor="ctr"/>
          <a:lstStyle/>
          <a:p>
            <a:pPr indent="0" marL="0">
              <a:buNone/>
            </a:pPr>
            <a:r>
              <a:rPr lang="en-US" sz="1250" b="1" dirty="0">
                <a:solidFill>
                  <a:srgbClr val="FFFFFF"/>
                </a:solidFill>
                <a:latin typeface="Poppins Medium" pitchFamily="34" charset="0"/>
                <a:ea typeface="Poppins Medium" pitchFamily="34" charset="-122"/>
                <a:cs typeface="Poppins Medium" pitchFamily="34" charset="-120"/>
              </a:rPr>
              <a:t>Temperature</a:t>
            </a:r>
            <a:endParaRPr lang="en-US" sz="1250" dirty="0"/>
          </a:p>
        </p:txBody>
      </p:sp>
      <p:sp>
        <p:nvSpPr>
          <p:cNvPr id="19" name="Shape 17"/>
          <p:cNvSpPr/>
          <p:nvPr/>
        </p:nvSpPr>
        <p:spPr>
          <a:xfrm>
            <a:off x="685800" y="3950208"/>
            <a:ext cx="32004" cy="384048"/>
          </a:xfrm>
          <a:prstGeom prst="rect">
            <a:avLst/>
          </a:prstGeom>
          <a:solidFill>
            <a:srgbClr val="C0541F"/>
          </a:solidFill>
          <a:ln/>
        </p:spPr>
      </p:sp>
      <p:sp>
        <p:nvSpPr>
          <p:cNvPr id="20" name="Text 18"/>
          <p:cNvSpPr/>
          <p:nvPr/>
        </p:nvSpPr>
        <p:spPr>
          <a:xfrm>
            <a:off x="850392" y="3931920"/>
            <a:ext cx="6693408" cy="457200"/>
          </a:xfrm>
          <a:prstGeom prst="rect">
            <a:avLst/>
          </a:prstGeom>
          <a:noFill/>
          <a:ln/>
        </p:spPr>
        <p:txBody>
          <a:bodyPr wrap="square" lIns="0" tIns="0" rIns="0" bIns="0" rtlCol="0" anchor="t"/>
          <a:lstStyle/>
          <a:p>
            <a:pPr indent="0" marL="0">
              <a:buNone/>
            </a:pPr>
            <a:r>
              <a:rPr lang="en-US" sz="1150" i="1" dirty="0">
                <a:solidFill>
                  <a:srgbClr val="B9C0CC"/>
                </a:solidFill>
                <a:latin typeface="Lora" pitchFamily="34" charset="0"/>
                <a:ea typeface="Lora" pitchFamily="34" charset="-122"/>
                <a:cs typeface="Lora" pitchFamily="34" charset="-120"/>
              </a:rPr>
              <a:t>Four suspects — so we change one at a time and hold the rest fixed: the control-variables method.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11</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EXPERIMENT · DESIGN</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300" b="1" dirty="0">
                <a:solidFill>
                  <a:srgbClr val="222733"/>
                </a:solidFill>
                <a:latin typeface="Poppins SemiBold" pitchFamily="34" charset="0"/>
                <a:ea typeface="Poppins SemiBold" pitchFamily="34" charset="-122"/>
                <a:cs typeface="Poppins SemiBold" pitchFamily="34" charset="-120"/>
              </a:rPr>
              <a:t>One circuit, three fair comparisons</a:t>
            </a:r>
            <a:endParaRPr lang="en-US" sz="2300" dirty="0"/>
          </a:p>
        </p:txBody>
      </p:sp>
      <p:sp>
        <p:nvSpPr>
          <p:cNvPr id="7" name="Shape 5"/>
          <p:cNvSpPr/>
          <p:nvPr/>
        </p:nvSpPr>
        <p:spPr>
          <a:xfrm>
            <a:off x="502920" y="1207008"/>
            <a:ext cx="4892040" cy="256032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pic>
        <p:nvPicPr>
          <p:cNvPr id="8" name="Image 0" descr="assets/image11.png">    </p:cNvPr>
          <p:cNvPicPr>
            <a:picLocks noChangeAspect="1"/>
          </p:cNvPicPr>
          <p:nvPr/>
        </p:nvPicPr>
        <p:blipFill>
          <a:blip r:embed="rId1"/>
          <a:stretch>
            <a:fillRect/>
          </a:stretch>
        </p:blipFill>
        <p:spPr>
          <a:xfrm>
            <a:off x="731520" y="1495212"/>
            <a:ext cx="4434840" cy="1947335"/>
          </a:xfrm>
          <a:prstGeom prst="rect">
            <a:avLst/>
          </a:prstGeom>
        </p:spPr>
      </p:pic>
      <p:sp>
        <p:nvSpPr>
          <p:cNvPr id="9" name="Text 6"/>
          <p:cNvSpPr/>
          <p:nvPr/>
        </p:nvSpPr>
        <p:spPr>
          <a:xfrm>
            <a:off x="502920" y="3840480"/>
            <a:ext cx="4892040" cy="384048"/>
          </a:xfrm>
          <a:prstGeom prst="rect">
            <a:avLst/>
          </a:prstGeom>
          <a:noFill/>
          <a:ln/>
        </p:spPr>
        <p:txBody>
          <a:bodyPr wrap="square" lIns="0" tIns="0" rIns="0" bIns="0" rtlCol="0" anchor="t"/>
          <a:lstStyle/>
          <a:p>
            <a:pPr algn="ctr" indent="0" marL="0">
              <a:buNone/>
            </a:pPr>
            <a:r>
              <a:rPr lang="en-US" sz="900" dirty="0">
                <a:solidFill>
                  <a:srgbClr val="8A8378"/>
                </a:solidFill>
                <a:latin typeface="Poppins" pitchFamily="34" charset="0"/>
                <a:ea typeface="Poppins" pitchFamily="34" charset="-122"/>
                <a:cs typeface="Poppins" pitchFamily="34" charset="-120"/>
              </a:rPr>
              <a:t>Conductors a–d in series — a voltmeter across each</a:t>
            </a:r>
            <a:endParaRPr lang="en-US" sz="900" dirty="0"/>
          </a:p>
        </p:txBody>
      </p:sp>
      <p:sp>
        <p:nvSpPr>
          <p:cNvPr id="10" name="Shape 7"/>
          <p:cNvSpPr/>
          <p:nvPr/>
        </p:nvSpPr>
        <p:spPr>
          <a:xfrm>
            <a:off x="5715000" y="1280160"/>
            <a:ext cx="2926080" cy="548640"/>
          </a:xfrm>
          <a:prstGeom prst="rect">
            <a:avLst/>
          </a:prstGeom>
          <a:solidFill>
            <a:srgbClr val="FFFFFF"/>
          </a:solidFill>
          <a:ln w="9525">
            <a:solidFill>
              <a:srgbClr val="E3DCD0"/>
            </a:solidFill>
            <a:prstDash val="solid"/>
          </a:ln>
        </p:spPr>
      </p:sp>
      <p:sp>
        <p:nvSpPr>
          <p:cNvPr id="11" name="Text 8"/>
          <p:cNvSpPr/>
          <p:nvPr/>
        </p:nvSpPr>
        <p:spPr>
          <a:xfrm>
            <a:off x="5897880" y="1353312"/>
            <a:ext cx="914400" cy="411480"/>
          </a:xfrm>
          <a:prstGeom prst="rect">
            <a:avLst/>
          </a:prstGeom>
          <a:noFill/>
          <a:ln/>
        </p:spPr>
        <p:txBody>
          <a:bodyPr wrap="square" lIns="0" tIns="0" rIns="0" bIns="0" rtlCol="0" anchor="ctr"/>
          <a:lstStyle/>
          <a:p>
            <a:pPr indent="0" marL="0">
              <a:buNone/>
            </a:pPr>
            <a:r>
              <a:rPr lang="en-US" sz="1250" b="1" dirty="0">
                <a:solidFill>
                  <a:srgbClr val="C0541F"/>
                </a:solidFill>
                <a:latin typeface="Poppins SemiBold" pitchFamily="34" charset="0"/>
                <a:ea typeface="Poppins SemiBold" pitchFamily="34" charset="-122"/>
                <a:cs typeface="Poppins SemiBold" pitchFamily="34" charset="-120"/>
              </a:rPr>
              <a:t>a vs b</a:t>
            </a:r>
            <a:endParaRPr lang="en-US" sz="1250" dirty="0"/>
          </a:p>
        </p:txBody>
      </p:sp>
      <p:sp>
        <p:nvSpPr>
          <p:cNvPr id="12" name="Text 9"/>
          <p:cNvSpPr/>
          <p:nvPr/>
        </p:nvSpPr>
        <p:spPr>
          <a:xfrm>
            <a:off x="6720840" y="1353312"/>
            <a:ext cx="1874520" cy="411480"/>
          </a:xfrm>
          <a:prstGeom prst="rect">
            <a:avLst/>
          </a:prstGeom>
          <a:noFill/>
          <a:ln/>
        </p:spPr>
        <p:txBody>
          <a:bodyPr wrap="square" lIns="0" tIns="0" rIns="0" bIns="0" rtlCol="0" anchor="ctr"/>
          <a:lstStyle/>
          <a:p>
            <a:pPr indent="0" marL="0">
              <a:buNone/>
            </a:pPr>
            <a:r>
              <a:rPr lang="en-US" sz="950" dirty="0">
                <a:solidFill>
                  <a:srgbClr val="4A5260"/>
                </a:solidFill>
                <a:latin typeface="Poppins" pitchFamily="34" charset="0"/>
                <a:ea typeface="Poppins" pitchFamily="34" charset="-122"/>
                <a:cs typeface="Poppins" pitchFamily="34" charset="-120"/>
              </a:rPr>
              <a:t>only the length differs</a:t>
            </a:r>
            <a:endParaRPr lang="en-US" sz="950" dirty="0"/>
          </a:p>
        </p:txBody>
      </p:sp>
      <p:sp>
        <p:nvSpPr>
          <p:cNvPr id="13" name="Shape 10"/>
          <p:cNvSpPr/>
          <p:nvPr/>
        </p:nvSpPr>
        <p:spPr>
          <a:xfrm>
            <a:off x="5715000" y="2103120"/>
            <a:ext cx="2926080" cy="548640"/>
          </a:xfrm>
          <a:prstGeom prst="rect">
            <a:avLst/>
          </a:prstGeom>
          <a:solidFill>
            <a:srgbClr val="FFFFFF"/>
          </a:solidFill>
          <a:ln w="9525">
            <a:solidFill>
              <a:srgbClr val="E3DCD0"/>
            </a:solidFill>
            <a:prstDash val="solid"/>
          </a:ln>
        </p:spPr>
      </p:sp>
      <p:sp>
        <p:nvSpPr>
          <p:cNvPr id="14" name="Text 11"/>
          <p:cNvSpPr/>
          <p:nvPr/>
        </p:nvSpPr>
        <p:spPr>
          <a:xfrm>
            <a:off x="5897880" y="2176272"/>
            <a:ext cx="914400" cy="411480"/>
          </a:xfrm>
          <a:prstGeom prst="rect">
            <a:avLst/>
          </a:prstGeom>
          <a:noFill/>
          <a:ln/>
        </p:spPr>
        <p:txBody>
          <a:bodyPr wrap="square" lIns="0" tIns="0" rIns="0" bIns="0" rtlCol="0" anchor="ctr"/>
          <a:lstStyle/>
          <a:p>
            <a:pPr indent="0" marL="0">
              <a:buNone/>
            </a:pPr>
            <a:r>
              <a:rPr lang="en-US" sz="1250" b="1" dirty="0">
                <a:solidFill>
                  <a:srgbClr val="C0541F"/>
                </a:solidFill>
                <a:latin typeface="Poppins SemiBold" pitchFamily="34" charset="0"/>
                <a:ea typeface="Poppins SemiBold" pitchFamily="34" charset="-122"/>
                <a:cs typeface="Poppins SemiBold" pitchFamily="34" charset="-120"/>
              </a:rPr>
              <a:t>a vs c</a:t>
            </a:r>
            <a:endParaRPr lang="en-US" sz="1250" dirty="0"/>
          </a:p>
        </p:txBody>
      </p:sp>
      <p:sp>
        <p:nvSpPr>
          <p:cNvPr id="15" name="Text 12"/>
          <p:cNvSpPr/>
          <p:nvPr/>
        </p:nvSpPr>
        <p:spPr>
          <a:xfrm>
            <a:off x="6720840" y="2176272"/>
            <a:ext cx="1874520" cy="411480"/>
          </a:xfrm>
          <a:prstGeom prst="rect">
            <a:avLst/>
          </a:prstGeom>
          <a:noFill/>
          <a:ln/>
        </p:spPr>
        <p:txBody>
          <a:bodyPr wrap="square" lIns="0" tIns="0" rIns="0" bIns="0" rtlCol="0" anchor="ctr"/>
          <a:lstStyle/>
          <a:p>
            <a:pPr indent="0" marL="0">
              <a:buNone/>
            </a:pPr>
            <a:r>
              <a:rPr lang="en-US" sz="950" dirty="0">
                <a:solidFill>
                  <a:srgbClr val="4A5260"/>
                </a:solidFill>
                <a:latin typeface="Poppins" pitchFamily="34" charset="0"/>
                <a:ea typeface="Poppins" pitchFamily="34" charset="-122"/>
                <a:cs typeface="Poppins" pitchFamily="34" charset="-120"/>
              </a:rPr>
              <a:t>only the cross-section differs</a:t>
            </a:r>
            <a:endParaRPr lang="en-US" sz="950" dirty="0"/>
          </a:p>
        </p:txBody>
      </p:sp>
      <p:sp>
        <p:nvSpPr>
          <p:cNvPr id="16" name="Shape 13"/>
          <p:cNvSpPr/>
          <p:nvPr/>
        </p:nvSpPr>
        <p:spPr>
          <a:xfrm>
            <a:off x="5715000" y="2926080"/>
            <a:ext cx="2926080" cy="548640"/>
          </a:xfrm>
          <a:prstGeom prst="rect">
            <a:avLst/>
          </a:prstGeom>
          <a:solidFill>
            <a:srgbClr val="FFFFFF"/>
          </a:solidFill>
          <a:ln w="9525">
            <a:solidFill>
              <a:srgbClr val="E3DCD0"/>
            </a:solidFill>
            <a:prstDash val="solid"/>
          </a:ln>
        </p:spPr>
      </p:sp>
      <p:sp>
        <p:nvSpPr>
          <p:cNvPr id="17" name="Text 14"/>
          <p:cNvSpPr/>
          <p:nvPr/>
        </p:nvSpPr>
        <p:spPr>
          <a:xfrm>
            <a:off x="5897880" y="2999232"/>
            <a:ext cx="914400" cy="411480"/>
          </a:xfrm>
          <a:prstGeom prst="rect">
            <a:avLst/>
          </a:prstGeom>
          <a:noFill/>
          <a:ln/>
        </p:spPr>
        <p:txBody>
          <a:bodyPr wrap="square" lIns="0" tIns="0" rIns="0" bIns="0" rtlCol="0" anchor="ctr"/>
          <a:lstStyle/>
          <a:p>
            <a:pPr indent="0" marL="0">
              <a:buNone/>
            </a:pPr>
            <a:r>
              <a:rPr lang="en-US" sz="1250" b="1" dirty="0">
                <a:solidFill>
                  <a:srgbClr val="C0541F"/>
                </a:solidFill>
                <a:latin typeface="Poppins SemiBold" pitchFamily="34" charset="0"/>
                <a:ea typeface="Poppins SemiBold" pitchFamily="34" charset="-122"/>
                <a:cs typeface="Poppins SemiBold" pitchFamily="34" charset="-120"/>
              </a:rPr>
              <a:t>a vs d</a:t>
            </a:r>
            <a:endParaRPr lang="en-US" sz="1250" dirty="0"/>
          </a:p>
        </p:txBody>
      </p:sp>
      <p:sp>
        <p:nvSpPr>
          <p:cNvPr id="18" name="Text 15"/>
          <p:cNvSpPr/>
          <p:nvPr/>
        </p:nvSpPr>
        <p:spPr>
          <a:xfrm>
            <a:off x="6720840" y="2999232"/>
            <a:ext cx="1874520" cy="411480"/>
          </a:xfrm>
          <a:prstGeom prst="rect">
            <a:avLst/>
          </a:prstGeom>
          <a:noFill/>
          <a:ln/>
        </p:spPr>
        <p:txBody>
          <a:bodyPr wrap="square" lIns="0" tIns="0" rIns="0" bIns="0" rtlCol="0" anchor="ctr"/>
          <a:lstStyle/>
          <a:p>
            <a:pPr indent="0" marL="0">
              <a:buNone/>
            </a:pPr>
            <a:r>
              <a:rPr lang="en-US" sz="950" dirty="0">
                <a:solidFill>
                  <a:srgbClr val="4A5260"/>
                </a:solidFill>
                <a:latin typeface="Poppins" pitchFamily="34" charset="0"/>
                <a:ea typeface="Poppins" pitchFamily="34" charset="-122"/>
                <a:cs typeface="Poppins" pitchFamily="34" charset="-120"/>
              </a:rPr>
              <a:t>only the material differs</a:t>
            </a:r>
            <a:endParaRPr lang="en-US" sz="950" dirty="0"/>
          </a:p>
        </p:txBody>
      </p:sp>
      <p:sp>
        <p:nvSpPr>
          <p:cNvPr id="19" name="Shape 16"/>
          <p:cNvSpPr/>
          <p:nvPr/>
        </p:nvSpPr>
        <p:spPr>
          <a:xfrm>
            <a:off x="5715000" y="3813048"/>
            <a:ext cx="32004" cy="685800"/>
          </a:xfrm>
          <a:prstGeom prst="rect">
            <a:avLst/>
          </a:prstGeom>
          <a:solidFill>
            <a:srgbClr val="C0541F"/>
          </a:solidFill>
          <a:ln/>
        </p:spPr>
      </p:sp>
      <p:sp>
        <p:nvSpPr>
          <p:cNvPr id="20" name="Text 17"/>
          <p:cNvSpPr/>
          <p:nvPr/>
        </p:nvSpPr>
        <p:spPr>
          <a:xfrm>
            <a:off x="5879592" y="3794760"/>
            <a:ext cx="2761488" cy="914400"/>
          </a:xfrm>
          <a:prstGeom prst="rect">
            <a:avLst/>
          </a:prstGeom>
          <a:noFill/>
          <a:ln/>
        </p:spPr>
        <p:txBody>
          <a:bodyPr wrap="square" lIns="0" tIns="0" rIns="0" bIns="0" rtlCol="0" anchor="t"/>
          <a:lstStyle/>
          <a:p>
            <a:pPr indent="0" marL="0">
              <a:buNone/>
            </a:pPr>
            <a:r>
              <a:rPr lang="en-US" sz="1000" i="1" dirty="0">
                <a:solidFill>
                  <a:srgbClr val="4A5260"/>
                </a:solidFill>
                <a:latin typeface="Lora" pitchFamily="34" charset="0"/>
                <a:ea typeface="Lora" pitchFamily="34" charset="-122"/>
                <a:cs typeface="Lora" pitchFamily="34" charset="-120"/>
              </a:rPr>
              <a:t>In series the current is the same everywhere, so U = IR makes each voltmeter reading directly proportional to that conductor's resistance.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12</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EXPERIMENT · RESULT</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300" b="1" dirty="0">
                <a:solidFill>
                  <a:srgbClr val="222733"/>
                </a:solidFill>
                <a:latin typeface="Poppins SemiBold" pitchFamily="34" charset="0"/>
                <a:ea typeface="Poppins SemiBold" pitchFamily="34" charset="-122"/>
                <a:cs typeface="Poppins SemiBold" pitchFamily="34" charset="-120"/>
              </a:rPr>
              <a:t>The resistance law</a:t>
            </a:r>
            <a:endParaRPr lang="en-US" sz="2300" dirty="0"/>
          </a:p>
        </p:txBody>
      </p:sp>
      <p:sp>
        <p:nvSpPr>
          <p:cNvPr id="7" name="Shape 5"/>
          <p:cNvSpPr/>
          <p:nvPr/>
        </p:nvSpPr>
        <p:spPr>
          <a:xfrm>
            <a:off x="502920" y="1554480"/>
            <a:ext cx="3383280" cy="182880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pic>
        <p:nvPicPr>
          <p:cNvPr id="8" name="Image 0" descr="assets/f_law.png">    </p:cNvPr>
          <p:cNvPicPr>
            <a:picLocks noChangeAspect="1"/>
          </p:cNvPicPr>
          <p:nvPr/>
        </p:nvPicPr>
        <p:blipFill>
          <a:blip r:embed="rId1"/>
          <a:stretch>
            <a:fillRect/>
          </a:stretch>
        </p:blipFill>
        <p:spPr>
          <a:xfrm>
            <a:off x="1234440" y="1902484"/>
            <a:ext cx="1920240" cy="940769"/>
          </a:xfrm>
          <a:prstGeom prst="rect">
            <a:avLst/>
          </a:prstGeom>
        </p:spPr>
      </p:pic>
      <p:sp>
        <p:nvSpPr>
          <p:cNvPr id="9" name="Text 6"/>
          <p:cNvSpPr/>
          <p:nvPr/>
        </p:nvSpPr>
        <p:spPr>
          <a:xfrm>
            <a:off x="502920" y="3520440"/>
            <a:ext cx="3566160" cy="640080"/>
          </a:xfrm>
          <a:prstGeom prst="rect">
            <a:avLst/>
          </a:prstGeom>
          <a:noFill/>
          <a:ln/>
        </p:spPr>
        <p:txBody>
          <a:bodyPr wrap="square" lIns="0" tIns="0" rIns="0" bIns="0" rtlCol="0" anchor="t"/>
          <a:lstStyle/>
          <a:p>
            <a:pPr indent="0" marL="0">
              <a:spcAft>
                <a:spcPts val="400"/>
              </a:spcAft>
              <a:buNone/>
            </a:pPr>
            <a:r>
              <a:rPr lang="en-US" sz="1000" b="1" i="1" dirty="0">
                <a:solidFill>
                  <a:srgbClr val="C0541F"/>
                </a:solidFill>
                <a:latin typeface="Carlito" pitchFamily="34" charset="0"/>
                <a:ea typeface="Carlito" pitchFamily="34" charset="-122"/>
                <a:cs typeface="Carlito" pitchFamily="34" charset="-120"/>
              </a:rPr>
              <a:t>ρ</a:t>
            </a:r>
            <a:pPr indent="0" marL="0">
              <a:spcAft>
                <a:spcPts val="400"/>
              </a:spcAft>
              <a:buNone/>
            </a:pPr>
            <a:r>
              <a:rPr lang="en-US" sz="1000" dirty="0">
                <a:solidFill>
                  <a:srgbClr val="4A5260"/>
                </a:solidFill>
                <a:latin typeface="Poppins" pitchFamily="34" charset="0"/>
                <a:ea typeface="Poppins" pitchFamily="34" charset="-122"/>
                <a:cs typeface="Poppins" pitchFamily="34" charset="-120"/>
              </a:rPr>
              <a:t>  resistivity (</a:t>
            </a:r>
            <a:pPr indent="0" marL="0">
              <a:spcAft>
                <a:spcPts val="400"/>
              </a:spcAft>
              <a:buNone/>
            </a:pPr>
            <a:r>
              <a:rPr lang="en-US" sz="1000" dirty="0">
                <a:solidFill>
                  <a:srgbClr val="4A5260"/>
                </a:solidFill>
                <a:latin typeface="Carlito" pitchFamily="34" charset="0"/>
                <a:ea typeface="Carlito" pitchFamily="34" charset="-122"/>
                <a:cs typeface="Carlito" pitchFamily="34" charset="-120"/>
              </a:rPr>
              <a:t>Ω·m</a:t>
            </a:r>
            <a:pPr indent="0" marL="0">
              <a:spcAft>
                <a:spcPts val="400"/>
              </a:spcAft>
              <a:buNone/>
            </a:pPr>
            <a:r>
              <a:rPr lang="en-US" sz="1000" dirty="0">
                <a:solidFill>
                  <a:srgbClr val="4A5260"/>
                </a:solidFill>
                <a:latin typeface="Poppins" pitchFamily="34" charset="0"/>
                <a:ea typeface="Poppins" pitchFamily="34" charset="-122"/>
                <a:cs typeface="Poppins" pitchFamily="34" charset="-120"/>
              </a:rPr>
              <a:t>) — set by the material</a:t>
            </a:r>
            <a:endParaRPr lang="en-US" sz="1000" dirty="0"/>
          </a:p>
          <a:p>
            <a:pPr indent="0" marL="0">
              <a:spcAft>
                <a:spcPts val="400"/>
              </a:spcAft>
              <a:buNone/>
            </a:pPr>
            <a:r>
              <a:rPr lang="en-US" sz="1000" b="1" i="1" dirty="0">
                <a:solidFill>
                  <a:srgbClr val="222733"/>
                </a:solidFill>
                <a:latin typeface="Poppins" pitchFamily="34" charset="0"/>
                <a:ea typeface="Poppins" pitchFamily="34" charset="-122"/>
                <a:cs typeface="Poppins" pitchFamily="34" charset="-120"/>
              </a:rPr>
              <a:t>L</a:t>
            </a:r>
            <a:pPr indent="0" marL="0">
              <a:spcAft>
                <a:spcPts val="400"/>
              </a:spcAft>
              <a:buNone/>
            </a:pPr>
            <a:r>
              <a:rPr lang="en-US" sz="1000" dirty="0">
                <a:solidFill>
                  <a:srgbClr val="4A5260"/>
                </a:solidFill>
                <a:latin typeface="Poppins" pitchFamily="34" charset="0"/>
                <a:ea typeface="Poppins" pitchFamily="34" charset="-122"/>
                <a:cs typeface="Poppins" pitchFamily="34" charset="-120"/>
              </a:rPr>
              <a:t>  length        </a:t>
            </a:r>
            <a:pPr indent="0" marL="0">
              <a:spcAft>
                <a:spcPts val="400"/>
              </a:spcAft>
              <a:buNone/>
            </a:pPr>
            <a:r>
              <a:rPr lang="en-US" sz="1000" b="1" i="1" dirty="0">
                <a:solidFill>
                  <a:srgbClr val="222733"/>
                </a:solidFill>
                <a:latin typeface="Poppins" pitchFamily="34" charset="0"/>
                <a:ea typeface="Poppins" pitchFamily="34" charset="-122"/>
                <a:cs typeface="Poppins" pitchFamily="34" charset="-120"/>
              </a:rPr>
              <a:t>S</a:t>
            </a:r>
            <a:pPr indent="0" marL="0">
              <a:spcAft>
                <a:spcPts val="400"/>
              </a:spcAft>
              <a:buNone/>
            </a:pPr>
            <a:r>
              <a:rPr lang="en-US" sz="1000" dirty="0">
                <a:solidFill>
                  <a:srgbClr val="4A5260"/>
                </a:solidFill>
                <a:latin typeface="Poppins" pitchFamily="34" charset="0"/>
                <a:ea typeface="Poppins" pitchFamily="34" charset="-122"/>
                <a:cs typeface="Poppins" pitchFamily="34" charset="-120"/>
              </a:rPr>
              <a:t>  cross-sectional area</a:t>
            </a:r>
            <a:endParaRPr lang="en-US" sz="1000" dirty="0"/>
          </a:p>
        </p:txBody>
      </p:sp>
      <p:sp>
        <p:nvSpPr>
          <p:cNvPr id="10" name="Text 7"/>
          <p:cNvSpPr/>
          <p:nvPr/>
        </p:nvSpPr>
        <p:spPr>
          <a:xfrm>
            <a:off x="4526280" y="1280160"/>
            <a:ext cx="4114800" cy="228600"/>
          </a:xfrm>
          <a:prstGeom prst="rect">
            <a:avLst/>
          </a:prstGeom>
          <a:noFill/>
          <a:ln/>
        </p:spPr>
        <p:txBody>
          <a:bodyPr wrap="square" lIns="0" tIns="0" rIns="0" bIns="0" rtlCol="0" anchor="ctr"/>
          <a:lstStyle/>
          <a:p>
            <a:pPr indent="0" marL="0">
              <a:buNone/>
            </a:pPr>
            <a:r>
              <a:rPr lang="en-US" sz="950" b="1" spc="150" kern="0" dirty="0">
                <a:solidFill>
                  <a:srgbClr val="8A93A3"/>
                </a:solidFill>
                <a:latin typeface="Poppins" pitchFamily="34" charset="0"/>
                <a:ea typeface="Poppins" pitchFamily="34" charset="-122"/>
                <a:cs typeface="Poppins" pitchFamily="34" charset="-120"/>
              </a:rPr>
              <a:t>RESISTIVITY AT 20 °C</a:t>
            </a:r>
            <a:endParaRPr lang="en-US" sz="950" dirty="0"/>
          </a:p>
        </p:txBody>
      </p:sp>
      <p:sp>
        <p:nvSpPr>
          <p:cNvPr id="11" name="Text 8"/>
          <p:cNvSpPr/>
          <p:nvPr/>
        </p:nvSpPr>
        <p:spPr>
          <a:xfrm>
            <a:off x="4526280" y="1627632"/>
            <a:ext cx="2194560" cy="292608"/>
          </a:xfrm>
          <a:prstGeom prst="rect">
            <a:avLst/>
          </a:prstGeom>
          <a:noFill/>
          <a:ln/>
        </p:spPr>
        <p:txBody>
          <a:bodyPr wrap="square" lIns="0" tIns="0" rIns="0" bIns="0" rtlCol="0" anchor="ctr"/>
          <a:lstStyle/>
          <a:p>
            <a:pPr indent="0" marL="0">
              <a:buNone/>
            </a:pPr>
            <a:r>
              <a:rPr lang="en-US" sz="1100" b="1" dirty="0">
                <a:solidFill>
                  <a:srgbClr val="222733"/>
                </a:solidFill>
                <a:latin typeface="Poppins Medium" pitchFamily="34" charset="0"/>
                <a:ea typeface="Poppins Medium" pitchFamily="34" charset="-122"/>
                <a:cs typeface="Poppins Medium" pitchFamily="34" charset="-120"/>
              </a:rPr>
              <a:t>Silver</a:t>
            </a:r>
            <a:endParaRPr lang="en-US" sz="1100" dirty="0"/>
          </a:p>
        </p:txBody>
      </p:sp>
      <p:sp>
        <p:nvSpPr>
          <p:cNvPr id="12" name="Text 9"/>
          <p:cNvSpPr/>
          <p:nvPr/>
        </p:nvSpPr>
        <p:spPr>
          <a:xfrm>
            <a:off x="6720840" y="1627632"/>
            <a:ext cx="1920240" cy="292608"/>
          </a:xfrm>
          <a:prstGeom prst="rect">
            <a:avLst/>
          </a:prstGeom>
          <a:noFill/>
          <a:ln/>
        </p:spPr>
        <p:txBody>
          <a:bodyPr wrap="square" lIns="0" tIns="0" rIns="0" bIns="0" rtlCol="0" anchor="ctr"/>
          <a:lstStyle/>
          <a:p>
            <a:pPr algn="r" indent="0" marL="0">
              <a:buNone/>
            </a:pPr>
            <a:r>
              <a:rPr lang="en-US" sz="1100" dirty="0">
                <a:solidFill>
                  <a:srgbClr val="4A5260"/>
                </a:solidFill>
                <a:latin typeface="Poppins" pitchFamily="34" charset="0"/>
                <a:ea typeface="Poppins" pitchFamily="34" charset="-122"/>
                <a:cs typeface="Poppins" pitchFamily="34" charset="-120"/>
              </a:rPr>
              <a:t>1.6 × 10</a:t>
            </a:r>
            <a:pPr algn="r" indent="0" marL="0">
              <a:buNone/>
            </a:pPr>
            <a:r>
              <a:rPr lang="en-US" sz="1100" baseline="30000" dirty="0">
                <a:solidFill>
                  <a:srgbClr val="4A5260"/>
                </a:solidFill>
                <a:latin typeface="Poppins" pitchFamily="34" charset="0"/>
                <a:ea typeface="Poppins" pitchFamily="34" charset="-122"/>
                <a:cs typeface="Poppins" pitchFamily="34" charset="-120"/>
              </a:rPr>
              <a:t>-8</a:t>
            </a:r>
            <a:pPr algn="r" indent="0" marL="0">
              <a:buNone/>
            </a:pPr>
            <a:r>
              <a:rPr lang="en-US" sz="1100" dirty="0">
                <a:solidFill>
                  <a:srgbClr val="8A93A3"/>
                </a:solidFill>
                <a:latin typeface="Carlito" pitchFamily="34" charset="0"/>
                <a:ea typeface="Carlito" pitchFamily="34" charset="-122"/>
                <a:cs typeface="Carlito" pitchFamily="34" charset="-120"/>
              </a:rPr>
              <a:t>  Ω·m</a:t>
            </a:r>
            <a:endParaRPr lang="en-US" sz="1100" dirty="0"/>
          </a:p>
        </p:txBody>
      </p:sp>
      <p:sp>
        <p:nvSpPr>
          <p:cNvPr id="13" name="Shape 10"/>
          <p:cNvSpPr/>
          <p:nvPr/>
        </p:nvSpPr>
        <p:spPr>
          <a:xfrm>
            <a:off x="4526280" y="2011680"/>
            <a:ext cx="4114800" cy="0"/>
          </a:xfrm>
          <a:prstGeom prst="line">
            <a:avLst/>
          </a:prstGeom>
          <a:noFill/>
          <a:ln w="9525">
            <a:solidFill>
              <a:srgbClr val="E0D9CC"/>
            </a:solidFill>
            <a:prstDash val="solid"/>
          </a:ln>
        </p:spPr>
      </p:sp>
      <p:sp>
        <p:nvSpPr>
          <p:cNvPr id="14" name="Text 11"/>
          <p:cNvSpPr/>
          <p:nvPr/>
        </p:nvSpPr>
        <p:spPr>
          <a:xfrm>
            <a:off x="4526280" y="2084832"/>
            <a:ext cx="2194560" cy="292608"/>
          </a:xfrm>
          <a:prstGeom prst="rect">
            <a:avLst/>
          </a:prstGeom>
          <a:noFill/>
          <a:ln/>
        </p:spPr>
        <p:txBody>
          <a:bodyPr wrap="square" lIns="0" tIns="0" rIns="0" bIns="0" rtlCol="0" anchor="ctr"/>
          <a:lstStyle/>
          <a:p>
            <a:pPr indent="0" marL="0">
              <a:buNone/>
            </a:pPr>
            <a:r>
              <a:rPr lang="en-US" sz="1100" b="1" dirty="0">
                <a:solidFill>
                  <a:srgbClr val="222733"/>
                </a:solidFill>
                <a:latin typeface="Poppins Medium" pitchFamily="34" charset="0"/>
                <a:ea typeface="Poppins Medium" pitchFamily="34" charset="-122"/>
                <a:cs typeface="Poppins Medium" pitchFamily="34" charset="-120"/>
              </a:rPr>
              <a:t>Copper</a:t>
            </a:r>
            <a:endParaRPr lang="en-US" sz="1100" dirty="0"/>
          </a:p>
        </p:txBody>
      </p:sp>
      <p:sp>
        <p:nvSpPr>
          <p:cNvPr id="15" name="Text 12"/>
          <p:cNvSpPr/>
          <p:nvPr/>
        </p:nvSpPr>
        <p:spPr>
          <a:xfrm>
            <a:off x="6720840" y="2084832"/>
            <a:ext cx="1920240" cy="292608"/>
          </a:xfrm>
          <a:prstGeom prst="rect">
            <a:avLst/>
          </a:prstGeom>
          <a:noFill/>
          <a:ln/>
        </p:spPr>
        <p:txBody>
          <a:bodyPr wrap="square" lIns="0" tIns="0" rIns="0" bIns="0" rtlCol="0" anchor="ctr"/>
          <a:lstStyle/>
          <a:p>
            <a:pPr algn="r" indent="0" marL="0">
              <a:buNone/>
            </a:pPr>
            <a:r>
              <a:rPr lang="en-US" sz="1100" dirty="0">
                <a:solidFill>
                  <a:srgbClr val="4A5260"/>
                </a:solidFill>
                <a:latin typeface="Poppins" pitchFamily="34" charset="0"/>
                <a:ea typeface="Poppins" pitchFamily="34" charset="-122"/>
                <a:cs typeface="Poppins" pitchFamily="34" charset="-120"/>
              </a:rPr>
              <a:t>1.7 × 10</a:t>
            </a:r>
            <a:pPr algn="r" indent="0" marL="0">
              <a:buNone/>
            </a:pPr>
            <a:r>
              <a:rPr lang="en-US" sz="1100" baseline="30000" dirty="0">
                <a:solidFill>
                  <a:srgbClr val="4A5260"/>
                </a:solidFill>
                <a:latin typeface="Poppins" pitchFamily="34" charset="0"/>
                <a:ea typeface="Poppins" pitchFamily="34" charset="-122"/>
                <a:cs typeface="Poppins" pitchFamily="34" charset="-120"/>
              </a:rPr>
              <a:t>-8</a:t>
            </a:r>
            <a:pPr algn="r" indent="0" marL="0">
              <a:buNone/>
            </a:pPr>
            <a:r>
              <a:rPr lang="en-US" sz="1100" dirty="0">
                <a:solidFill>
                  <a:srgbClr val="8A93A3"/>
                </a:solidFill>
                <a:latin typeface="Carlito" pitchFamily="34" charset="0"/>
                <a:ea typeface="Carlito" pitchFamily="34" charset="-122"/>
                <a:cs typeface="Carlito" pitchFamily="34" charset="-120"/>
              </a:rPr>
              <a:t>  Ω·m</a:t>
            </a:r>
            <a:endParaRPr lang="en-US" sz="1100" dirty="0"/>
          </a:p>
        </p:txBody>
      </p:sp>
      <p:sp>
        <p:nvSpPr>
          <p:cNvPr id="16" name="Shape 13"/>
          <p:cNvSpPr/>
          <p:nvPr/>
        </p:nvSpPr>
        <p:spPr>
          <a:xfrm>
            <a:off x="4526280" y="2468880"/>
            <a:ext cx="4114800" cy="0"/>
          </a:xfrm>
          <a:prstGeom prst="line">
            <a:avLst/>
          </a:prstGeom>
          <a:noFill/>
          <a:ln w="9525">
            <a:solidFill>
              <a:srgbClr val="E0D9CC"/>
            </a:solidFill>
            <a:prstDash val="solid"/>
          </a:ln>
        </p:spPr>
      </p:sp>
      <p:sp>
        <p:nvSpPr>
          <p:cNvPr id="17" name="Text 14"/>
          <p:cNvSpPr/>
          <p:nvPr/>
        </p:nvSpPr>
        <p:spPr>
          <a:xfrm>
            <a:off x="4526280" y="2542032"/>
            <a:ext cx="2194560" cy="292608"/>
          </a:xfrm>
          <a:prstGeom prst="rect">
            <a:avLst/>
          </a:prstGeom>
          <a:noFill/>
          <a:ln/>
        </p:spPr>
        <p:txBody>
          <a:bodyPr wrap="square" lIns="0" tIns="0" rIns="0" bIns="0" rtlCol="0" anchor="ctr"/>
          <a:lstStyle/>
          <a:p>
            <a:pPr indent="0" marL="0">
              <a:buNone/>
            </a:pPr>
            <a:r>
              <a:rPr lang="en-US" sz="1100" b="1" dirty="0">
                <a:solidFill>
                  <a:srgbClr val="222733"/>
                </a:solidFill>
                <a:latin typeface="Poppins Medium" pitchFamily="34" charset="0"/>
                <a:ea typeface="Poppins Medium" pitchFamily="34" charset="-122"/>
                <a:cs typeface="Poppins Medium" pitchFamily="34" charset="-120"/>
              </a:rPr>
              <a:t>Aluminium</a:t>
            </a:r>
            <a:endParaRPr lang="en-US" sz="1100" dirty="0"/>
          </a:p>
        </p:txBody>
      </p:sp>
      <p:sp>
        <p:nvSpPr>
          <p:cNvPr id="18" name="Text 15"/>
          <p:cNvSpPr/>
          <p:nvPr/>
        </p:nvSpPr>
        <p:spPr>
          <a:xfrm>
            <a:off x="6720840" y="2542032"/>
            <a:ext cx="1920240" cy="292608"/>
          </a:xfrm>
          <a:prstGeom prst="rect">
            <a:avLst/>
          </a:prstGeom>
          <a:noFill/>
          <a:ln/>
        </p:spPr>
        <p:txBody>
          <a:bodyPr wrap="square" lIns="0" tIns="0" rIns="0" bIns="0" rtlCol="0" anchor="ctr"/>
          <a:lstStyle/>
          <a:p>
            <a:pPr algn="r" indent="0" marL="0">
              <a:buNone/>
            </a:pPr>
            <a:r>
              <a:rPr lang="en-US" sz="1100" dirty="0">
                <a:solidFill>
                  <a:srgbClr val="4A5260"/>
                </a:solidFill>
                <a:latin typeface="Poppins" pitchFamily="34" charset="0"/>
                <a:ea typeface="Poppins" pitchFamily="34" charset="-122"/>
                <a:cs typeface="Poppins" pitchFamily="34" charset="-120"/>
              </a:rPr>
              <a:t>2.9 × 10</a:t>
            </a:r>
            <a:pPr algn="r" indent="0" marL="0">
              <a:buNone/>
            </a:pPr>
            <a:r>
              <a:rPr lang="en-US" sz="1100" baseline="30000" dirty="0">
                <a:solidFill>
                  <a:srgbClr val="4A5260"/>
                </a:solidFill>
                <a:latin typeface="Poppins" pitchFamily="34" charset="0"/>
                <a:ea typeface="Poppins" pitchFamily="34" charset="-122"/>
                <a:cs typeface="Poppins" pitchFamily="34" charset="-120"/>
              </a:rPr>
              <a:t>-8</a:t>
            </a:r>
            <a:pPr algn="r" indent="0" marL="0">
              <a:buNone/>
            </a:pPr>
            <a:r>
              <a:rPr lang="en-US" sz="1100" dirty="0">
                <a:solidFill>
                  <a:srgbClr val="8A93A3"/>
                </a:solidFill>
                <a:latin typeface="Carlito" pitchFamily="34" charset="0"/>
                <a:ea typeface="Carlito" pitchFamily="34" charset="-122"/>
                <a:cs typeface="Carlito" pitchFamily="34" charset="-120"/>
              </a:rPr>
              <a:t>  Ω·m</a:t>
            </a:r>
            <a:endParaRPr lang="en-US" sz="1100" dirty="0"/>
          </a:p>
        </p:txBody>
      </p:sp>
      <p:sp>
        <p:nvSpPr>
          <p:cNvPr id="19" name="Shape 16"/>
          <p:cNvSpPr/>
          <p:nvPr/>
        </p:nvSpPr>
        <p:spPr>
          <a:xfrm>
            <a:off x="4526280" y="2926080"/>
            <a:ext cx="4114800" cy="0"/>
          </a:xfrm>
          <a:prstGeom prst="line">
            <a:avLst/>
          </a:prstGeom>
          <a:noFill/>
          <a:ln w="9525">
            <a:solidFill>
              <a:srgbClr val="E0D9CC"/>
            </a:solidFill>
            <a:prstDash val="solid"/>
          </a:ln>
        </p:spPr>
      </p:sp>
      <p:sp>
        <p:nvSpPr>
          <p:cNvPr id="20" name="Text 17"/>
          <p:cNvSpPr/>
          <p:nvPr/>
        </p:nvSpPr>
        <p:spPr>
          <a:xfrm>
            <a:off x="4526280" y="2999232"/>
            <a:ext cx="2194560" cy="292608"/>
          </a:xfrm>
          <a:prstGeom prst="rect">
            <a:avLst/>
          </a:prstGeom>
          <a:noFill/>
          <a:ln/>
        </p:spPr>
        <p:txBody>
          <a:bodyPr wrap="square" lIns="0" tIns="0" rIns="0" bIns="0" rtlCol="0" anchor="ctr"/>
          <a:lstStyle/>
          <a:p>
            <a:pPr indent="0" marL="0">
              <a:buNone/>
            </a:pPr>
            <a:r>
              <a:rPr lang="en-US" sz="1100" b="1" dirty="0">
                <a:solidFill>
                  <a:srgbClr val="222733"/>
                </a:solidFill>
                <a:latin typeface="Poppins Medium" pitchFamily="34" charset="0"/>
                <a:ea typeface="Poppins Medium" pitchFamily="34" charset="-122"/>
                <a:cs typeface="Poppins Medium" pitchFamily="34" charset="-120"/>
              </a:rPr>
              <a:t>Tungsten</a:t>
            </a:r>
            <a:endParaRPr lang="en-US" sz="1100" dirty="0"/>
          </a:p>
        </p:txBody>
      </p:sp>
      <p:sp>
        <p:nvSpPr>
          <p:cNvPr id="21" name="Text 18"/>
          <p:cNvSpPr/>
          <p:nvPr/>
        </p:nvSpPr>
        <p:spPr>
          <a:xfrm>
            <a:off x="6720840" y="2999232"/>
            <a:ext cx="1920240" cy="292608"/>
          </a:xfrm>
          <a:prstGeom prst="rect">
            <a:avLst/>
          </a:prstGeom>
          <a:noFill/>
          <a:ln/>
        </p:spPr>
        <p:txBody>
          <a:bodyPr wrap="square" lIns="0" tIns="0" rIns="0" bIns="0" rtlCol="0" anchor="ctr"/>
          <a:lstStyle/>
          <a:p>
            <a:pPr algn="r" indent="0" marL="0">
              <a:buNone/>
            </a:pPr>
            <a:r>
              <a:rPr lang="en-US" sz="1100" dirty="0">
                <a:solidFill>
                  <a:srgbClr val="4A5260"/>
                </a:solidFill>
                <a:latin typeface="Poppins" pitchFamily="34" charset="0"/>
                <a:ea typeface="Poppins" pitchFamily="34" charset="-122"/>
                <a:cs typeface="Poppins" pitchFamily="34" charset="-120"/>
              </a:rPr>
              <a:t>5.3 × 10</a:t>
            </a:r>
            <a:pPr algn="r" indent="0" marL="0">
              <a:buNone/>
            </a:pPr>
            <a:r>
              <a:rPr lang="en-US" sz="1100" baseline="30000" dirty="0">
                <a:solidFill>
                  <a:srgbClr val="4A5260"/>
                </a:solidFill>
                <a:latin typeface="Poppins" pitchFamily="34" charset="0"/>
                <a:ea typeface="Poppins" pitchFamily="34" charset="-122"/>
                <a:cs typeface="Poppins" pitchFamily="34" charset="-120"/>
              </a:rPr>
              <a:t>-8</a:t>
            </a:r>
            <a:pPr algn="r" indent="0" marL="0">
              <a:buNone/>
            </a:pPr>
            <a:r>
              <a:rPr lang="en-US" sz="1100" dirty="0">
                <a:solidFill>
                  <a:srgbClr val="8A93A3"/>
                </a:solidFill>
                <a:latin typeface="Carlito" pitchFamily="34" charset="0"/>
                <a:ea typeface="Carlito" pitchFamily="34" charset="-122"/>
                <a:cs typeface="Carlito" pitchFamily="34" charset="-120"/>
              </a:rPr>
              <a:t>  Ω·m</a:t>
            </a:r>
            <a:endParaRPr lang="en-US" sz="1100" dirty="0"/>
          </a:p>
        </p:txBody>
      </p:sp>
      <p:sp>
        <p:nvSpPr>
          <p:cNvPr id="22" name="Shape 19"/>
          <p:cNvSpPr/>
          <p:nvPr/>
        </p:nvSpPr>
        <p:spPr>
          <a:xfrm>
            <a:off x="4526280" y="3383280"/>
            <a:ext cx="4114800" cy="0"/>
          </a:xfrm>
          <a:prstGeom prst="line">
            <a:avLst/>
          </a:prstGeom>
          <a:noFill/>
          <a:ln w="9525">
            <a:solidFill>
              <a:srgbClr val="E0D9CC"/>
            </a:solidFill>
            <a:prstDash val="solid"/>
          </a:ln>
        </p:spPr>
      </p:sp>
      <p:sp>
        <p:nvSpPr>
          <p:cNvPr id="23" name="Text 20"/>
          <p:cNvSpPr/>
          <p:nvPr/>
        </p:nvSpPr>
        <p:spPr>
          <a:xfrm>
            <a:off x="4526280" y="3456432"/>
            <a:ext cx="2194560" cy="292608"/>
          </a:xfrm>
          <a:prstGeom prst="rect">
            <a:avLst/>
          </a:prstGeom>
          <a:noFill/>
          <a:ln/>
        </p:spPr>
        <p:txBody>
          <a:bodyPr wrap="square" lIns="0" tIns="0" rIns="0" bIns="0" rtlCol="0" anchor="ctr"/>
          <a:lstStyle/>
          <a:p>
            <a:pPr indent="0" marL="0">
              <a:buNone/>
            </a:pPr>
            <a:r>
              <a:rPr lang="en-US" sz="1100" b="1" dirty="0">
                <a:solidFill>
                  <a:srgbClr val="222733"/>
                </a:solidFill>
                <a:latin typeface="Poppins Medium" pitchFamily="34" charset="0"/>
                <a:ea typeface="Poppins Medium" pitchFamily="34" charset="-122"/>
                <a:cs typeface="Poppins Medium" pitchFamily="34" charset="-120"/>
              </a:rPr>
              <a:t>Nichrome (alloy)</a:t>
            </a:r>
            <a:endParaRPr lang="en-US" sz="1100" dirty="0"/>
          </a:p>
        </p:txBody>
      </p:sp>
      <p:sp>
        <p:nvSpPr>
          <p:cNvPr id="24" name="Text 21"/>
          <p:cNvSpPr/>
          <p:nvPr/>
        </p:nvSpPr>
        <p:spPr>
          <a:xfrm>
            <a:off x="6720840" y="3456432"/>
            <a:ext cx="1920240" cy="292608"/>
          </a:xfrm>
          <a:prstGeom prst="rect">
            <a:avLst/>
          </a:prstGeom>
          <a:noFill/>
          <a:ln/>
        </p:spPr>
        <p:txBody>
          <a:bodyPr wrap="square" lIns="0" tIns="0" rIns="0" bIns="0" rtlCol="0" anchor="ctr"/>
          <a:lstStyle/>
          <a:p>
            <a:pPr algn="r" indent="0" marL="0">
              <a:buNone/>
            </a:pPr>
            <a:r>
              <a:rPr lang="en-US" sz="1100" dirty="0">
                <a:solidFill>
                  <a:srgbClr val="4A5260"/>
                </a:solidFill>
                <a:latin typeface="Poppins" pitchFamily="34" charset="0"/>
                <a:ea typeface="Poppins" pitchFamily="34" charset="-122"/>
                <a:cs typeface="Poppins" pitchFamily="34" charset="-120"/>
              </a:rPr>
              <a:t>≈ 110 × 10</a:t>
            </a:r>
            <a:pPr algn="r" indent="0" marL="0">
              <a:buNone/>
            </a:pPr>
            <a:r>
              <a:rPr lang="en-US" sz="1100" baseline="30000" dirty="0">
                <a:solidFill>
                  <a:srgbClr val="4A5260"/>
                </a:solidFill>
                <a:latin typeface="Poppins" pitchFamily="34" charset="0"/>
                <a:ea typeface="Poppins" pitchFamily="34" charset="-122"/>
                <a:cs typeface="Poppins" pitchFamily="34" charset="-120"/>
              </a:rPr>
              <a:t>-8</a:t>
            </a:r>
            <a:pPr algn="r" indent="0" marL="0">
              <a:buNone/>
            </a:pPr>
            <a:r>
              <a:rPr lang="en-US" sz="1100" dirty="0">
                <a:solidFill>
                  <a:srgbClr val="8A93A3"/>
                </a:solidFill>
                <a:latin typeface="Carlito" pitchFamily="34" charset="0"/>
                <a:ea typeface="Carlito" pitchFamily="34" charset="-122"/>
                <a:cs typeface="Carlito" pitchFamily="34" charset="-120"/>
              </a:rPr>
              <a:t>  Ω·m</a:t>
            </a:r>
            <a:endParaRPr lang="en-US" sz="1100" dirty="0"/>
          </a:p>
        </p:txBody>
      </p:sp>
      <p:sp>
        <p:nvSpPr>
          <p:cNvPr id="25" name="Shape 22"/>
          <p:cNvSpPr/>
          <p:nvPr/>
        </p:nvSpPr>
        <p:spPr>
          <a:xfrm>
            <a:off x="4526280" y="3840480"/>
            <a:ext cx="4114800" cy="0"/>
          </a:xfrm>
          <a:prstGeom prst="line">
            <a:avLst/>
          </a:prstGeom>
          <a:noFill/>
          <a:ln w="9525">
            <a:solidFill>
              <a:srgbClr val="E0D9CC"/>
            </a:solidFill>
            <a:prstDash val="solid"/>
          </a:ln>
        </p:spPr>
      </p:sp>
      <p:sp>
        <p:nvSpPr>
          <p:cNvPr id="26" name="Shape 23"/>
          <p:cNvSpPr/>
          <p:nvPr/>
        </p:nvSpPr>
        <p:spPr>
          <a:xfrm>
            <a:off x="4526280" y="4041648"/>
            <a:ext cx="32004" cy="502920"/>
          </a:xfrm>
          <a:prstGeom prst="rect">
            <a:avLst/>
          </a:prstGeom>
          <a:solidFill>
            <a:srgbClr val="C0541F"/>
          </a:solidFill>
          <a:ln/>
        </p:spPr>
      </p:sp>
      <p:sp>
        <p:nvSpPr>
          <p:cNvPr id="27" name="Text 24"/>
          <p:cNvSpPr/>
          <p:nvPr/>
        </p:nvSpPr>
        <p:spPr>
          <a:xfrm>
            <a:off x="4690872" y="4023360"/>
            <a:ext cx="3950208" cy="685800"/>
          </a:xfrm>
          <a:prstGeom prst="rect">
            <a:avLst/>
          </a:prstGeom>
          <a:noFill/>
          <a:ln/>
        </p:spPr>
        <p:txBody>
          <a:bodyPr wrap="square" lIns="0" tIns="0" rIns="0" bIns="0" rtlCol="0" anchor="t"/>
          <a:lstStyle/>
          <a:p>
            <a:pPr indent="0" marL="0">
              <a:buNone/>
            </a:pPr>
            <a:r>
              <a:rPr lang="en-US" sz="1000" i="1" dirty="0">
                <a:solidFill>
                  <a:srgbClr val="4A5260"/>
                </a:solidFill>
                <a:latin typeface="Lora" pitchFamily="34" charset="0"/>
                <a:ea typeface="Lora" pitchFamily="34" charset="-122"/>
                <a:cs typeface="Lora" pitchFamily="34" charset="-120"/>
              </a:rPr>
              <a:t>Double the length — double the resistance. Double the cross-section — halve it. The alloy stands a hundred times higher: that is why heating elements are nichrome, not copper.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13</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GOING FURTHER</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300" b="1" dirty="0">
                <a:solidFill>
                  <a:srgbClr val="222733"/>
                </a:solidFill>
                <a:latin typeface="Poppins SemiBold" pitchFamily="34" charset="0"/>
                <a:ea typeface="Poppins SemiBold" pitchFamily="34" charset="-122"/>
                <a:cs typeface="Poppins SemiBold" pitchFamily="34" charset="-120"/>
              </a:rPr>
              <a:t>Resistivity moves with temperature</a:t>
            </a:r>
            <a:endParaRPr lang="en-US" sz="2300" dirty="0"/>
          </a:p>
        </p:txBody>
      </p:sp>
      <p:sp>
        <p:nvSpPr>
          <p:cNvPr id="7" name="Shape 5"/>
          <p:cNvSpPr/>
          <p:nvPr/>
        </p:nvSpPr>
        <p:spPr>
          <a:xfrm>
            <a:off x="502920" y="1207008"/>
            <a:ext cx="2542032" cy="269748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sp>
        <p:nvSpPr>
          <p:cNvPr id="8" name="Text 6"/>
          <p:cNvSpPr/>
          <p:nvPr/>
        </p:nvSpPr>
        <p:spPr>
          <a:xfrm>
            <a:off x="685800" y="1344168"/>
            <a:ext cx="2176272" cy="256032"/>
          </a:xfrm>
          <a:prstGeom prst="rect">
            <a:avLst/>
          </a:prstGeom>
          <a:noFill/>
          <a:ln/>
        </p:spPr>
        <p:txBody>
          <a:bodyPr wrap="square" lIns="0" tIns="0" rIns="0" bIns="0" rtlCol="0" anchor="ctr"/>
          <a:lstStyle/>
          <a:p>
            <a:pPr indent="0" marL="0">
              <a:buNone/>
            </a:pPr>
            <a:r>
              <a:rPr lang="en-US" sz="1150" b="1" dirty="0">
                <a:solidFill>
                  <a:srgbClr val="222733"/>
                </a:solidFill>
                <a:latin typeface="Poppins Medium" pitchFamily="34" charset="0"/>
                <a:ea typeface="Poppins Medium" pitchFamily="34" charset="-122"/>
                <a:cs typeface="Poppins Medium" pitchFamily="34" charset="-120"/>
              </a:rPr>
              <a:t>Metals</a:t>
            </a:r>
            <a:endParaRPr lang="en-US" sz="1150" dirty="0"/>
          </a:p>
        </p:txBody>
      </p:sp>
      <p:pic>
        <p:nvPicPr>
          <p:cNvPr id="9" name="Image 0" descr="assets/graph_rho_metal.png">    </p:cNvPr>
          <p:cNvPicPr>
            <a:picLocks noChangeAspect="1"/>
          </p:cNvPicPr>
          <p:nvPr/>
        </p:nvPicPr>
        <p:blipFill>
          <a:blip r:embed="rId1"/>
          <a:stretch>
            <a:fillRect/>
          </a:stretch>
        </p:blipFill>
        <p:spPr>
          <a:xfrm>
            <a:off x="1005840" y="1755648"/>
            <a:ext cx="1536192" cy="1280160"/>
          </a:xfrm>
          <a:prstGeom prst="rect">
            <a:avLst/>
          </a:prstGeom>
        </p:spPr>
      </p:pic>
      <p:sp>
        <p:nvSpPr>
          <p:cNvPr id="10" name="Text 7"/>
          <p:cNvSpPr/>
          <p:nvPr/>
        </p:nvSpPr>
        <p:spPr>
          <a:xfrm>
            <a:off x="685800" y="3218688"/>
            <a:ext cx="2176272" cy="594360"/>
          </a:xfrm>
          <a:prstGeom prst="rect">
            <a:avLst/>
          </a:prstGeom>
          <a:noFill/>
          <a:ln/>
        </p:spPr>
        <p:txBody>
          <a:bodyPr wrap="square" lIns="0" tIns="0" rIns="0" bIns="0" rtlCol="0" anchor="t"/>
          <a:lstStyle/>
          <a:p>
            <a:pPr indent="0" marL="0">
              <a:buNone/>
            </a:pPr>
            <a:r>
              <a:rPr lang="en-US" sz="900" dirty="0">
                <a:solidFill>
                  <a:srgbClr val="4A5260"/>
                </a:solidFill>
                <a:latin typeface="Poppins" pitchFamily="34" charset="0"/>
                <a:ea typeface="Poppins" pitchFamily="34" charset="-122"/>
                <a:cs typeface="Poppins" pitchFamily="34" charset="-120"/>
              </a:rPr>
              <a:t>ρ rises steadily with T — the basis of resistance thermometers</a:t>
            </a:r>
            <a:endParaRPr lang="en-US" sz="900" dirty="0"/>
          </a:p>
        </p:txBody>
      </p:sp>
      <p:sp>
        <p:nvSpPr>
          <p:cNvPr id="11" name="Shape 8"/>
          <p:cNvSpPr/>
          <p:nvPr/>
        </p:nvSpPr>
        <p:spPr>
          <a:xfrm>
            <a:off x="3300984" y="1207008"/>
            <a:ext cx="2542032" cy="269748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sp>
        <p:nvSpPr>
          <p:cNvPr id="12" name="Text 9"/>
          <p:cNvSpPr/>
          <p:nvPr/>
        </p:nvSpPr>
        <p:spPr>
          <a:xfrm>
            <a:off x="3483864" y="1344168"/>
            <a:ext cx="2176272" cy="256032"/>
          </a:xfrm>
          <a:prstGeom prst="rect">
            <a:avLst/>
          </a:prstGeom>
          <a:noFill/>
          <a:ln/>
        </p:spPr>
        <p:txBody>
          <a:bodyPr wrap="square" lIns="0" tIns="0" rIns="0" bIns="0" rtlCol="0" anchor="ctr"/>
          <a:lstStyle/>
          <a:p>
            <a:pPr indent="0" marL="0">
              <a:buNone/>
            </a:pPr>
            <a:r>
              <a:rPr lang="en-US" sz="1150" b="1" dirty="0">
                <a:solidFill>
                  <a:srgbClr val="222733"/>
                </a:solidFill>
                <a:latin typeface="Poppins Medium" pitchFamily="34" charset="0"/>
                <a:ea typeface="Poppins Medium" pitchFamily="34" charset="-122"/>
                <a:cs typeface="Poppins Medium" pitchFamily="34" charset="-120"/>
              </a:rPr>
              <a:t>Semiconductors</a:t>
            </a:r>
            <a:endParaRPr lang="en-US" sz="1150" dirty="0"/>
          </a:p>
        </p:txBody>
      </p:sp>
      <p:pic>
        <p:nvPicPr>
          <p:cNvPr id="13" name="Image 1" descr="assets/graph_rho_semi.png">    </p:cNvPr>
          <p:cNvPicPr>
            <a:picLocks noChangeAspect="1"/>
          </p:cNvPicPr>
          <p:nvPr/>
        </p:nvPicPr>
        <p:blipFill>
          <a:blip r:embed="rId2"/>
          <a:stretch>
            <a:fillRect/>
          </a:stretch>
        </p:blipFill>
        <p:spPr>
          <a:xfrm>
            <a:off x="3803904" y="1755648"/>
            <a:ext cx="1536192" cy="1280160"/>
          </a:xfrm>
          <a:prstGeom prst="rect">
            <a:avLst/>
          </a:prstGeom>
        </p:spPr>
      </p:pic>
      <p:sp>
        <p:nvSpPr>
          <p:cNvPr id="14" name="Text 10"/>
          <p:cNvSpPr/>
          <p:nvPr/>
        </p:nvSpPr>
        <p:spPr>
          <a:xfrm>
            <a:off x="3483864" y="3218688"/>
            <a:ext cx="2176272" cy="594360"/>
          </a:xfrm>
          <a:prstGeom prst="rect">
            <a:avLst/>
          </a:prstGeom>
          <a:noFill/>
          <a:ln/>
        </p:spPr>
        <p:txBody>
          <a:bodyPr wrap="square" lIns="0" tIns="0" rIns="0" bIns="0" rtlCol="0" anchor="t"/>
          <a:lstStyle/>
          <a:p>
            <a:pPr indent="0" marL="0">
              <a:buNone/>
            </a:pPr>
            <a:r>
              <a:rPr lang="en-US" sz="900" dirty="0">
                <a:solidFill>
                  <a:srgbClr val="4A5260"/>
                </a:solidFill>
                <a:latin typeface="Poppins" pitchFamily="34" charset="0"/>
                <a:ea typeface="Poppins" pitchFamily="34" charset="-122"/>
                <a:cs typeface="Poppins" pitchFamily="34" charset="-120"/>
              </a:rPr>
              <a:t>ρ falls sharply as T rises — thermistors exploit this</a:t>
            </a:r>
            <a:endParaRPr lang="en-US" sz="900" dirty="0"/>
          </a:p>
        </p:txBody>
      </p:sp>
      <p:sp>
        <p:nvSpPr>
          <p:cNvPr id="15" name="Shape 11"/>
          <p:cNvSpPr/>
          <p:nvPr/>
        </p:nvSpPr>
        <p:spPr>
          <a:xfrm>
            <a:off x="6099048" y="1207008"/>
            <a:ext cx="2542032" cy="269748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sp>
        <p:nvSpPr>
          <p:cNvPr id="16" name="Text 12"/>
          <p:cNvSpPr/>
          <p:nvPr/>
        </p:nvSpPr>
        <p:spPr>
          <a:xfrm>
            <a:off x="6281928" y="1344168"/>
            <a:ext cx="2176272" cy="256032"/>
          </a:xfrm>
          <a:prstGeom prst="rect">
            <a:avLst/>
          </a:prstGeom>
          <a:noFill/>
          <a:ln/>
        </p:spPr>
        <p:txBody>
          <a:bodyPr wrap="square" lIns="0" tIns="0" rIns="0" bIns="0" rtlCol="0" anchor="ctr"/>
          <a:lstStyle/>
          <a:p>
            <a:pPr indent="0" marL="0">
              <a:buNone/>
            </a:pPr>
            <a:r>
              <a:rPr lang="en-US" sz="1150" b="1" dirty="0">
                <a:solidFill>
                  <a:srgbClr val="222733"/>
                </a:solidFill>
                <a:latin typeface="Poppins Medium" pitchFamily="34" charset="0"/>
                <a:ea typeface="Poppins Medium" pitchFamily="34" charset="-122"/>
                <a:cs typeface="Poppins Medium" pitchFamily="34" charset="-120"/>
              </a:rPr>
              <a:t>Superconductors</a:t>
            </a:r>
            <a:endParaRPr lang="en-US" sz="1150" dirty="0"/>
          </a:p>
        </p:txBody>
      </p:sp>
      <p:pic>
        <p:nvPicPr>
          <p:cNvPr id="17" name="Image 2" descr="assets/graph_super.png">    </p:cNvPr>
          <p:cNvPicPr>
            <a:picLocks noChangeAspect="1"/>
          </p:cNvPicPr>
          <p:nvPr/>
        </p:nvPicPr>
        <p:blipFill>
          <a:blip r:embed="rId3"/>
          <a:stretch>
            <a:fillRect/>
          </a:stretch>
        </p:blipFill>
        <p:spPr>
          <a:xfrm>
            <a:off x="6601968" y="1755648"/>
            <a:ext cx="1536192" cy="1280160"/>
          </a:xfrm>
          <a:prstGeom prst="rect">
            <a:avLst/>
          </a:prstGeom>
        </p:spPr>
      </p:pic>
      <p:sp>
        <p:nvSpPr>
          <p:cNvPr id="18" name="Text 13"/>
          <p:cNvSpPr/>
          <p:nvPr/>
        </p:nvSpPr>
        <p:spPr>
          <a:xfrm>
            <a:off x="6281928" y="3218688"/>
            <a:ext cx="2176272" cy="594360"/>
          </a:xfrm>
          <a:prstGeom prst="rect">
            <a:avLst/>
          </a:prstGeom>
          <a:noFill/>
          <a:ln/>
        </p:spPr>
        <p:txBody>
          <a:bodyPr wrap="square" lIns="0" tIns="0" rIns="0" bIns="0" rtlCol="0" anchor="t"/>
          <a:lstStyle/>
          <a:p>
            <a:pPr indent="0" marL="0">
              <a:buNone/>
            </a:pPr>
            <a:r>
              <a:rPr lang="en-US" sz="900" dirty="0">
                <a:solidFill>
                  <a:srgbClr val="4A5260"/>
                </a:solidFill>
                <a:latin typeface="Poppins" pitchFamily="34" charset="0"/>
                <a:ea typeface="Poppins" pitchFamily="34" charset="-122"/>
                <a:cs typeface="Poppins" pitchFamily="34" charset="-120"/>
              </a:rPr>
              <a:t>below a critical temperature, resistivity vanishes entirely</a:t>
            </a:r>
            <a:endParaRPr lang="en-US" sz="900" dirty="0"/>
          </a:p>
        </p:txBody>
      </p:sp>
      <p:sp>
        <p:nvSpPr>
          <p:cNvPr id="19" name="Shape 14"/>
          <p:cNvSpPr/>
          <p:nvPr/>
        </p:nvSpPr>
        <p:spPr>
          <a:xfrm>
            <a:off x="685800" y="4178808"/>
            <a:ext cx="32004" cy="274320"/>
          </a:xfrm>
          <a:prstGeom prst="rect">
            <a:avLst/>
          </a:prstGeom>
          <a:solidFill>
            <a:srgbClr val="C0541F"/>
          </a:solidFill>
          <a:ln/>
        </p:spPr>
      </p:sp>
      <p:sp>
        <p:nvSpPr>
          <p:cNvPr id="20" name="Text 15"/>
          <p:cNvSpPr/>
          <p:nvPr/>
        </p:nvSpPr>
        <p:spPr>
          <a:xfrm>
            <a:off x="850392" y="4160520"/>
            <a:ext cx="7607808" cy="320040"/>
          </a:xfrm>
          <a:prstGeom prst="rect">
            <a:avLst/>
          </a:prstGeom>
          <a:noFill/>
          <a:ln/>
        </p:spPr>
        <p:txBody>
          <a:bodyPr wrap="square" lIns="0" tIns="0" rIns="0" bIns="0" rtlCol="0" anchor="t"/>
          <a:lstStyle/>
          <a:p>
            <a:pPr indent="0" marL="0">
              <a:buNone/>
            </a:pPr>
            <a:r>
              <a:rPr lang="en-US" sz="1050" i="1" dirty="0">
                <a:solidFill>
                  <a:srgbClr val="4A5260"/>
                </a:solidFill>
                <a:latin typeface="Lora" pitchFamily="34" charset="0"/>
                <a:ea typeface="Lora" pitchFamily="34" charset="-122"/>
                <a:cs typeface="Lora" pitchFamily="34" charset="-120"/>
              </a:rPr>
              <a:t>Alloys such as manganin barely move with temperature — exactly what you want in a standard resistor.</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14</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WORKED EXAMPLE 1</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000" b="1" dirty="0">
                <a:solidFill>
                  <a:srgbClr val="222733"/>
                </a:solidFill>
                <a:latin typeface="Poppins SemiBold" pitchFamily="34" charset="0"/>
                <a:ea typeface="Poppins SemiBold" pitchFamily="34" charset="-122"/>
                <a:cs typeface="Poppins SemiBold" pitchFamily="34" charset="-120"/>
              </a:rPr>
              <a:t>Resistance from a characteristic curve</a:t>
            </a:r>
            <a:endParaRPr lang="en-US" sz="2000" dirty="0"/>
          </a:p>
        </p:txBody>
      </p:sp>
      <p:sp>
        <p:nvSpPr>
          <p:cNvPr id="7" name="Text 5"/>
          <p:cNvSpPr/>
          <p:nvPr/>
        </p:nvSpPr>
        <p:spPr>
          <a:xfrm>
            <a:off x="502920" y="1005840"/>
            <a:ext cx="5029200" cy="685800"/>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Solid lines: the I–U characteristics of resistors a and b. Dashed line c is the tangent to b at U = 1 V, drawn parallel to a. Which statements are correct?</a:t>
            </a:r>
            <a:endParaRPr lang="en-US" sz="1050" dirty="0"/>
          </a:p>
        </p:txBody>
      </p:sp>
      <p:sp>
        <p:nvSpPr>
          <p:cNvPr id="8" name="Text 6"/>
          <p:cNvSpPr/>
          <p:nvPr/>
        </p:nvSpPr>
        <p:spPr>
          <a:xfrm>
            <a:off x="777240" y="1965960"/>
            <a:ext cx="274320" cy="475488"/>
          </a:xfrm>
          <a:prstGeom prst="rect">
            <a:avLst/>
          </a:prstGeom>
          <a:noFill/>
          <a:ln/>
        </p:spPr>
        <p:txBody>
          <a:bodyPr wrap="square" lIns="0" tIns="0" rIns="0" bIns="0" rtlCol="0" anchor="t"/>
          <a:lstStyle/>
          <a:p>
            <a:pPr indent="0" marL="0">
              <a:buNone/>
            </a:pPr>
            <a:r>
              <a:rPr lang="en-US" sz="1050" b="1" dirty="0">
                <a:solidFill>
                  <a:srgbClr val="222733"/>
                </a:solidFill>
                <a:latin typeface="Poppins Medium" pitchFamily="34" charset="0"/>
                <a:ea typeface="Poppins Medium" pitchFamily="34" charset="-122"/>
                <a:cs typeface="Poppins Medium" pitchFamily="34" charset="-120"/>
              </a:rPr>
              <a:t>A</a:t>
            </a:r>
            <a:endParaRPr lang="en-US" sz="1050" dirty="0"/>
          </a:p>
        </p:txBody>
      </p:sp>
      <p:sp>
        <p:nvSpPr>
          <p:cNvPr id="9" name="Text 7"/>
          <p:cNvSpPr/>
          <p:nvPr/>
        </p:nvSpPr>
        <p:spPr>
          <a:xfrm>
            <a:off x="1088136" y="1965960"/>
            <a:ext cx="4443984" cy="475488"/>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At U = 1 V, the resistance of b is 5 Ω</a:t>
            </a:r>
            <a:endParaRPr lang="en-US" sz="1050" dirty="0"/>
          </a:p>
        </p:txBody>
      </p:sp>
      <p:sp>
        <p:nvSpPr>
          <p:cNvPr id="10" name="Text 8"/>
          <p:cNvSpPr/>
          <p:nvPr/>
        </p:nvSpPr>
        <p:spPr>
          <a:xfrm>
            <a:off x="777240" y="2441448"/>
            <a:ext cx="274320" cy="475488"/>
          </a:xfrm>
          <a:prstGeom prst="rect">
            <a:avLst/>
          </a:prstGeom>
          <a:noFill/>
          <a:ln/>
        </p:spPr>
        <p:txBody>
          <a:bodyPr wrap="square" lIns="0" tIns="0" rIns="0" bIns="0" rtlCol="0" anchor="t"/>
          <a:lstStyle/>
          <a:p>
            <a:pPr indent="0" marL="0">
              <a:buNone/>
            </a:pPr>
            <a:r>
              <a:rPr lang="en-US" sz="1050" b="1" dirty="0">
                <a:solidFill>
                  <a:srgbClr val="222733"/>
                </a:solidFill>
                <a:latin typeface="Poppins Medium" pitchFamily="34" charset="0"/>
                <a:ea typeface="Poppins Medium" pitchFamily="34" charset="-122"/>
                <a:cs typeface="Poppins Medium" pitchFamily="34" charset="-120"/>
              </a:rPr>
              <a:t>B</a:t>
            </a:r>
            <a:endParaRPr lang="en-US" sz="1050" dirty="0"/>
          </a:p>
        </p:txBody>
      </p:sp>
      <p:sp>
        <p:nvSpPr>
          <p:cNvPr id="11" name="Text 9"/>
          <p:cNvSpPr/>
          <p:nvPr/>
        </p:nvSpPr>
        <p:spPr>
          <a:xfrm>
            <a:off x="1088136" y="2441448"/>
            <a:ext cx="4443984" cy="475488"/>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At U = 1 V, a and b have equal resistance</a:t>
            </a:r>
            <a:endParaRPr lang="en-US" sz="1050" dirty="0"/>
          </a:p>
        </p:txBody>
      </p:sp>
      <p:sp>
        <p:nvSpPr>
          <p:cNvPr id="12" name="Text 10"/>
          <p:cNvSpPr/>
          <p:nvPr/>
        </p:nvSpPr>
        <p:spPr>
          <a:xfrm>
            <a:off x="521208" y="2916936"/>
            <a:ext cx="237744" cy="475488"/>
          </a:xfrm>
          <a:prstGeom prst="rect">
            <a:avLst/>
          </a:prstGeom>
          <a:noFill/>
          <a:ln/>
        </p:spPr>
        <p:txBody>
          <a:bodyPr wrap="square" lIns="0" tIns="0" rIns="0" bIns="0" rtlCol="0" anchor="t"/>
          <a:lstStyle/>
          <a:p>
            <a:pPr indent="0" marL="0">
              <a:buNone/>
            </a:pPr>
            <a:r>
              <a:rPr lang="en-US" sz="1200" b="1" dirty="0">
                <a:solidFill>
                  <a:srgbClr val="C0541F"/>
                </a:solidFill>
                <a:latin typeface="DejaVu Sans" pitchFamily="34" charset="0"/>
                <a:ea typeface="DejaVu Sans" pitchFamily="34" charset="-122"/>
                <a:cs typeface="DejaVu Sans" pitchFamily="34" charset="-120"/>
              </a:rPr>
              <a:t>✓</a:t>
            </a:r>
            <a:endParaRPr lang="en-US" sz="1200" dirty="0"/>
          </a:p>
        </p:txBody>
      </p:sp>
      <p:sp>
        <p:nvSpPr>
          <p:cNvPr id="13" name="Text 11"/>
          <p:cNvSpPr/>
          <p:nvPr/>
        </p:nvSpPr>
        <p:spPr>
          <a:xfrm>
            <a:off x="777240" y="2916936"/>
            <a:ext cx="274320" cy="475488"/>
          </a:xfrm>
          <a:prstGeom prst="rect">
            <a:avLst/>
          </a:prstGeom>
          <a:noFill/>
          <a:ln/>
        </p:spPr>
        <p:txBody>
          <a:bodyPr wrap="square" lIns="0" tIns="0" rIns="0" bIns="0" rtlCol="0" anchor="t"/>
          <a:lstStyle/>
          <a:p>
            <a:pPr indent="0" marL="0">
              <a:buNone/>
            </a:pPr>
            <a:r>
              <a:rPr lang="en-US" sz="1050" b="1" dirty="0">
                <a:solidFill>
                  <a:srgbClr val="C0541F"/>
                </a:solidFill>
                <a:latin typeface="Poppins Medium" pitchFamily="34" charset="0"/>
                <a:ea typeface="Poppins Medium" pitchFamily="34" charset="-122"/>
                <a:cs typeface="Poppins Medium" pitchFamily="34" charset="-120"/>
              </a:rPr>
              <a:t>C</a:t>
            </a:r>
            <a:endParaRPr lang="en-US" sz="1050" dirty="0"/>
          </a:p>
        </p:txBody>
      </p:sp>
      <p:sp>
        <p:nvSpPr>
          <p:cNvPr id="14" name="Text 12"/>
          <p:cNvSpPr/>
          <p:nvPr/>
        </p:nvSpPr>
        <p:spPr>
          <a:xfrm>
            <a:off x="1088136" y="2916936"/>
            <a:ext cx="4443984" cy="475488"/>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The resistance of b rises as U rises</a:t>
            </a:r>
            <a:endParaRPr lang="en-US" sz="1050" dirty="0"/>
          </a:p>
        </p:txBody>
      </p:sp>
      <p:sp>
        <p:nvSpPr>
          <p:cNvPr id="15" name="Text 13"/>
          <p:cNvSpPr/>
          <p:nvPr/>
        </p:nvSpPr>
        <p:spPr>
          <a:xfrm>
            <a:off x="521208" y="3392424"/>
            <a:ext cx="237744" cy="475488"/>
          </a:xfrm>
          <a:prstGeom prst="rect">
            <a:avLst/>
          </a:prstGeom>
          <a:noFill/>
          <a:ln/>
        </p:spPr>
        <p:txBody>
          <a:bodyPr wrap="square" lIns="0" tIns="0" rIns="0" bIns="0" rtlCol="0" anchor="t"/>
          <a:lstStyle/>
          <a:p>
            <a:pPr indent="0" marL="0">
              <a:buNone/>
            </a:pPr>
            <a:r>
              <a:rPr lang="en-US" sz="1200" b="1" dirty="0">
                <a:solidFill>
                  <a:srgbClr val="C0541F"/>
                </a:solidFill>
                <a:latin typeface="DejaVu Sans" pitchFamily="34" charset="0"/>
                <a:ea typeface="DejaVu Sans" pitchFamily="34" charset="-122"/>
                <a:cs typeface="DejaVu Sans" pitchFamily="34" charset="-120"/>
              </a:rPr>
              <a:t>✓</a:t>
            </a:r>
            <a:endParaRPr lang="en-US" sz="1200" dirty="0"/>
          </a:p>
        </p:txBody>
      </p:sp>
      <p:sp>
        <p:nvSpPr>
          <p:cNvPr id="16" name="Text 14"/>
          <p:cNvSpPr/>
          <p:nvPr/>
        </p:nvSpPr>
        <p:spPr>
          <a:xfrm>
            <a:off x="777240" y="3392424"/>
            <a:ext cx="274320" cy="475488"/>
          </a:xfrm>
          <a:prstGeom prst="rect">
            <a:avLst/>
          </a:prstGeom>
          <a:noFill/>
          <a:ln/>
        </p:spPr>
        <p:txBody>
          <a:bodyPr wrap="square" lIns="0" tIns="0" rIns="0" bIns="0" rtlCol="0" anchor="t"/>
          <a:lstStyle/>
          <a:p>
            <a:pPr indent="0" marL="0">
              <a:buNone/>
            </a:pPr>
            <a:r>
              <a:rPr lang="en-US" sz="1050" b="1" dirty="0">
                <a:solidFill>
                  <a:srgbClr val="C0541F"/>
                </a:solidFill>
                <a:latin typeface="Poppins Medium" pitchFamily="34" charset="0"/>
                <a:ea typeface="Poppins Medium" pitchFamily="34" charset="-122"/>
                <a:cs typeface="Poppins Medium" pitchFamily="34" charset="-120"/>
              </a:rPr>
              <a:t>D</a:t>
            </a:r>
            <a:endParaRPr lang="en-US" sz="1050" dirty="0"/>
          </a:p>
        </p:txBody>
      </p:sp>
      <p:sp>
        <p:nvSpPr>
          <p:cNvPr id="17" name="Text 15"/>
          <p:cNvSpPr/>
          <p:nvPr/>
        </p:nvSpPr>
        <p:spPr>
          <a:xfrm>
            <a:off x="1088136" y="3392424"/>
            <a:ext cx="4443984" cy="475488"/>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At U = 3 V, a and b have equal resistance</a:t>
            </a:r>
            <a:endParaRPr lang="en-US" sz="1050" dirty="0"/>
          </a:p>
        </p:txBody>
      </p:sp>
      <p:sp>
        <p:nvSpPr>
          <p:cNvPr id="18" name="Shape 16"/>
          <p:cNvSpPr/>
          <p:nvPr/>
        </p:nvSpPr>
        <p:spPr>
          <a:xfrm>
            <a:off x="5715000" y="1005840"/>
            <a:ext cx="2926080" cy="269748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pic>
        <p:nvPicPr>
          <p:cNvPr id="19" name="Image 0" descr="assets/image10.png">    </p:cNvPr>
          <p:cNvPicPr>
            <a:picLocks noChangeAspect="1"/>
          </p:cNvPicPr>
          <p:nvPr/>
        </p:nvPicPr>
        <p:blipFill>
          <a:blip r:embed="rId1"/>
          <a:stretch>
            <a:fillRect/>
          </a:stretch>
        </p:blipFill>
        <p:spPr>
          <a:xfrm>
            <a:off x="5897880" y="1418288"/>
            <a:ext cx="2560320" cy="1872584"/>
          </a:xfrm>
          <a:prstGeom prst="rect">
            <a:avLst/>
          </a:prstGeom>
        </p:spPr>
      </p:pic>
      <p:sp>
        <p:nvSpPr>
          <p:cNvPr id="20" name="Text 17"/>
          <p:cNvSpPr/>
          <p:nvPr/>
        </p:nvSpPr>
        <p:spPr>
          <a:xfrm>
            <a:off x="502920" y="4069080"/>
            <a:ext cx="8138160" cy="685800"/>
          </a:xfrm>
          <a:prstGeom prst="rect">
            <a:avLst/>
          </a:prstGeom>
          <a:noFill/>
          <a:ln/>
        </p:spPr>
        <p:txBody>
          <a:bodyPr wrap="square" lIns="0" tIns="0" rIns="0" bIns="0" rtlCol="0" anchor="t"/>
          <a:lstStyle/>
          <a:p>
            <a:pPr indent="0" marL="0">
              <a:buNone/>
            </a:pPr>
            <a:r>
              <a:rPr lang="en-US" sz="1000" b="1" spc="200" kern="0" dirty="0">
                <a:solidFill>
                  <a:srgbClr val="C0541F"/>
                </a:solidFill>
                <a:latin typeface="Poppins" pitchFamily="34" charset="0"/>
                <a:ea typeface="Poppins" pitchFamily="34" charset="-122"/>
                <a:cs typeface="Poppins" pitchFamily="34" charset="-120"/>
              </a:rPr>
              <a:t>ANSWER   </a:t>
            </a:r>
            <a:pPr indent="0" marL="0">
              <a:buNone/>
            </a:pPr>
            <a:r>
              <a:rPr lang="en-US" sz="1200" b="1" dirty="0">
                <a:solidFill>
                  <a:srgbClr val="C0541F"/>
                </a:solidFill>
                <a:latin typeface="Poppins SemiBold" pitchFamily="34" charset="0"/>
                <a:ea typeface="Poppins SemiBold" pitchFamily="34" charset="-122"/>
                <a:cs typeface="Poppins SemiBold" pitchFamily="34" charset="-120"/>
              </a:rPr>
              <a:t>C · D    </a:t>
            </a:r>
            <a:pPr indent="0" marL="0">
              <a:buNone/>
            </a:pPr>
            <a:r>
              <a:rPr lang="en-US" sz="1050" i="1" dirty="0">
                <a:solidFill>
                  <a:srgbClr val="4A5260"/>
                </a:solidFill>
                <a:latin typeface="Lora" pitchFamily="34" charset="0"/>
                <a:ea typeface="Lora" pitchFamily="34" charset="-122"/>
                <a:cs typeface="Lora" pitchFamily="34" charset="-120"/>
              </a:rPr>
              <a:t>Resistance is U/I at the point — never the slope of tangent c. For b it rises from 1 V/0.4 A = 2.5 Ω to 3 V/0.6 A = 5 Ω, matching a there — and a stays at 5 Ω throughout.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15</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WORKED EXAMPLE 2</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000" b="1" dirty="0">
                <a:solidFill>
                  <a:srgbClr val="222733"/>
                </a:solidFill>
                <a:latin typeface="Poppins SemiBold" pitchFamily="34" charset="0"/>
                <a:ea typeface="Poppins SemiBold" pitchFamily="34" charset="-122"/>
                <a:cs typeface="Poppins SemiBold" pitchFamily="34" charset="-120"/>
              </a:rPr>
              <a:t>Testing the factors fairly</a:t>
            </a:r>
            <a:endParaRPr lang="en-US" sz="2000" dirty="0"/>
          </a:p>
        </p:txBody>
      </p:sp>
      <p:sp>
        <p:nvSpPr>
          <p:cNvPr id="7" name="Text 5"/>
          <p:cNvSpPr/>
          <p:nvPr/>
        </p:nvSpPr>
        <p:spPr>
          <a:xfrm>
            <a:off x="502920" y="1005840"/>
            <a:ext cx="4937760" cy="640080"/>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In the series circuit from our experiment, b differs from a only in length, c only in cross-section, d only in material. Which statement is correct?</a:t>
            </a:r>
            <a:endParaRPr lang="en-US" sz="1050" dirty="0"/>
          </a:p>
        </p:txBody>
      </p:sp>
      <p:sp>
        <p:nvSpPr>
          <p:cNvPr id="8" name="Text 6"/>
          <p:cNvSpPr/>
          <p:nvPr/>
        </p:nvSpPr>
        <p:spPr>
          <a:xfrm>
            <a:off x="777240" y="1783080"/>
            <a:ext cx="274320" cy="512064"/>
          </a:xfrm>
          <a:prstGeom prst="rect">
            <a:avLst/>
          </a:prstGeom>
          <a:noFill/>
          <a:ln/>
        </p:spPr>
        <p:txBody>
          <a:bodyPr wrap="square" lIns="0" tIns="0" rIns="0" bIns="0" rtlCol="0" anchor="t"/>
          <a:lstStyle/>
          <a:p>
            <a:pPr indent="0" marL="0">
              <a:buNone/>
            </a:pPr>
            <a:r>
              <a:rPr lang="en-US" sz="1050" b="1" dirty="0">
                <a:solidFill>
                  <a:srgbClr val="222733"/>
                </a:solidFill>
                <a:latin typeface="Poppins Medium" pitchFamily="34" charset="0"/>
                <a:ea typeface="Poppins Medium" pitchFamily="34" charset="-122"/>
                <a:cs typeface="Poppins Medium" pitchFamily="34" charset="-120"/>
              </a:rPr>
              <a:t>A</a:t>
            </a:r>
            <a:endParaRPr lang="en-US" sz="1050" dirty="0"/>
          </a:p>
        </p:txBody>
      </p:sp>
      <p:sp>
        <p:nvSpPr>
          <p:cNvPr id="9" name="Text 7"/>
          <p:cNvSpPr/>
          <p:nvPr/>
        </p:nvSpPr>
        <p:spPr>
          <a:xfrm>
            <a:off x="1088136" y="1783080"/>
            <a:ext cx="4352544" cy="512064"/>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Without an ammeter, no quantitative study is possible</a:t>
            </a:r>
            <a:endParaRPr lang="en-US" sz="1050" dirty="0"/>
          </a:p>
        </p:txBody>
      </p:sp>
      <p:sp>
        <p:nvSpPr>
          <p:cNvPr id="10" name="Text 8"/>
          <p:cNvSpPr/>
          <p:nvPr/>
        </p:nvSpPr>
        <p:spPr>
          <a:xfrm>
            <a:off x="521208" y="2295144"/>
            <a:ext cx="237744" cy="512064"/>
          </a:xfrm>
          <a:prstGeom prst="rect">
            <a:avLst/>
          </a:prstGeom>
          <a:noFill/>
          <a:ln/>
        </p:spPr>
        <p:txBody>
          <a:bodyPr wrap="square" lIns="0" tIns="0" rIns="0" bIns="0" rtlCol="0" anchor="t"/>
          <a:lstStyle/>
          <a:p>
            <a:pPr indent="0" marL="0">
              <a:buNone/>
            </a:pPr>
            <a:r>
              <a:rPr lang="en-US" sz="1200" b="1" dirty="0">
                <a:solidFill>
                  <a:srgbClr val="C0541F"/>
                </a:solidFill>
                <a:latin typeface="DejaVu Sans" pitchFamily="34" charset="0"/>
                <a:ea typeface="DejaVu Sans" pitchFamily="34" charset="-122"/>
                <a:cs typeface="DejaVu Sans" pitchFamily="34" charset="-120"/>
              </a:rPr>
              <a:t>✓</a:t>
            </a:r>
            <a:endParaRPr lang="en-US" sz="1200" dirty="0"/>
          </a:p>
        </p:txBody>
      </p:sp>
      <p:sp>
        <p:nvSpPr>
          <p:cNvPr id="11" name="Text 9"/>
          <p:cNvSpPr/>
          <p:nvPr/>
        </p:nvSpPr>
        <p:spPr>
          <a:xfrm>
            <a:off x="777240" y="2295144"/>
            <a:ext cx="274320" cy="512064"/>
          </a:xfrm>
          <a:prstGeom prst="rect">
            <a:avLst/>
          </a:prstGeom>
          <a:noFill/>
          <a:ln/>
        </p:spPr>
        <p:txBody>
          <a:bodyPr wrap="square" lIns="0" tIns="0" rIns="0" bIns="0" rtlCol="0" anchor="t"/>
          <a:lstStyle/>
          <a:p>
            <a:pPr indent="0" marL="0">
              <a:buNone/>
            </a:pPr>
            <a:r>
              <a:rPr lang="en-US" sz="1050" b="1" dirty="0">
                <a:solidFill>
                  <a:srgbClr val="C0541F"/>
                </a:solidFill>
                <a:latin typeface="Poppins Medium" pitchFamily="34" charset="0"/>
                <a:ea typeface="Poppins Medium" pitchFamily="34" charset="-122"/>
                <a:cs typeface="Poppins Medium" pitchFamily="34" charset="-120"/>
              </a:rPr>
              <a:t>B</a:t>
            </a:r>
            <a:endParaRPr lang="en-US" sz="1050" dirty="0"/>
          </a:p>
        </p:txBody>
      </p:sp>
      <p:sp>
        <p:nvSpPr>
          <p:cNvPr id="12" name="Text 10"/>
          <p:cNvSpPr/>
          <p:nvPr/>
        </p:nvSpPr>
        <p:spPr>
          <a:xfrm>
            <a:off x="1088136" y="2295144"/>
            <a:ext cx="4352544" cy="512064"/>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a vs b: the longer conductor gives the larger voltmeter reading</a:t>
            </a:r>
            <a:endParaRPr lang="en-US" sz="1050" dirty="0"/>
          </a:p>
        </p:txBody>
      </p:sp>
      <p:sp>
        <p:nvSpPr>
          <p:cNvPr id="13" name="Text 11"/>
          <p:cNvSpPr/>
          <p:nvPr/>
        </p:nvSpPr>
        <p:spPr>
          <a:xfrm>
            <a:off x="777240" y="2807208"/>
            <a:ext cx="274320" cy="512064"/>
          </a:xfrm>
          <a:prstGeom prst="rect">
            <a:avLst/>
          </a:prstGeom>
          <a:noFill/>
          <a:ln/>
        </p:spPr>
        <p:txBody>
          <a:bodyPr wrap="square" lIns="0" tIns="0" rIns="0" bIns="0" rtlCol="0" anchor="t"/>
          <a:lstStyle/>
          <a:p>
            <a:pPr indent="0" marL="0">
              <a:buNone/>
            </a:pPr>
            <a:r>
              <a:rPr lang="en-US" sz="1050" b="1" dirty="0">
                <a:solidFill>
                  <a:srgbClr val="222733"/>
                </a:solidFill>
                <a:latin typeface="Poppins Medium" pitchFamily="34" charset="0"/>
                <a:ea typeface="Poppins Medium" pitchFamily="34" charset="-122"/>
                <a:cs typeface="Poppins Medium" pitchFamily="34" charset="-120"/>
              </a:rPr>
              <a:t>C</a:t>
            </a:r>
            <a:endParaRPr lang="en-US" sz="1050" dirty="0"/>
          </a:p>
        </p:txBody>
      </p:sp>
      <p:sp>
        <p:nvSpPr>
          <p:cNvPr id="14" name="Text 12"/>
          <p:cNvSpPr/>
          <p:nvPr/>
        </p:nvSpPr>
        <p:spPr>
          <a:xfrm>
            <a:off x="1088136" y="2807208"/>
            <a:ext cx="4352544" cy="512064"/>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a vs c: the thicker conductor gives the larger reading</a:t>
            </a:r>
            <a:endParaRPr lang="en-US" sz="1050" dirty="0"/>
          </a:p>
        </p:txBody>
      </p:sp>
      <p:sp>
        <p:nvSpPr>
          <p:cNvPr id="15" name="Text 13"/>
          <p:cNvSpPr/>
          <p:nvPr/>
        </p:nvSpPr>
        <p:spPr>
          <a:xfrm>
            <a:off x="777240" y="3319272"/>
            <a:ext cx="274320" cy="512064"/>
          </a:xfrm>
          <a:prstGeom prst="rect">
            <a:avLst/>
          </a:prstGeom>
          <a:noFill/>
          <a:ln/>
        </p:spPr>
        <p:txBody>
          <a:bodyPr wrap="square" lIns="0" tIns="0" rIns="0" bIns="0" rtlCol="0" anchor="t"/>
          <a:lstStyle/>
          <a:p>
            <a:pPr indent="0" marL="0">
              <a:buNone/>
            </a:pPr>
            <a:r>
              <a:rPr lang="en-US" sz="1050" b="1" dirty="0">
                <a:solidFill>
                  <a:srgbClr val="222733"/>
                </a:solidFill>
                <a:latin typeface="Poppins Medium" pitchFamily="34" charset="0"/>
                <a:ea typeface="Poppins Medium" pitchFamily="34" charset="-122"/>
                <a:cs typeface="Poppins Medium" pitchFamily="34" charset="-120"/>
              </a:rPr>
              <a:t>D</a:t>
            </a:r>
            <a:endParaRPr lang="en-US" sz="1050" dirty="0"/>
          </a:p>
        </p:txBody>
      </p:sp>
      <p:sp>
        <p:nvSpPr>
          <p:cNvPr id="16" name="Text 14"/>
          <p:cNvSpPr/>
          <p:nvPr/>
        </p:nvSpPr>
        <p:spPr>
          <a:xfrm>
            <a:off x="1088136" y="3319272"/>
            <a:ext cx="4352544" cy="512064"/>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a vs d: a larger reading means the better-conducting material</a:t>
            </a:r>
            <a:endParaRPr lang="en-US" sz="1050" dirty="0"/>
          </a:p>
        </p:txBody>
      </p:sp>
      <p:sp>
        <p:nvSpPr>
          <p:cNvPr id="17" name="Shape 15"/>
          <p:cNvSpPr/>
          <p:nvPr/>
        </p:nvSpPr>
        <p:spPr>
          <a:xfrm>
            <a:off x="5669280" y="1188720"/>
            <a:ext cx="2971800" cy="178308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pic>
        <p:nvPicPr>
          <p:cNvPr id="18" name="Image 0" descr="assets/image11.png">    </p:cNvPr>
          <p:cNvPicPr>
            <a:picLocks noChangeAspect="1"/>
          </p:cNvPicPr>
          <p:nvPr/>
        </p:nvPicPr>
        <p:blipFill>
          <a:blip r:embed="rId1"/>
          <a:stretch>
            <a:fillRect/>
          </a:stretch>
        </p:blipFill>
        <p:spPr>
          <a:xfrm>
            <a:off x="5852160" y="1508105"/>
            <a:ext cx="2606040" cy="1144310"/>
          </a:xfrm>
          <a:prstGeom prst="rect">
            <a:avLst/>
          </a:prstGeom>
        </p:spPr>
      </p:pic>
      <p:sp>
        <p:nvSpPr>
          <p:cNvPr id="19" name="Text 16"/>
          <p:cNvSpPr/>
          <p:nvPr/>
        </p:nvSpPr>
        <p:spPr>
          <a:xfrm>
            <a:off x="502920" y="4023360"/>
            <a:ext cx="8138160" cy="685800"/>
          </a:xfrm>
          <a:prstGeom prst="rect">
            <a:avLst/>
          </a:prstGeom>
          <a:noFill/>
          <a:ln/>
        </p:spPr>
        <p:txBody>
          <a:bodyPr wrap="square" lIns="0" tIns="0" rIns="0" bIns="0" rtlCol="0" anchor="t"/>
          <a:lstStyle/>
          <a:p>
            <a:pPr indent="0" marL="0">
              <a:buNone/>
            </a:pPr>
            <a:r>
              <a:rPr lang="en-US" sz="1000" b="1" spc="200" kern="0" dirty="0">
                <a:solidFill>
                  <a:srgbClr val="C0541F"/>
                </a:solidFill>
                <a:latin typeface="Poppins" pitchFamily="34" charset="0"/>
                <a:ea typeface="Poppins" pitchFamily="34" charset="-122"/>
                <a:cs typeface="Poppins" pitchFamily="34" charset="-120"/>
              </a:rPr>
              <a:t>ANSWER   </a:t>
            </a:r>
            <a:pPr indent="0" marL="0">
              <a:buNone/>
            </a:pPr>
            <a:r>
              <a:rPr lang="en-US" sz="1200" b="1" dirty="0">
                <a:solidFill>
                  <a:srgbClr val="C0541F"/>
                </a:solidFill>
                <a:latin typeface="Poppins SemiBold" pitchFamily="34" charset="0"/>
                <a:ea typeface="Poppins SemiBold" pitchFamily="34" charset="-122"/>
                <a:cs typeface="Poppins SemiBold" pitchFamily="34" charset="-120"/>
              </a:rPr>
              <a:t>B    </a:t>
            </a:r>
            <a:pPr indent="0" marL="0">
              <a:buNone/>
            </a:pPr>
            <a:r>
              <a:rPr lang="en-US" sz="1050" i="1" dirty="0">
                <a:solidFill>
                  <a:srgbClr val="4A5260"/>
                </a:solidFill>
                <a:latin typeface="Lora" pitchFamily="34" charset="0"/>
                <a:ea typeface="Lora" pitchFamily="34" charset="-122"/>
                <a:cs typeface="Lora" pitchFamily="34" charset="-120"/>
              </a:rPr>
              <a:t>Same current everywhere, so U = IR ranks the resistances. Longer → larger R → larger reading (B). Thicker means smaller R (C ✗); a larger reading marks the worse conductor (D ✗); and the reading ratios already give the quantitative law (A ✗).</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16</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WORKED EXAMPLE 3</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000" b="1" dirty="0">
                <a:solidFill>
                  <a:srgbClr val="222733"/>
                </a:solidFill>
                <a:latin typeface="Poppins SemiBold" pitchFamily="34" charset="0"/>
                <a:ea typeface="Poppins SemiBold" pitchFamily="34" charset="-122"/>
                <a:cs typeface="Poppins SemiBold" pitchFamily="34" charset="-120"/>
              </a:rPr>
              <a:t>Thinking straight about resistivity</a:t>
            </a:r>
            <a:endParaRPr lang="en-US" sz="2000" dirty="0"/>
          </a:p>
        </p:txBody>
      </p:sp>
      <p:sp>
        <p:nvSpPr>
          <p:cNvPr id="7" name="Text 5"/>
          <p:cNvSpPr/>
          <p:nvPr/>
        </p:nvSpPr>
        <p:spPr>
          <a:xfrm>
            <a:off x="502920" y="1051560"/>
            <a:ext cx="5120640" cy="320040"/>
          </a:xfrm>
          <a:prstGeom prst="rect">
            <a:avLst/>
          </a:prstGeom>
          <a:noFill/>
          <a:ln/>
        </p:spPr>
        <p:txBody>
          <a:bodyPr wrap="square" lIns="0" tIns="0" rIns="0" bIns="0" rtlCol="0" anchor="ctr"/>
          <a:lstStyle/>
          <a:p>
            <a:pPr indent="0" marL="0">
              <a:buNone/>
            </a:pPr>
            <a:r>
              <a:rPr lang="en-US" sz="1050" dirty="0">
                <a:solidFill>
                  <a:srgbClr val="4A5260"/>
                </a:solidFill>
                <a:latin typeface="Poppins" pitchFamily="34" charset="0"/>
                <a:ea typeface="Poppins" pitchFamily="34" charset="-122"/>
                <a:cs typeface="Poppins" pitchFamily="34" charset="-120"/>
              </a:rPr>
              <a:t>Which statement about the resistivity of materials is correct?</a:t>
            </a:r>
            <a:endParaRPr lang="en-US" sz="1050" dirty="0"/>
          </a:p>
        </p:txBody>
      </p:sp>
      <p:sp>
        <p:nvSpPr>
          <p:cNvPr id="8" name="Text 6"/>
          <p:cNvSpPr/>
          <p:nvPr/>
        </p:nvSpPr>
        <p:spPr>
          <a:xfrm>
            <a:off x="777240" y="1508760"/>
            <a:ext cx="274320" cy="566928"/>
          </a:xfrm>
          <a:prstGeom prst="rect">
            <a:avLst/>
          </a:prstGeom>
          <a:noFill/>
          <a:ln/>
        </p:spPr>
        <p:txBody>
          <a:bodyPr wrap="square" lIns="0" tIns="0" rIns="0" bIns="0" rtlCol="0" anchor="t"/>
          <a:lstStyle/>
          <a:p>
            <a:pPr indent="0" marL="0">
              <a:buNone/>
            </a:pPr>
            <a:r>
              <a:rPr lang="en-US" sz="1050" b="1" dirty="0">
                <a:solidFill>
                  <a:srgbClr val="222733"/>
                </a:solidFill>
                <a:latin typeface="Poppins Medium" pitchFamily="34" charset="0"/>
                <a:ea typeface="Poppins Medium" pitchFamily="34" charset="-122"/>
                <a:cs typeface="Poppins Medium" pitchFamily="34" charset="-120"/>
              </a:rPr>
              <a:t>A</a:t>
            </a:r>
            <a:endParaRPr lang="en-US" sz="1050" dirty="0"/>
          </a:p>
        </p:txBody>
      </p:sp>
      <p:sp>
        <p:nvSpPr>
          <p:cNvPr id="9" name="Text 7"/>
          <p:cNvSpPr/>
          <p:nvPr/>
        </p:nvSpPr>
        <p:spPr>
          <a:xfrm>
            <a:off x="1088136" y="1508760"/>
            <a:ext cx="4718304" cy="566928"/>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Cut a wire into three equal lengths — each piece has a third of the resistivity</a:t>
            </a:r>
            <a:endParaRPr lang="en-US" sz="1050" dirty="0"/>
          </a:p>
        </p:txBody>
      </p:sp>
      <p:sp>
        <p:nvSpPr>
          <p:cNvPr id="10" name="Text 8"/>
          <p:cNvSpPr/>
          <p:nvPr/>
        </p:nvSpPr>
        <p:spPr>
          <a:xfrm>
            <a:off x="777240" y="2075688"/>
            <a:ext cx="274320" cy="566928"/>
          </a:xfrm>
          <a:prstGeom prst="rect">
            <a:avLst/>
          </a:prstGeom>
          <a:noFill/>
          <a:ln/>
        </p:spPr>
        <p:txBody>
          <a:bodyPr wrap="square" lIns="0" tIns="0" rIns="0" bIns="0" rtlCol="0" anchor="t"/>
          <a:lstStyle/>
          <a:p>
            <a:pPr indent="0" marL="0">
              <a:buNone/>
            </a:pPr>
            <a:r>
              <a:rPr lang="en-US" sz="1050" b="1" dirty="0">
                <a:solidFill>
                  <a:srgbClr val="222733"/>
                </a:solidFill>
                <a:latin typeface="Poppins Medium" pitchFamily="34" charset="0"/>
                <a:ea typeface="Poppins Medium" pitchFamily="34" charset="-122"/>
                <a:cs typeface="Poppins Medium" pitchFamily="34" charset="-120"/>
              </a:rPr>
              <a:t>B</a:t>
            </a:r>
            <a:endParaRPr lang="en-US" sz="1050" dirty="0"/>
          </a:p>
        </p:txBody>
      </p:sp>
      <p:sp>
        <p:nvSpPr>
          <p:cNvPr id="11" name="Text 9"/>
          <p:cNvSpPr/>
          <p:nvPr/>
        </p:nvSpPr>
        <p:spPr>
          <a:xfrm>
            <a:off x="1088136" y="2075688"/>
            <a:ext cx="4718304" cy="566928"/>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Every material's resistivity rises with temperature</a:t>
            </a:r>
            <a:endParaRPr lang="en-US" sz="1050" dirty="0"/>
          </a:p>
        </p:txBody>
      </p:sp>
      <p:sp>
        <p:nvSpPr>
          <p:cNvPr id="12" name="Text 10"/>
          <p:cNvSpPr/>
          <p:nvPr/>
        </p:nvSpPr>
        <p:spPr>
          <a:xfrm>
            <a:off x="521208" y="2642616"/>
            <a:ext cx="237744" cy="566928"/>
          </a:xfrm>
          <a:prstGeom prst="rect">
            <a:avLst/>
          </a:prstGeom>
          <a:noFill/>
          <a:ln/>
        </p:spPr>
        <p:txBody>
          <a:bodyPr wrap="square" lIns="0" tIns="0" rIns="0" bIns="0" rtlCol="0" anchor="t"/>
          <a:lstStyle/>
          <a:p>
            <a:pPr indent="0" marL="0">
              <a:buNone/>
            </a:pPr>
            <a:r>
              <a:rPr lang="en-US" sz="1200" b="1" dirty="0">
                <a:solidFill>
                  <a:srgbClr val="C0541F"/>
                </a:solidFill>
                <a:latin typeface="DejaVu Sans" pitchFamily="34" charset="0"/>
                <a:ea typeface="DejaVu Sans" pitchFamily="34" charset="-122"/>
                <a:cs typeface="DejaVu Sans" pitchFamily="34" charset="-120"/>
              </a:rPr>
              <a:t>✓</a:t>
            </a:r>
            <a:endParaRPr lang="en-US" sz="1200" dirty="0"/>
          </a:p>
        </p:txBody>
      </p:sp>
      <p:sp>
        <p:nvSpPr>
          <p:cNvPr id="13" name="Text 11"/>
          <p:cNvSpPr/>
          <p:nvPr/>
        </p:nvSpPr>
        <p:spPr>
          <a:xfrm>
            <a:off x="777240" y="2642616"/>
            <a:ext cx="274320" cy="566928"/>
          </a:xfrm>
          <a:prstGeom prst="rect">
            <a:avLst/>
          </a:prstGeom>
          <a:noFill/>
          <a:ln/>
        </p:spPr>
        <p:txBody>
          <a:bodyPr wrap="square" lIns="0" tIns="0" rIns="0" bIns="0" rtlCol="0" anchor="t"/>
          <a:lstStyle/>
          <a:p>
            <a:pPr indent="0" marL="0">
              <a:buNone/>
            </a:pPr>
            <a:r>
              <a:rPr lang="en-US" sz="1050" b="1" dirty="0">
                <a:solidFill>
                  <a:srgbClr val="C0541F"/>
                </a:solidFill>
                <a:latin typeface="Poppins Medium" pitchFamily="34" charset="0"/>
                <a:ea typeface="Poppins Medium" pitchFamily="34" charset="-122"/>
                <a:cs typeface="Poppins Medium" pitchFamily="34" charset="-120"/>
              </a:rPr>
              <a:t>C</a:t>
            </a:r>
            <a:endParaRPr lang="en-US" sz="1050" dirty="0"/>
          </a:p>
        </p:txBody>
      </p:sp>
      <p:sp>
        <p:nvSpPr>
          <p:cNvPr id="14" name="Text 12"/>
          <p:cNvSpPr/>
          <p:nvPr/>
        </p:nvSpPr>
        <p:spPr>
          <a:xfrm>
            <a:off x="1088136" y="2642616"/>
            <a:ext cx="4718304" cy="566928"/>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An alloy's resistivity exceeds that of the pure metals composing it</a:t>
            </a:r>
            <a:endParaRPr lang="en-US" sz="1050" dirty="0"/>
          </a:p>
        </p:txBody>
      </p:sp>
      <p:sp>
        <p:nvSpPr>
          <p:cNvPr id="15" name="Text 13"/>
          <p:cNvSpPr/>
          <p:nvPr/>
        </p:nvSpPr>
        <p:spPr>
          <a:xfrm>
            <a:off x="777240" y="3209544"/>
            <a:ext cx="274320" cy="566928"/>
          </a:xfrm>
          <a:prstGeom prst="rect">
            <a:avLst/>
          </a:prstGeom>
          <a:noFill/>
          <a:ln/>
        </p:spPr>
        <p:txBody>
          <a:bodyPr wrap="square" lIns="0" tIns="0" rIns="0" bIns="0" rtlCol="0" anchor="t"/>
          <a:lstStyle/>
          <a:p>
            <a:pPr indent="0" marL="0">
              <a:buNone/>
            </a:pPr>
            <a:r>
              <a:rPr lang="en-US" sz="1050" b="1" dirty="0">
                <a:solidFill>
                  <a:srgbClr val="222733"/>
                </a:solidFill>
                <a:latin typeface="Poppins Medium" pitchFamily="34" charset="0"/>
                <a:ea typeface="Poppins Medium" pitchFamily="34" charset="-122"/>
                <a:cs typeface="Poppins Medium" pitchFamily="34" charset="-120"/>
              </a:rPr>
              <a:t>D</a:t>
            </a:r>
            <a:endParaRPr lang="en-US" sz="1050" dirty="0"/>
          </a:p>
        </p:txBody>
      </p:sp>
      <p:sp>
        <p:nvSpPr>
          <p:cNvPr id="16" name="Text 14"/>
          <p:cNvSpPr/>
          <p:nvPr/>
        </p:nvSpPr>
        <p:spPr>
          <a:xfrm>
            <a:off x="1088136" y="3209544"/>
            <a:ext cx="4718304" cy="566928"/>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The larger the resistivity, the more a conductor opposes current</a:t>
            </a:r>
            <a:endParaRPr lang="en-US" sz="1050" dirty="0"/>
          </a:p>
        </p:txBody>
      </p:sp>
      <p:sp>
        <p:nvSpPr>
          <p:cNvPr id="17" name="Shape 15"/>
          <p:cNvSpPr/>
          <p:nvPr/>
        </p:nvSpPr>
        <p:spPr>
          <a:xfrm>
            <a:off x="5989320" y="1188720"/>
            <a:ext cx="2651760" cy="214884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sp>
        <p:nvSpPr>
          <p:cNvPr id="18" name="Text 16"/>
          <p:cNvSpPr/>
          <p:nvPr/>
        </p:nvSpPr>
        <p:spPr>
          <a:xfrm>
            <a:off x="6217920" y="1417320"/>
            <a:ext cx="2194560" cy="228600"/>
          </a:xfrm>
          <a:prstGeom prst="rect">
            <a:avLst/>
          </a:prstGeom>
          <a:noFill/>
          <a:ln/>
        </p:spPr>
        <p:txBody>
          <a:bodyPr wrap="square" lIns="0" tIns="0" rIns="0" bIns="0" rtlCol="0" anchor="ctr"/>
          <a:lstStyle/>
          <a:p>
            <a:pPr indent="0" marL="0">
              <a:buNone/>
            </a:pPr>
            <a:r>
              <a:rPr lang="en-US" sz="900" b="1" spc="200" kern="0" dirty="0">
                <a:solidFill>
                  <a:srgbClr val="C0541F"/>
                </a:solidFill>
                <a:latin typeface="Poppins" pitchFamily="34" charset="0"/>
                <a:ea typeface="Poppins" pitchFamily="34" charset="-122"/>
                <a:cs typeface="Poppins" pitchFamily="34" charset="-120"/>
              </a:rPr>
              <a:t>KEEP APART</a:t>
            </a:r>
            <a:endParaRPr lang="en-US" sz="900" dirty="0"/>
          </a:p>
        </p:txBody>
      </p:sp>
      <p:sp>
        <p:nvSpPr>
          <p:cNvPr id="19" name="Text 17"/>
          <p:cNvSpPr/>
          <p:nvPr/>
        </p:nvSpPr>
        <p:spPr>
          <a:xfrm>
            <a:off x="6217920" y="1737360"/>
            <a:ext cx="2194560" cy="1508760"/>
          </a:xfrm>
          <a:prstGeom prst="rect">
            <a:avLst/>
          </a:prstGeom>
          <a:noFill/>
          <a:ln/>
        </p:spPr>
        <p:txBody>
          <a:bodyPr wrap="square" lIns="0" tIns="0" rIns="0" bIns="0" rtlCol="0" anchor="t"/>
          <a:lstStyle/>
          <a:p>
            <a:pPr indent="0" marL="0">
              <a:lnSpc>
                <a:spcPct val="105000"/>
              </a:lnSpc>
              <a:buNone/>
            </a:pPr>
            <a:r>
              <a:rPr lang="en-US" sz="1300" b="1" i="1" dirty="0">
                <a:solidFill>
                  <a:srgbClr val="222733"/>
                </a:solidFill>
                <a:latin typeface="Carlito" pitchFamily="34" charset="0"/>
                <a:ea typeface="Carlito" pitchFamily="34" charset="-122"/>
                <a:cs typeface="Carlito" pitchFamily="34" charset="-120"/>
              </a:rPr>
              <a:t>ρ </a:t>
            </a:r>
            <a:pPr indent="0" marL="0">
              <a:lnSpc>
                <a:spcPct val="105000"/>
              </a:lnSpc>
              <a:buNone/>
            </a:pPr>
            <a:r>
              <a:rPr lang="en-US" sz="1050" dirty="0">
                <a:solidFill>
                  <a:srgbClr val="4A5260"/>
                </a:solidFill>
                <a:latin typeface="Poppins" pitchFamily="34" charset="0"/>
                <a:ea typeface="Poppins" pitchFamily="34" charset="-122"/>
                <a:cs typeface="Poppins" pitchFamily="34" charset="-120"/>
              </a:rPr>
              <a:t>belongs to the material (and its temperature).</a:t>
            </a:r>
            <a:endParaRPr lang="en-US" sz="1050" dirty="0"/>
          </a:p>
          <a:p>
            <a:pPr indent="0" marL="0">
              <a:lnSpc>
                <a:spcPct val="105000"/>
              </a:lnSpc>
              <a:buNone/>
            </a:pPr>
            <a:endParaRPr lang="en-US" sz="1050" dirty="0"/>
          </a:p>
          <a:p>
            <a:pPr indent="0" marL="0">
              <a:lnSpc>
                <a:spcPct val="105000"/>
              </a:lnSpc>
              <a:buNone/>
            </a:pPr>
            <a:r>
              <a:rPr lang="en-US" sz="1300" b="1" i="1" dirty="0">
                <a:solidFill>
                  <a:srgbClr val="222733"/>
                </a:solidFill>
                <a:latin typeface="Poppins" pitchFamily="34" charset="0"/>
                <a:ea typeface="Poppins" pitchFamily="34" charset="-122"/>
                <a:cs typeface="Poppins" pitchFamily="34" charset="-120"/>
              </a:rPr>
              <a:t>R </a:t>
            </a:r>
            <a:pPr indent="0" marL="0">
              <a:lnSpc>
                <a:spcPct val="105000"/>
              </a:lnSpc>
              <a:buNone/>
            </a:pPr>
            <a:r>
              <a:rPr lang="en-US" sz="1050" dirty="0">
                <a:solidFill>
                  <a:srgbClr val="4A5260"/>
                </a:solidFill>
                <a:latin typeface="Poppins" pitchFamily="34" charset="0"/>
                <a:ea typeface="Poppins" pitchFamily="34" charset="-122"/>
                <a:cs typeface="Poppins" pitchFamily="34" charset="-120"/>
              </a:rPr>
              <a:t>belongs to the object: geometry included, via R = ρL/S.</a:t>
            </a:r>
            <a:endParaRPr lang="en-US" sz="1050" dirty="0"/>
          </a:p>
        </p:txBody>
      </p:sp>
      <p:sp>
        <p:nvSpPr>
          <p:cNvPr id="20" name="Text 18"/>
          <p:cNvSpPr/>
          <p:nvPr/>
        </p:nvSpPr>
        <p:spPr>
          <a:xfrm>
            <a:off x="502920" y="4023360"/>
            <a:ext cx="8138160" cy="685800"/>
          </a:xfrm>
          <a:prstGeom prst="rect">
            <a:avLst/>
          </a:prstGeom>
          <a:noFill/>
          <a:ln/>
        </p:spPr>
        <p:txBody>
          <a:bodyPr wrap="square" lIns="0" tIns="0" rIns="0" bIns="0" rtlCol="0" anchor="t"/>
          <a:lstStyle/>
          <a:p>
            <a:pPr indent="0" marL="0">
              <a:buNone/>
            </a:pPr>
            <a:r>
              <a:rPr lang="en-US" sz="1000" b="1" spc="200" kern="0" dirty="0">
                <a:solidFill>
                  <a:srgbClr val="C0541F"/>
                </a:solidFill>
                <a:latin typeface="Poppins" pitchFamily="34" charset="0"/>
                <a:ea typeface="Poppins" pitchFamily="34" charset="-122"/>
                <a:cs typeface="Poppins" pitchFamily="34" charset="-120"/>
              </a:rPr>
              <a:t>ANSWER   </a:t>
            </a:r>
            <a:pPr indent="0" marL="0">
              <a:buNone/>
            </a:pPr>
            <a:r>
              <a:rPr lang="en-US" sz="1200" b="1" dirty="0">
                <a:solidFill>
                  <a:srgbClr val="C0541F"/>
                </a:solidFill>
                <a:latin typeface="Poppins SemiBold" pitchFamily="34" charset="0"/>
                <a:ea typeface="Poppins SemiBold" pitchFamily="34" charset="-122"/>
                <a:cs typeface="Poppins SemiBold" pitchFamily="34" charset="-120"/>
              </a:rPr>
              <a:t>C    </a:t>
            </a:r>
            <a:pPr indent="0" marL="0">
              <a:buNone/>
            </a:pPr>
            <a:r>
              <a:rPr lang="en-US" sz="1050" i="1" dirty="0">
                <a:solidFill>
                  <a:srgbClr val="4A5260"/>
                </a:solidFill>
                <a:latin typeface="Lora" pitchFamily="34" charset="0"/>
                <a:ea typeface="Lora" pitchFamily="34" charset="-122"/>
                <a:cs typeface="Lora" pitchFamily="34" charset="-120"/>
              </a:rPr>
              <a:t>Resistivity never depends on shape (A ✗). Semiconductors fall with temperature (B ✗). Opposition to current is R, which geometry also sets (D ✗). Alloys do exceed their constituent metals (C ✓).</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F0"/>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E0D9CC"/>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A89F92"/>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A89F92"/>
                </a:solidFill>
                <a:latin typeface="Poppins" pitchFamily="34" charset="0"/>
                <a:ea typeface="Poppins" pitchFamily="34" charset="-122"/>
                <a:cs typeface="Poppins" pitchFamily="34" charset="-120"/>
              </a:rPr>
              <a:t>17</a:t>
            </a:r>
            <a:endParaRPr lang="en-US" sz="650" dirty="0"/>
          </a:p>
        </p:txBody>
      </p:sp>
      <p:sp>
        <p:nvSpPr>
          <p:cNvPr id="5" name="Text 3"/>
          <p:cNvSpPr/>
          <p:nvPr/>
        </p:nvSpPr>
        <p:spPr>
          <a:xfrm>
            <a:off x="502920" y="310896"/>
            <a:ext cx="5943600" cy="219456"/>
          </a:xfrm>
          <a:prstGeom prst="rect">
            <a:avLst/>
          </a:prstGeom>
          <a:noFill/>
          <a:ln/>
        </p:spPr>
        <p:txBody>
          <a:bodyPr wrap="square" lIns="0" tIns="0" rIns="0" bIns="0" rtlCol="0" anchor="ctr"/>
          <a:lstStyle/>
          <a:p>
            <a:pPr indent="0" marL="0">
              <a:buNone/>
            </a:pPr>
            <a:r>
              <a:rPr lang="en-US" sz="1050" b="1" spc="250" kern="0" dirty="0">
                <a:solidFill>
                  <a:srgbClr val="C0541F"/>
                </a:solidFill>
                <a:latin typeface="Poppins" pitchFamily="34" charset="0"/>
                <a:ea typeface="Poppins" pitchFamily="34" charset="-122"/>
                <a:cs typeface="Poppins" pitchFamily="34" charset="-120"/>
              </a:rPr>
              <a:t>WORKED EXAMPLE 4</a:t>
            </a:r>
            <a:endParaRPr lang="en-US" sz="1050" dirty="0"/>
          </a:p>
        </p:txBody>
      </p:sp>
      <p:sp>
        <p:nvSpPr>
          <p:cNvPr id="6" name="Text 4"/>
          <p:cNvSpPr/>
          <p:nvPr/>
        </p:nvSpPr>
        <p:spPr>
          <a:xfrm>
            <a:off x="502920" y="530352"/>
            <a:ext cx="8138160" cy="457200"/>
          </a:xfrm>
          <a:prstGeom prst="rect">
            <a:avLst/>
          </a:prstGeom>
          <a:noFill/>
          <a:ln/>
        </p:spPr>
        <p:txBody>
          <a:bodyPr wrap="square" lIns="0" tIns="0" rIns="0" bIns="0" rtlCol="0" anchor="ctr"/>
          <a:lstStyle/>
          <a:p>
            <a:pPr indent="0" marL="0">
              <a:buNone/>
            </a:pPr>
            <a:r>
              <a:rPr lang="en-US" sz="2000" b="1" dirty="0">
                <a:solidFill>
                  <a:srgbClr val="222733"/>
                </a:solidFill>
                <a:latin typeface="Poppins SemiBold" pitchFamily="34" charset="0"/>
                <a:ea typeface="Poppins SemiBold" pitchFamily="34" charset="-122"/>
                <a:cs typeface="Poppins SemiBold" pitchFamily="34" charset="-120"/>
              </a:rPr>
              <a:t>One block, two resistances</a:t>
            </a:r>
            <a:endParaRPr lang="en-US" sz="2000" dirty="0"/>
          </a:p>
        </p:txBody>
      </p:sp>
      <p:sp>
        <p:nvSpPr>
          <p:cNvPr id="7" name="Text 5"/>
          <p:cNvSpPr/>
          <p:nvPr/>
        </p:nvSpPr>
        <p:spPr>
          <a:xfrm>
            <a:off x="502920" y="1005840"/>
            <a:ext cx="4846320" cy="822960"/>
          </a:xfrm>
          <a:prstGeom prst="rect">
            <a:avLst/>
          </a:prstGeom>
          <a:noFill/>
          <a:ln/>
        </p:spPr>
        <p:txBody>
          <a:bodyPr wrap="square" lIns="0" tIns="0" rIns="0" bIns="0" rtlCol="0" anchor="t"/>
          <a:lstStyle/>
          <a:p>
            <a:pPr indent="0" marL="0">
              <a:buNone/>
            </a:pPr>
            <a:r>
              <a:rPr lang="en-US" sz="1050" dirty="0">
                <a:solidFill>
                  <a:srgbClr val="4A5260"/>
                </a:solidFill>
                <a:latin typeface="Poppins" pitchFamily="34" charset="0"/>
                <a:ea typeface="Poppins" pitchFamily="34" charset="-122"/>
                <a:cs typeface="Poppins" pitchFamily="34" charset="-120"/>
              </a:rPr>
              <a:t>A copper block has edges a &gt; b &gt; c. Current can be sent lengthwise (along edge a, as shown by the left arrow) or down through the thickness (edge c, top arrow). Find the ratio of the two resistances, R1 : R2.</a:t>
            </a:r>
            <a:endParaRPr lang="en-US" sz="1050" dirty="0"/>
          </a:p>
        </p:txBody>
      </p:sp>
      <p:sp>
        <p:nvSpPr>
          <p:cNvPr id="8" name="Shape 6"/>
          <p:cNvSpPr/>
          <p:nvPr/>
        </p:nvSpPr>
        <p:spPr>
          <a:xfrm>
            <a:off x="5669280" y="1005840"/>
            <a:ext cx="2971800" cy="1783080"/>
          </a:xfrm>
          <a:prstGeom prst="rect">
            <a:avLst/>
          </a:prstGeom>
          <a:solidFill>
            <a:srgbClr val="FFFFFF"/>
          </a:solidFill>
          <a:ln w="9525">
            <a:solidFill>
              <a:srgbClr val="E3DCD0"/>
            </a:solidFill>
            <a:prstDash val="solid"/>
          </a:ln>
          <a:effectLst>
            <a:outerShdw sx="100000" sy="100000" kx="0" ky="0" algn="bl" rotWithShape="0" blurRad="88900" dist="25400" dir="5400000">
              <a:srgbClr val="000000">
                <a:alpha val="10000"/>
              </a:srgbClr>
            </a:outerShdw>
          </a:effectLst>
        </p:spPr>
      </p:sp>
      <p:pic>
        <p:nvPicPr>
          <p:cNvPr id="9" name="Image 0" descr="assets/image12.png">    </p:cNvPr>
          <p:cNvPicPr>
            <a:picLocks noChangeAspect="1"/>
          </p:cNvPicPr>
          <p:nvPr/>
        </p:nvPicPr>
        <p:blipFill>
          <a:blip r:embed="rId1"/>
          <a:stretch>
            <a:fillRect/>
          </a:stretch>
        </p:blipFill>
        <p:spPr>
          <a:xfrm>
            <a:off x="5852160" y="1259659"/>
            <a:ext cx="2606040" cy="1275443"/>
          </a:xfrm>
          <a:prstGeom prst="rect">
            <a:avLst/>
          </a:prstGeom>
        </p:spPr>
      </p:pic>
      <p:sp>
        <p:nvSpPr>
          <p:cNvPr id="10" name="Text 7"/>
          <p:cNvSpPr/>
          <p:nvPr/>
        </p:nvSpPr>
        <p:spPr>
          <a:xfrm>
            <a:off x="777240" y="2011680"/>
            <a:ext cx="274320" cy="384048"/>
          </a:xfrm>
          <a:prstGeom prst="rect">
            <a:avLst/>
          </a:prstGeom>
          <a:noFill/>
          <a:ln/>
        </p:spPr>
        <p:txBody>
          <a:bodyPr wrap="square" lIns="0" tIns="0" rIns="0" bIns="0" rtlCol="0" anchor="t"/>
          <a:lstStyle/>
          <a:p>
            <a:pPr indent="0" marL="0">
              <a:buNone/>
            </a:pPr>
            <a:r>
              <a:rPr lang="en-US" sz="1100" b="1" dirty="0">
                <a:solidFill>
                  <a:srgbClr val="222733"/>
                </a:solidFill>
                <a:latin typeface="Poppins Medium" pitchFamily="34" charset="0"/>
                <a:ea typeface="Poppins Medium" pitchFamily="34" charset="-122"/>
                <a:cs typeface="Poppins Medium" pitchFamily="34" charset="-120"/>
              </a:rPr>
              <a:t>A</a:t>
            </a:r>
            <a:endParaRPr lang="en-US" sz="1100" dirty="0"/>
          </a:p>
        </p:txBody>
      </p:sp>
      <p:sp>
        <p:nvSpPr>
          <p:cNvPr id="11" name="Text 8"/>
          <p:cNvSpPr/>
          <p:nvPr/>
        </p:nvSpPr>
        <p:spPr>
          <a:xfrm>
            <a:off x="1088136" y="2011680"/>
            <a:ext cx="4078224" cy="384048"/>
          </a:xfrm>
          <a:prstGeom prst="rect">
            <a:avLst/>
          </a:prstGeom>
          <a:noFill/>
          <a:ln/>
        </p:spPr>
        <p:txBody>
          <a:bodyPr wrap="square" lIns="0" tIns="0" rIns="0" bIns="0" rtlCol="0" anchor="t"/>
          <a:lstStyle/>
          <a:p>
            <a:pPr indent="0" marL="0">
              <a:buNone/>
            </a:pPr>
            <a:r>
              <a:rPr lang="en-US" sz="1100" dirty="0">
                <a:solidFill>
                  <a:srgbClr val="4A5260"/>
                </a:solidFill>
                <a:latin typeface="Poppins" pitchFamily="34" charset="0"/>
                <a:ea typeface="Poppins" pitchFamily="34" charset="-122"/>
                <a:cs typeface="Poppins" pitchFamily="34" charset="-120"/>
              </a:rPr>
              <a:t>1 : 1</a:t>
            </a:r>
            <a:endParaRPr lang="en-US" sz="1100" dirty="0"/>
          </a:p>
        </p:txBody>
      </p:sp>
      <p:sp>
        <p:nvSpPr>
          <p:cNvPr id="12" name="Text 9"/>
          <p:cNvSpPr/>
          <p:nvPr/>
        </p:nvSpPr>
        <p:spPr>
          <a:xfrm>
            <a:off x="521208" y="2395728"/>
            <a:ext cx="237744" cy="384048"/>
          </a:xfrm>
          <a:prstGeom prst="rect">
            <a:avLst/>
          </a:prstGeom>
          <a:noFill/>
          <a:ln/>
        </p:spPr>
        <p:txBody>
          <a:bodyPr wrap="square" lIns="0" tIns="0" rIns="0" bIns="0" rtlCol="0" anchor="t"/>
          <a:lstStyle/>
          <a:p>
            <a:pPr indent="0" marL="0">
              <a:buNone/>
            </a:pPr>
            <a:r>
              <a:rPr lang="en-US" sz="1200" b="1" dirty="0">
                <a:solidFill>
                  <a:srgbClr val="C0541F"/>
                </a:solidFill>
                <a:latin typeface="DejaVu Sans" pitchFamily="34" charset="0"/>
                <a:ea typeface="DejaVu Sans" pitchFamily="34" charset="-122"/>
                <a:cs typeface="DejaVu Sans" pitchFamily="34" charset="-120"/>
              </a:rPr>
              <a:t>✓</a:t>
            </a:r>
            <a:endParaRPr lang="en-US" sz="1200" dirty="0"/>
          </a:p>
        </p:txBody>
      </p:sp>
      <p:sp>
        <p:nvSpPr>
          <p:cNvPr id="13" name="Text 10"/>
          <p:cNvSpPr/>
          <p:nvPr/>
        </p:nvSpPr>
        <p:spPr>
          <a:xfrm>
            <a:off x="777240" y="2395728"/>
            <a:ext cx="274320" cy="384048"/>
          </a:xfrm>
          <a:prstGeom prst="rect">
            <a:avLst/>
          </a:prstGeom>
          <a:noFill/>
          <a:ln/>
        </p:spPr>
        <p:txBody>
          <a:bodyPr wrap="square" lIns="0" tIns="0" rIns="0" bIns="0" rtlCol="0" anchor="t"/>
          <a:lstStyle/>
          <a:p>
            <a:pPr indent="0" marL="0">
              <a:buNone/>
            </a:pPr>
            <a:r>
              <a:rPr lang="en-US" sz="1100" b="1" dirty="0">
                <a:solidFill>
                  <a:srgbClr val="C0541F"/>
                </a:solidFill>
                <a:latin typeface="Poppins Medium" pitchFamily="34" charset="0"/>
                <a:ea typeface="Poppins Medium" pitchFamily="34" charset="-122"/>
                <a:cs typeface="Poppins Medium" pitchFamily="34" charset="-120"/>
              </a:rPr>
              <a:t>B</a:t>
            </a:r>
            <a:endParaRPr lang="en-US" sz="1100" dirty="0"/>
          </a:p>
        </p:txBody>
      </p:sp>
      <p:sp>
        <p:nvSpPr>
          <p:cNvPr id="14" name="Text 11"/>
          <p:cNvSpPr/>
          <p:nvPr/>
        </p:nvSpPr>
        <p:spPr>
          <a:xfrm>
            <a:off x="1088136" y="2395728"/>
            <a:ext cx="4078224" cy="384048"/>
          </a:xfrm>
          <a:prstGeom prst="rect">
            <a:avLst/>
          </a:prstGeom>
          <a:noFill/>
          <a:ln/>
        </p:spPr>
        <p:txBody>
          <a:bodyPr wrap="square" lIns="0" tIns="0" rIns="0" bIns="0" rtlCol="0" anchor="t"/>
          <a:lstStyle/>
          <a:p>
            <a:pPr indent="0" marL="0">
              <a:buNone/>
            </a:pPr>
            <a:r>
              <a:rPr lang="en-US" sz="1100" dirty="0">
                <a:solidFill>
                  <a:srgbClr val="4A5260"/>
                </a:solidFill>
                <a:latin typeface="Poppins" pitchFamily="34" charset="0"/>
                <a:ea typeface="Poppins" pitchFamily="34" charset="-122"/>
                <a:cs typeface="Poppins" pitchFamily="34" charset="-120"/>
              </a:rPr>
              <a:t>a² : c²</a:t>
            </a:r>
            <a:endParaRPr lang="en-US" sz="1100" dirty="0"/>
          </a:p>
        </p:txBody>
      </p:sp>
      <p:sp>
        <p:nvSpPr>
          <p:cNvPr id="15" name="Text 12"/>
          <p:cNvSpPr/>
          <p:nvPr/>
        </p:nvSpPr>
        <p:spPr>
          <a:xfrm>
            <a:off x="777240" y="2779776"/>
            <a:ext cx="274320" cy="384048"/>
          </a:xfrm>
          <a:prstGeom prst="rect">
            <a:avLst/>
          </a:prstGeom>
          <a:noFill/>
          <a:ln/>
        </p:spPr>
        <p:txBody>
          <a:bodyPr wrap="square" lIns="0" tIns="0" rIns="0" bIns="0" rtlCol="0" anchor="t"/>
          <a:lstStyle/>
          <a:p>
            <a:pPr indent="0" marL="0">
              <a:buNone/>
            </a:pPr>
            <a:r>
              <a:rPr lang="en-US" sz="1100" b="1" dirty="0">
                <a:solidFill>
                  <a:srgbClr val="222733"/>
                </a:solidFill>
                <a:latin typeface="Poppins Medium" pitchFamily="34" charset="0"/>
                <a:ea typeface="Poppins Medium" pitchFamily="34" charset="-122"/>
                <a:cs typeface="Poppins Medium" pitchFamily="34" charset="-120"/>
              </a:rPr>
              <a:t>C</a:t>
            </a:r>
            <a:endParaRPr lang="en-US" sz="1100" dirty="0"/>
          </a:p>
        </p:txBody>
      </p:sp>
      <p:sp>
        <p:nvSpPr>
          <p:cNvPr id="16" name="Text 13"/>
          <p:cNvSpPr/>
          <p:nvPr/>
        </p:nvSpPr>
        <p:spPr>
          <a:xfrm>
            <a:off x="1088136" y="2779776"/>
            <a:ext cx="4078224" cy="384048"/>
          </a:xfrm>
          <a:prstGeom prst="rect">
            <a:avLst/>
          </a:prstGeom>
          <a:noFill/>
          <a:ln/>
        </p:spPr>
        <p:txBody>
          <a:bodyPr wrap="square" lIns="0" tIns="0" rIns="0" bIns="0" rtlCol="0" anchor="t"/>
          <a:lstStyle/>
          <a:p>
            <a:pPr indent="0" marL="0">
              <a:buNone/>
            </a:pPr>
            <a:r>
              <a:rPr lang="en-US" sz="1100" dirty="0">
                <a:solidFill>
                  <a:srgbClr val="4A5260"/>
                </a:solidFill>
                <a:latin typeface="Poppins" pitchFamily="34" charset="0"/>
                <a:ea typeface="Poppins" pitchFamily="34" charset="-122"/>
                <a:cs typeface="Poppins" pitchFamily="34" charset="-120"/>
              </a:rPr>
              <a:t>a² : b²</a:t>
            </a:r>
            <a:endParaRPr lang="en-US" sz="1100" dirty="0"/>
          </a:p>
        </p:txBody>
      </p:sp>
      <p:sp>
        <p:nvSpPr>
          <p:cNvPr id="17" name="Text 14"/>
          <p:cNvSpPr/>
          <p:nvPr/>
        </p:nvSpPr>
        <p:spPr>
          <a:xfrm>
            <a:off x="777240" y="3163824"/>
            <a:ext cx="274320" cy="384048"/>
          </a:xfrm>
          <a:prstGeom prst="rect">
            <a:avLst/>
          </a:prstGeom>
          <a:noFill/>
          <a:ln/>
        </p:spPr>
        <p:txBody>
          <a:bodyPr wrap="square" lIns="0" tIns="0" rIns="0" bIns="0" rtlCol="0" anchor="t"/>
          <a:lstStyle/>
          <a:p>
            <a:pPr indent="0" marL="0">
              <a:buNone/>
            </a:pPr>
            <a:r>
              <a:rPr lang="en-US" sz="1100" b="1" dirty="0">
                <a:solidFill>
                  <a:srgbClr val="222733"/>
                </a:solidFill>
                <a:latin typeface="Poppins Medium" pitchFamily="34" charset="0"/>
                <a:ea typeface="Poppins Medium" pitchFamily="34" charset="-122"/>
                <a:cs typeface="Poppins Medium" pitchFamily="34" charset="-120"/>
              </a:rPr>
              <a:t>D</a:t>
            </a:r>
            <a:endParaRPr lang="en-US" sz="1100" dirty="0"/>
          </a:p>
        </p:txBody>
      </p:sp>
      <p:sp>
        <p:nvSpPr>
          <p:cNvPr id="18" name="Text 15"/>
          <p:cNvSpPr/>
          <p:nvPr/>
        </p:nvSpPr>
        <p:spPr>
          <a:xfrm>
            <a:off x="1088136" y="3163824"/>
            <a:ext cx="4078224" cy="384048"/>
          </a:xfrm>
          <a:prstGeom prst="rect">
            <a:avLst/>
          </a:prstGeom>
          <a:noFill/>
          <a:ln/>
        </p:spPr>
        <p:txBody>
          <a:bodyPr wrap="square" lIns="0" tIns="0" rIns="0" bIns="0" rtlCol="0" anchor="t"/>
          <a:lstStyle/>
          <a:p>
            <a:pPr indent="0" marL="0">
              <a:buNone/>
            </a:pPr>
            <a:r>
              <a:rPr lang="en-US" sz="1100" dirty="0">
                <a:solidFill>
                  <a:srgbClr val="4A5260"/>
                </a:solidFill>
                <a:latin typeface="Poppins" pitchFamily="34" charset="0"/>
                <a:ea typeface="Poppins" pitchFamily="34" charset="-122"/>
                <a:cs typeface="Poppins" pitchFamily="34" charset="-120"/>
              </a:rPr>
              <a:t>b² : c²</a:t>
            </a:r>
            <a:endParaRPr lang="en-US" sz="1100" dirty="0"/>
          </a:p>
        </p:txBody>
      </p:sp>
      <p:pic>
        <p:nvPicPr>
          <p:cNvPr id="19" name="Image 1" descr="assets/f_ex4.png">    </p:cNvPr>
          <p:cNvPicPr>
            <a:picLocks noChangeAspect="1"/>
          </p:cNvPicPr>
          <p:nvPr/>
        </p:nvPicPr>
        <p:blipFill>
          <a:blip r:embed="rId2"/>
          <a:stretch>
            <a:fillRect/>
          </a:stretch>
        </p:blipFill>
        <p:spPr>
          <a:xfrm>
            <a:off x="502920" y="3520440"/>
            <a:ext cx="5852160" cy="718371"/>
          </a:xfrm>
          <a:prstGeom prst="rect">
            <a:avLst/>
          </a:prstGeom>
        </p:spPr>
      </p:pic>
      <p:sp>
        <p:nvSpPr>
          <p:cNvPr id="20" name="Text 16"/>
          <p:cNvSpPr/>
          <p:nvPr/>
        </p:nvSpPr>
        <p:spPr>
          <a:xfrm>
            <a:off x="502920" y="4434840"/>
            <a:ext cx="8138160" cy="365760"/>
          </a:xfrm>
          <a:prstGeom prst="rect">
            <a:avLst/>
          </a:prstGeom>
          <a:noFill/>
          <a:ln/>
        </p:spPr>
        <p:txBody>
          <a:bodyPr wrap="square" lIns="0" tIns="0" rIns="0" bIns="0" rtlCol="0" anchor="t"/>
          <a:lstStyle/>
          <a:p>
            <a:pPr indent="0" marL="0">
              <a:buNone/>
            </a:pPr>
            <a:r>
              <a:rPr lang="en-US" sz="1000" b="1" spc="200" kern="0" dirty="0">
                <a:solidFill>
                  <a:srgbClr val="C0541F"/>
                </a:solidFill>
                <a:latin typeface="Poppins" pitchFamily="34" charset="0"/>
                <a:ea typeface="Poppins" pitchFamily="34" charset="-122"/>
                <a:cs typeface="Poppins" pitchFamily="34" charset="-120"/>
              </a:rPr>
              <a:t>ANSWER   </a:t>
            </a:r>
            <a:pPr indent="0" marL="0">
              <a:buNone/>
            </a:pPr>
            <a:r>
              <a:rPr lang="en-US" sz="1200" b="1" dirty="0">
                <a:solidFill>
                  <a:srgbClr val="C0541F"/>
                </a:solidFill>
                <a:latin typeface="Poppins SemiBold" pitchFamily="34" charset="0"/>
                <a:ea typeface="Poppins SemiBold" pitchFamily="34" charset="-122"/>
                <a:cs typeface="Poppins SemiBold" pitchFamily="34" charset="-120"/>
              </a:rPr>
              <a:t>B    </a:t>
            </a:r>
            <a:pPr indent="0" marL="0">
              <a:buNone/>
            </a:pPr>
            <a:r>
              <a:rPr lang="en-US" sz="1050" i="1" dirty="0">
                <a:solidFill>
                  <a:srgbClr val="4A5260"/>
                </a:solidFill>
                <a:latin typeface="Lora" pitchFamily="34" charset="0"/>
                <a:ea typeface="Lora" pitchFamily="34" charset="-122"/>
                <a:cs typeface="Lora" pitchFamily="34" charset="-120"/>
              </a:rPr>
              <a:t>Same material, same block — different geometry, different resistance.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22733"/>
        </a:solidFill>
      </p:bgPr>
    </p:bg>
    <p:spTree>
      <p:nvGrpSpPr>
        <p:cNvPr id="1" name=""/>
        <p:cNvGrpSpPr/>
        <p:nvPr/>
      </p:nvGrpSpPr>
      <p:grpSpPr>
        <a:xfrm>
          <a:off x="0" y="0"/>
          <a:ext cx="0" cy="0"/>
          <a:chOff x="0" y="0"/>
          <a:chExt cx="0" cy="0"/>
        </a:xfrm>
      </p:grpSpPr>
      <p:sp>
        <p:nvSpPr>
          <p:cNvPr id="2" name="Shape 0"/>
          <p:cNvSpPr/>
          <p:nvPr/>
        </p:nvSpPr>
        <p:spPr>
          <a:xfrm>
            <a:off x="502920" y="4828032"/>
            <a:ext cx="8138160" cy="0"/>
          </a:xfrm>
          <a:prstGeom prst="line">
            <a:avLst/>
          </a:prstGeom>
          <a:noFill/>
          <a:ln w="9525">
            <a:solidFill>
              <a:srgbClr val="3A4150"/>
            </a:solidFill>
            <a:prstDash val="solid"/>
          </a:ln>
        </p:spPr>
      </p:sp>
      <p:sp>
        <p:nvSpPr>
          <p:cNvPr id="3" name="Text 1"/>
          <p:cNvSpPr/>
          <p:nvPr/>
        </p:nvSpPr>
        <p:spPr>
          <a:xfrm>
            <a:off x="502920" y="4864608"/>
            <a:ext cx="3657600" cy="182880"/>
          </a:xfrm>
          <a:prstGeom prst="rect">
            <a:avLst/>
          </a:prstGeom>
          <a:noFill/>
          <a:ln/>
        </p:spPr>
        <p:txBody>
          <a:bodyPr wrap="square" lIns="0" tIns="0" rIns="0" bIns="0" rtlCol="0" anchor="ctr"/>
          <a:lstStyle/>
          <a:p>
            <a:pPr indent="0" marL="0">
              <a:buNone/>
            </a:pPr>
            <a:r>
              <a:rPr lang="en-US" sz="650" spc="200" kern="0" dirty="0">
                <a:solidFill>
                  <a:srgbClr val="848D9E"/>
                </a:solidFill>
                <a:latin typeface="Poppins" pitchFamily="34" charset="0"/>
                <a:ea typeface="Poppins" pitchFamily="34" charset="-122"/>
                <a:cs typeface="Poppins" pitchFamily="34" charset="-120"/>
              </a:rPr>
              <a:t>RESISTANCE OF A CONDUCTOR</a:t>
            </a:r>
            <a:endParaRPr lang="en-US" sz="650" dirty="0"/>
          </a:p>
        </p:txBody>
      </p:sp>
      <p:sp>
        <p:nvSpPr>
          <p:cNvPr id="4" name="Text 2"/>
          <p:cNvSpPr/>
          <p:nvPr/>
        </p:nvSpPr>
        <p:spPr>
          <a:xfrm>
            <a:off x="8183880" y="4864608"/>
            <a:ext cx="457200" cy="182880"/>
          </a:xfrm>
          <a:prstGeom prst="rect">
            <a:avLst/>
          </a:prstGeom>
          <a:noFill/>
          <a:ln/>
        </p:spPr>
        <p:txBody>
          <a:bodyPr wrap="square" lIns="0" tIns="0" rIns="0" bIns="0" rtlCol="0" anchor="ctr"/>
          <a:lstStyle/>
          <a:p>
            <a:pPr algn="r" indent="0" marL="0">
              <a:buNone/>
            </a:pPr>
            <a:r>
              <a:rPr lang="en-US" sz="650" dirty="0">
                <a:solidFill>
                  <a:srgbClr val="848D9E"/>
                </a:solidFill>
                <a:latin typeface="Poppins" pitchFamily="34" charset="0"/>
                <a:ea typeface="Poppins" pitchFamily="34" charset="-122"/>
                <a:cs typeface="Poppins" pitchFamily="34" charset="-120"/>
              </a:rPr>
              <a:t>18</a:t>
            </a:r>
            <a:endParaRPr lang="en-US" sz="650" dirty="0"/>
          </a:p>
        </p:txBody>
      </p:sp>
      <p:sp>
        <p:nvSpPr>
          <p:cNvPr id="5" name="Text 3"/>
          <p:cNvSpPr/>
          <p:nvPr/>
        </p:nvSpPr>
        <p:spPr>
          <a:xfrm>
            <a:off x="502920" y="411480"/>
            <a:ext cx="5486400" cy="274320"/>
          </a:xfrm>
          <a:prstGeom prst="rect">
            <a:avLst/>
          </a:prstGeom>
          <a:noFill/>
          <a:ln/>
        </p:spPr>
        <p:txBody>
          <a:bodyPr wrap="square" lIns="0" tIns="0" rIns="0" bIns="0" rtlCol="0" anchor="ctr"/>
          <a:lstStyle/>
          <a:p>
            <a:pPr indent="0" marL="0">
              <a:buNone/>
            </a:pPr>
            <a:r>
              <a:rPr lang="en-US" sz="1100" b="1" spc="300" kern="0" dirty="0">
                <a:solidFill>
                  <a:srgbClr val="C0541F"/>
                </a:solidFill>
                <a:latin typeface="Poppins" pitchFamily="34" charset="0"/>
                <a:ea typeface="Poppins" pitchFamily="34" charset="-122"/>
                <a:cs typeface="Poppins" pitchFamily="34" charset="-120"/>
              </a:rPr>
              <a:t>SUMMARY</a:t>
            </a:r>
            <a:endParaRPr lang="en-US" sz="1100" dirty="0"/>
          </a:p>
        </p:txBody>
      </p:sp>
      <p:sp>
        <p:nvSpPr>
          <p:cNvPr id="6" name="Text 4"/>
          <p:cNvSpPr/>
          <p:nvPr/>
        </p:nvSpPr>
        <p:spPr>
          <a:xfrm>
            <a:off x="502920" y="713232"/>
            <a:ext cx="7315200" cy="502920"/>
          </a:xfrm>
          <a:prstGeom prst="rect">
            <a:avLst/>
          </a:prstGeom>
          <a:noFill/>
          <a:ln/>
        </p:spPr>
        <p:txBody>
          <a:bodyPr wrap="square" lIns="0" tIns="0" rIns="0" bIns="0" rtlCol="0" anchor="ctr"/>
          <a:lstStyle/>
          <a:p>
            <a:pPr indent="0" marL="0">
              <a:buNone/>
            </a:pPr>
            <a:r>
              <a:rPr lang="en-US" sz="2600" b="1" dirty="0">
                <a:solidFill>
                  <a:srgbClr val="FFFFFF"/>
                </a:solidFill>
                <a:latin typeface="Poppins SemiBold" pitchFamily="34" charset="0"/>
                <a:ea typeface="Poppins SemiBold" pitchFamily="34" charset="-122"/>
                <a:cs typeface="Poppins SemiBold" pitchFamily="34" charset="-120"/>
              </a:rPr>
              <a:t>What to take away</a:t>
            </a:r>
            <a:endParaRPr lang="en-US" sz="2600" dirty="0"/>
          </a:p>
        </p:txBody>
      </p:sp>
      <p:sp>
        <p:nvSpPr>
          <p:cNvPr id="7" name="Text 5"/>
          <p:cNvSpPr/>
          <p:nvPr/>
        </p:nvSpPr>
        <p:spPr>
          <a:xfrm>
            <a:off x="502920" y="1463040"/>
            <a:ext cx="548640" cy="365760"/>
          </a:xfrm>
          <a:prstGeom prst="rect">
            <a:avLst/>
          </a:prstGeom>
          <a:noFill/>
          <a:ln/>
        </p:spPr>
        <p:txBody>
          <a:bodyPr wrap="square" lIns="0" tIns="0" rIns="0" bIns="0" rtlCol="0" anchor="ctr"/>
          <a:lstStyle/>
          <a:p>
            <a:pPr indent="0" marL="0">
              <a:buNone/>
            </a:pPr>
            <a:r>
              <a:rPr lang="en-US" sz="1500" b="1" dirty="0">
                <a:solidFill>
                  <a:srgbClr val="C0541F"/>
                </a:solidFill>
                <a:latin typeface="Poppins SemiBold" pitchFamily="34" charset="0"/>
                <a:ea typeface="Poppins SemiBold" pitchFamily="34" charset="-122"/>
                <a:cs typeface="Poppins SemiBold" pitchFamily="34" charset="-120"/>
              </a:rPr>
              <a:t>01</a:t>
            </a:r>
            <a:endParaRPr lang="en-US" sz="1500" dirty="0"/>
          </a:p>
        </p:txBody>
      </p:sp>
      <p:sp>
        <p:nvSpPr>
          <p:cNvPr id="8" name="Text 6"/>
          <p:cNvSpPr/>
          <p:nvPr/>
        </p:nvSpPr>
        <p:spPr>
          <a:xfrm>
            <a:off x="1143000" y="1481328"/>
            <a:ext cx="1828800" cy="320040"/>
          </a:xfrm>
          <a:prstGeom prst="rect">
            <a:avLst/>
          </a:prstGeom>
          <a:noFill/>
          <a:ln/>
        </p:spPr>
        <p:txBody>
          <a:bodyPr wrap="square" lIns="0" tIns="0" rIns="0" bIns="0" rtlCol="0" anchor="ctr"/>
          <a:lstStyle/>
          <a:p>
            <a:pPr indent="0" marL="0">
              <a:buNone/>
            </a:pPr>
            <a:r>
              <a:rPr lang="en-US" sz="1300" b="1" dirty="0">
                <a:solidFill>
                  <a:srgbClr val="FFFFFF"/>
                </a:solidFill>
                <a:latin typeface="Poppins Medium" pitchFamily="34" charset="0"/>
                <a:ea typeface="Poppins Medium" pitchFamily="34" charset="-122"/>
                <a:cs typeface="Poppins Medium" pitchFamily="34" charset="-120"/>
              </a:rPr>
              <a:t>Definition</a:t>
            </a:r>
            <a:endParaRPr lang="en-US" sz="1300" dirty="0"/>
          </a:p>
        </p:txBody>
      </p:sp>
      <p:sp>
        <p:nvSpPr>
          <p:cNvPr id="9" name="Text 7"/>
          <p:cNvSpPr/>
          <p:nvPr/>
        </p:nvSpPr>
        <p:spPr>
          <a:xfrm>
            <a:off x="3063240" y="1499616"/>
            <a:ext cx="5577840" cy="685800"/>
          </a:xfrm>
          <a:prstGeom prst="rect">
            <a:avLst/>
          </a:prstGeom>
          <a:noFill/>
          <a:ln/>
        </p:spPr>
        <p:txBody>
          <a:bodyPr wrap="square" lIns="0" tIns="0" rIns="0" bIns="0" rtlCol="0" anchor="t"/>
          <a:lstStyle/>
          <a:p>
            <a:pPr indent="0" marL="0">
              <a:buNone/>
            </a:pPr>
            <a:r>
              <a:rPr lang="en-US" sz="1050" dirty="0">
                <a:solidFill>
                  <a:srgbClr val="B9C0CC"/>
                </a:solidFill>
                <a:latin typeface="Poppins" pitchFamily="34" charset="0"/>
                <a:ea typeface="Poppins" pitchFamily="34" charset="-122"/>
                <a:cs typeface="Poppins" pitchFamily="34" charset="-120"/>
              </a:rPr>
              <a:t>R = U/I — any conductor, any operating point. A ratio, never a tangent slope.</a:t>
            </a:r>
            <a:endParaRPr lang="en-US" sz="1050" dirty="0"/>
          </a:p>
        </p:txBody>
      </p:sp>
      <p:sp>
        <p:nvSpPr>
          <p:cNvPr id="10" name="Text 8"/>
          <p:cNvSpPr/>
          <p:nvPr/>
        </p:nvSpPr>
        <p:spPr>
          <a:xfrm>
            <a:off x="502920" y="2212848"/>
            <a:ext cx="548640" cy="365760"/>
          </a:xfrm>
          <a:prstGeom prst="rect">
            <a:avLst/>
          </a:prstGeom>
          <a:noFill/>
          <a:ln/>
        </p:spPr>
        <p:txBody>
          <a:bodyPr wrap="square" lIns="0" tIns="0" rIns="0" bIns="0" rtlCol="0" anchor="ctr"/>
          <a:lstStyle/>
          <a:p>
            <a:pPr indent="0" marL="0">
              <a:buNone/>
            </a:pPr>
            <a:r>
              <a:rPr lang="en-US" sz="1500" b="1" dirty="0">
                <a:solidFill>
                  <a:srgbClr val="C0541F"/>
                </a:solidFill>
                <a:latin typeface="Poppins SemiBold" pitchFamily="34" charset="0"/>
                <a:ea typeface="Poppins SemiBold" pitchFamily="34" charset="-122"/>
                <a:cs typeface="Poppins SemiBold" pitchFamily="34" charset="-120"/>
              </a:rPr>
              <a:t>02</a:t>
            </a:r>
            <a:endParaRPr lang="en-US" sz="1500" dirty="0"/>
          </a:p>
        </p:txBody>
      </p:sp>
      <p:sp>
        <p:nvSpPr>
          <p:cNvPr id="11" name="Text 9"/>
          <p:cNvSpPr/>
          <p:nvPr/>
        </p:nvSpPr>
        <p:spPr>
          <a:xfrm>
            <a:off x="1143000" y="2231136"/>
            <a:ext cx="1828800" cy="320040"/>
          </a:xfrm>
          <a:prstGeom prst="rect">
            <a:avLst/>
          </a:prstGeom>
          <a:noFill/>
          <a:ln/>
        </p:spPr>
        <p:txBody>
          <a:bodyPr wrap="square" lIns="0" tIns="0" rIns="0" bIns="0" rtlCol="0" anchor="ctr"/>
          <a:lstStyle/>
          <a:p>
            <a:pPr indent="0" marL="0">
              <a:buNone/>
            </a:pPr>
            <a:r>
              <a:rPr lang="en-US" sz="1300" b="1" dirty="0">
                <a:solidFill>
                  <a:srgbClr val="FFFFFF"/>
                </a:solidFill>
                <a:latin typeface="Poppins Medium" pitchFamily="34" charset="0"/>
                <a:ea typeface="Poppins Medium" pitchFamily="34" charset="-122"/>
                <a:cs typeface="Poppins Medium" pitchFamily="34" charset="-120"/>
              </a:rPr>
              <a:t>Ohm's law</a:t>
            </a:r>
            <a:endParaRPr lang="en-US" sz="1300" dirty="0"/>
          </a:p>
        </p:txBody>
      </p:sp>
      <p:sp>
        <p:nvSpPr>
          <p:cNvPr id="12" name="Text 10"/>
          <p:cNvSpPr/>
          <p:nvPr/>
        </p:nvSpPr>
        <p:spPr>
          <a:xfrm>
            <a:off x="3063240" y="2249424"/>
            <a:ext cx="5577840" cy="685800"/>
          </a:xfrm>
          <a:prstGeom prst="rect">
            <a:avLst/>
          </a:prstGeom>
          <a:noFill/>
          <a:ln/>
        </p:spPr>
        <p:txBody>
          <a:bodyPr wrap="square" lIns="0" tIns="0" rIns="0" bIns="0" rtlCol="0" anchor="t"/>
          <a:lstStyle/>
          <a:p>
            <a:pPr indent="0" marL="0">
              <a:buNone/>
            </a:pPr>
            <a:r>
              <a:rPr lang="en-US" sz="1050" dirty="0">
                <a:solidFill>
                  <a:srgbClr val="B9C0CC"/>
                </a:solidFill>
                <a:latin typeface="Poppins" pitchFamily="34" charset="0"/>
                <a:ea typeface="Poppins" pitchFamily="34" charset="-122"/>
                <a:cs typeface="Poppins" pitchFamily="34" charset="-120"/>
              </a:rPr>
              <a:t>I = U/R with R constant — a straight-line I–U graph. Metals and electrolytes only.</a:t>
            </a:r>
            <a:endParaRPr lang="en-US" sz="1050" dirty="0"/>
          </a:p>
        </p:txBody>
      </p:sp>
      <p:sp>
        <p:nvSpPr>
          <p:cNvPr id="13" name="Text 11"/>
          <p:cNvSpPr/>
          <p:nvPr/>
        </p:nvSpPr>
        <p:spPr>
          <a:xfrm>
            <a:off x="502920" y="2962656"/>
            <a:ext cx="548640" cy="365760"/>
          </a:xfrm>
          <a:prstGeom prst="rect">
            <a:avLst/>
          </a:prstGeom>
          <a:noFill/>
          <a:ln/>
        </p:spPr>
        <p:txBody>
          <a:bodyPr wrap="square" lIns="0" tIns="0" rIns="0" bIns="0" rtlCol="0" anchor="ctr"/>
          <a:lstStyle/>
          <a:p>
            <a:pPr indent="0" marL="0">
              <a:buNone/>
            </a:pPr>
            <a:r>
              <a:rPr lang="en-US" sz="1500" b="1" dirty="0">
                <a:solidFill>
                  <a:srgbClr val="C0541F"/>
                </a:solidFill>
                <a:latin typeface="Poppins SemiBold" pitchFamily="34" charset="0"/>
                <a:ea typeface="Poppins SemiBold" pitchFamily="34" charset="-122"/>
                <a:cs typeface="Poppins SemiBold" pitchFamily="34" charset="-120"/>
              </a:rPr>
              <a:t>03</a:t>
            </a:r>
            <a:endParaRPr lang="en-US" sz="1500" dirty="0"/>
          </a:p>
        </p:txBody>
      </p:sp>
      <p:sp>
        <p:nvSpPr>
          <p:cNvPr id="14" name="Text 12"/>
          <p:cNvSpPr/>
          <p:nvPr/>
        </p:nvSpPr>
        <p:spPr>
          <a:xfrm>
            <a:off x="1143000" y="2980944"/>
            <a:ext cx="1828800" cy="320040"/>
          </a:xfrm>
          <a:prstGeom prst="rect">
            <a:avLst/>
          </a:prstGeom>
          <a:noFill/>
          <a:ln/>
        </p:spPr>
        <p:txBody>
          <a:bodyPr wrap="square" lIns="0" tIns="0" rIns="0" bIns="0" rtlCol="0" anchor="ctr"/>
          <a:lstStyle/>
          <a:p>
            <a:pPr indent="0" marL="0">
              <a:buNone/>
            </a:pPr>
            <a:r>
              <a:rPr lang="en-US" sz="1300" b="1" dirty="0">
                <a:solidFill>
                  <a:srgbClr val="FFFFFF"/>
                </a:solidFill>
                <a:latin typeface="Poppins Medium" pitchFamily="34" charset="0"/>
                <a:ea typeface="Poppins Medium" pitchFamily="34" charset="-122"/>
                <a:cs typeface="Poppins Medium" pitchFamily="34" charset="-120"/>
              </a:rPr>
              <a:t>Resistance law</a:t>
            </a:r>
            <a:endParaRPr lang="en-US" sz="1300" dirty="0"/>
          </a:p>
        </p:txBody>
      </p:sp>
      <p:sp>
        <p:nvSpPr>
          <p:cNvPr id="15" name="Text 13"/>
          <p:cNvSpPr/>
          <p:nvPr/>
        </p:nvSpPr>
        <p:spPr>
          <a:xfrm>
            <a:off x="3063240" y="2999232"/>
            <a:ext cx="5577840" cy="685800"/>
          </a:xfrm>
          <a:prstGeom prst="rect">
            <a:avLst/>
          </a:prstGeom>
          <a:noFill/>
          <a:ln/>
        </p:spPr>
        <p:txBody>
          <a:bodyPr wrap="square" lIns="0" tIns="0" rIns="0" bIns="0" rtlCol="0" anchor="t"/>
          <a:lstStyle/>
          <a:p>
            <a:pPr indent="0" marL="0">
              <a:buNone/>
            </a:pPr>
            <a:r>
              <a:rPr lang="en-US" sz="1050" dirty="0">
                <a:solidFill>
                  <a:srgbClr val="B9C0CC"/>
                </a:solidFill>
                <a:latin typeface="Poppins" pitchFamily="34" charset="0"/>
                <a:ea typeface="Poppins" pitchFamily="34" charset="-122"/>
                <a:cs typeface="Poppins" pitchFamily="34" charset="-120"/>
              </a:rPr>
              <a:t>R = ρL/S — longer means more, thicker means less, material sets the scale.</a:t>
            </a:r>
            <a:endParaRPr lang="en-US" sz="1050" dirty="0"/>
          </a:p>
        </p:txBody>
      </p:sp>
      <p:sp>
        <p:nvSpPr>
          <p:cNvPr id="16" name="Text 14"/>
          <p:cNvSpPr/>
          <p:nvPr/>
        </p:nvSpPr>
        <p:spPr>
          <a:xfrm>
            <a:off x="502920" y="3712464"/>
            <a:ext cx="548640" cy="365760"/>
          </a:xfrm>
          <a:prstGeom prst="rect">
            <a:avLst/>
          </a:prstGeom>
          <a:noFill/>
          <a:ln/>
        </p:spPr>
        <p:txBody>
          <a:bodyPr wrap="square" lIns="0" tIns="0" rIns="0" bIns="0" rtlCol="0" anchor="ctr"/>
          <a:lstStyle/>
          <a:p>
            <a:pPr indent="0" marL="0">
              <a:buNone/>
            </a:pPr>
            <a:r>
              <a:rPr lang="en-US" sz="1500" b="1" dirty="0">
                <a:solidFill>
                  <a:srgbClr val="C0541F"/>
                </a:solidFill>
                <a:latin typeface="Poppins SemiBold" pitchFamily="34" charset="0"/>
                <a:ea typeface="Poppins SemiBold" pitchFamily="34" charset="-122"/>
                <a:cs typeface="Poppins SemiBold" pitchFamily="34" charset="-120"/>
              </a:rPr>
              <a:t>04</a:t>
            </a:r>
            <a:endParaRPr lang="en-US" sz="1500" dirty="0"/>
          </a:p>
        </p:txBody>
      </p:sp>
      <p:sp>
        <p:nvSpPr>
          <p:cNvPr id="17" name="Text 15"/>
          <p:cNvSpPr/>
          <p:nvPr/>
        </p:nvSpPr>
        <p:spPr>
          <a:xfrm>
            <a:off x="1143000" y="3730752"/>
            <a:ext cx="1828800" cy="320040"/>
          </a:xfrm>
          <a:prstGeom prst="rect">
            <a:avLst/>
          </a:prstGeom>
          <a:noFill/>
          <a:ln/>
        </p:spPr>
        <p:txBody>
          <a:bodyPr wrap="square" lIns="0" tIns="0" rIns="0" bIns="0" rtlCol="0" anchor="ctr"/>
          <a:lstStyle/>
          <a:p>
            <a:pPr indent="0" marL="0">
              <a:buNone/>
            </a:pPr>
            <a:r>
              <a:rPr lang="en-US" sz="1300" b="1" dirty="0">
                <a:solidFill>
                  <a:srgbClr val="FFFFFF"/>
                </a:solidFill>
                <a:latin typeface="Poppins Medium" pitchFamily="34" charset="0"/>
                <a:ea typeface="Poppins Medium" pitchFamily="34" charset="-122"/>
                <a:cs typeface="Poppins Medium" pitchFamily="34" charset="-120"/>
              </a:rPr>
              <a:t>Resistivity</a:t>
            </a:r>
            <a:endParaRPr lang="en-US" sz="1300" dirty="0"/>
          </a:p>
        </p:txBody>
      </p:sp>
      <p:sp>
        <p:nvSpPr>
          <p:cNvPr id="18" name="Text 16"/>
          <p:cNvSpPr/>
          <p:nvPr/>
        </p:nvSpPr>
        <p:spPr>
          <a:xfrm>
            <a:off x="3063240" y="3749040"/>
            <a:ext cx="5577840" cy="685800"/>
          </a:xfrm>
          <a:prstGeom prst="rect">
            <a:avLst/>
          </a:prstGeom>
          <a:noFill/>
          <a:ln/>
        </p:spPr>
        <p:txBody>
          <a:bodyPr wrap="square" lIns="0" tIns="0" rIns="0" bIns="0" rtlCol="0" anchor="t"/>
          <a:lstStyle/>
          <a:p>
            <a:pPr indent="0" marL="0">
              <a:buNone/>
            </a:pPr>
            <a:r>
              <a:rPr lang="en-US" sz="1050" dirty="0">
                <a:solidFill>
                  <a:srgbClr val="B9C0CC"/>
                </a:solidFill>
                <a:latin typeface="Poppins" pitchFamily="34" charset="0"/>
                <a:ea typeface="Poppins" pitchFamily="34" charset="-122"/>
                <a:cs typeface="Poppins" pitchFamily="34" charset="-120"/>
              </a:rPr>
              <a:t>A material property that moves with temperature: up for metals, down for thermistors, zero below the critical temperature of a superconductor.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Resistance of a Conductor</dc:title>
  <dc:subject>PptxGenJS Presentation</dc:subject>
  <dc:creator>PptxGenJS</dc:creator>
  <cp:lastModifiedBy>PptxGenJS</cp:lastModifiedBy>
  <cp:revision>1</cp:revision>
  <dcterms:created xsi:type="dcterms:W3CDTF">2026-06-13T00:03:03Z</dcterms:created>
  <dcterms:modified xsi:type="dcterms:W3CDTF">2026-06-13T00:03:03Z</dcterms:modified>
</cp:coreProperties>
</file>