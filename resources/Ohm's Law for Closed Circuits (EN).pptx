
<file path=[Content_Types].xml><?xml version="1.0" encoding="utf-8"?>
<Types xmlns="http://schemas.openxmlformats.org/package/2006/content-types">
  <Default Extension="bin" ContentType="image/png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48" r:id="rId5"/>
    <p:sldId id="349" r:id="rId6"/>
    <p:sldId id="351" r:id="rId7"/>
    <p:sldId id="352" r:id="rId8"/>
    <p:sldId id="278" r:id="rId9"/>
    <p:sldId id="279" r:id="rId10"/>
    <p:sldId id="350" r:id="rId11"/>
    <p:sldId id="353" r:id="rId12"/>
    <p:sldId id="354" r:id="rId13"/>
    <p:sldId id="260" r:id="rId14"/>
    <p:sldId id="356" r:id="rId15"/>
    <p:sldId id="262" r:id="rId16"/>
    <p:sldId id="261" r:id="rId17"/>
    <p:sldId id="264" r:id="rId18"/>
    <p:sldId id="265" r:id="rId19"/>
    <p:sldId id="263" r:id="rId20"/>
    <p:sldId id="266" r:id="rId21"/>
    <p:sldId id="267" r:id="rId22"/>
    <p:sldId id="268" r:id="rId23"/>
    <p:sldId id="269" r:id="rId24"/>
    <p:sldId id="270" r:id="rId25"/>
    <p:sldId id="355" r:id="rId26"/>
    <p:sldId id="288" r:id="rId27"/>
    <p:sldId id="319" r:id="rId28"/>
    <p:sldId id="320" r:id="rId29"/>
    <p:sldId id="289" r:id="rId30"/>
    <p:sldId id="321" r:id="rId31"/>
    <p:sldId id="291" r:id="rId32"/>
    <p:sldId id="338" r:id="rId33"/>
    <p:sldId id="339" r:id="rId34"/>
    <p:sldId id="34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4862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Physics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Book 3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TOC</a:t>
            </a:r>
          </a:p>
        </p:txBody>
      </p:sp>
    </p:spTree>
    <p:extLst>
      <p:ext uri="{BB962C8B-B14F-4D97-AF65-F5344CB8AC3E}">
        <p14:creationId xmlns:p14="http://schemas.microsoft.com/office/powerpoint/2010/main" val="78991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0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13.xml.rels><?xml version="1.0" encoding="UTF-8"?>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3.xml"/><Relationship Id="rId4" Type="http://schemas.openxmlformats.org/officeDocument/2006/relationships/image" Target="../media/image14.jpe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image" Target="../media/image7.png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image" Target="../media/image18.bin"/><Relationship Id="rId1" Type="http://schemas.openxmlformats.org/officeDocument/2006/relationships/slideLayout" Target="../slideLayouts/slideLayout7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ED727-C749-6985-5E49-442C5E78D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Ohm's Law for Closed Circuits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F1FC1F-DA74-6FFD-F065-E0423FF5C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83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CD803-053F-B32C-B75D-EEA567CB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/>
              <a:t>Why does a battery heat up? What is the expression for the heat generated?</a:t>
            </a:r>
          </a:p>
        </p:txBody>
      </p:sp>
      <p:pic>
        <p:nvPicPr>
          <p:cNvPr id="7" name="Picture 2" descr="Here's what happens when a lithium-ion battery overheats">
            <a:extLst>
              <a:ext uri="{FF2B5EF4-FFF2-40B4-BE49-F238E27FC236}">
                <a16:creationId xmlns:a16="http://schemas.microsoft.com/office/drawing/2014/main" id="{9B0434B8-5CB2-69AA-7BF3-18C74C8DA14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0"/>
          <a:stretch>
            <a:fillRect/>
          </a:stretch>
        </p:blipFill>
        <p:spPr bwMode="auto">
          <a:xfrm>
            <a:off x="1543164" y="2362994"/>
            <a:ext cx="3771671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Phone Fire GIFs | Tenor">
            <a:extLst>
              <a:ext uri="{FF2B5EF4-FFF2-40B4-BE49-F238E27FC236}">
                <a16:creationId xmlns:a16="http://schemas.microsoft.com/office/drawing/2014/main" id="{EBFC5812-9F3F-0C86-579F-AF59C50FC2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2604294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09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004F8BE-175E-DE4D-AB64-D59874B2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Closed Circuits</a:t>
            </a:r>
            <a:endParaRPr lang="en-US" dirty="0"/>
          </a:p>
        </p:txBody>
      </p:sp>
      <p:pic>
        <p:nvPicPr>
          <p:cNvPr id="4" name="内容占位符 3" descr="图示  描述已自动生成">
            <a:extLst>
              <a:ext uri="{FF2B5EF4-FFF2-40B4-BE49-F238E27FC236}">
                <a16:creationId xmlns:a16="http://schemas.microsoft.com/office/drawing/2014/main" id="{082C0BED-3D5D-C24E-C7B6-C03DDB7025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78048" y="1825625"/>
            <a:ext cx="3901904" cy="4351338"/>
          </a:xfrm>
          <a:prstGeom prst="rect">
            <a:avLst/>
          </a:prstGeom>
          <a:noFill/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8B480EB-3723-F700-A4BE-DCB5C25A59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14522"/>
            <a:ext cx="5181600" cy="417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0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E9333-0EFE-B8E6-E3FB-9051F116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The Power Source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DF61CAC-08CA-241B-9DC9-CDC470808D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96465" y="2536285"/>
            <a:ext cx="4065070" cy="2930018"/>
          </a:xfrm>
          <a:prstGeom prst="rect">
            <a:avLst/>
          </a:prstGeom>
        </p:spPr>
      </p:pic>
      <p:pic>
        <p:nvPicPr>
          <p:cNvPr id="2050" name="Picture 2" descr="Schematic representation of the movement of ions and electrons during... |  Download Scientific Diagram">
            <a:extLst>
              <a:ext uri="{FF2B5EF4-FFF2-40B4-BE49-F238E27FC236}">
                <a16:creationId xmlns:a16="http://schemas.microsoft.com/office/drawing/2014/main" id="{7A2D9BCE-5BFC-A6E4-9D2A-939423E9130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998" y="2047088"/>
            <a:ext cx="6997002" cy="383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52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518C7-4138-F9B9-6CE1-5D1F516F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Electromotive Force (EMF)</a:t>
            </a:r>
          </a:p>
        </p:txBody>
      </p:sp>
      <p:sp xmlns:a14="http://schemas.microsoft.com/office/drawing/2010/main">
        <p:nvSpPr>
          <p:cNvPr id="3" name="内容占位符 2">
            <a:extLst>
              <a:ext uri="{FF2B5EF4-FFF2-40B4-BE49-F238E27FC236}">
                <a16:creationId xmlns:a16="http://schemas.microsoft.com/office/drawing/2014/main" id="{93377CAE-9ABA-B075-ED03-1B586CF91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Physical meaning: a quantity that measures how strongly a source converts other forms of energy into electric potential energy.</a:t>
            </a:r>
            <a:endParaRPr kumimoji="1" lang="en-US" altLang="zh-CN" dirty="0"/>
          </a:p>
          <a:p>
            <a:r>
              <a:rPr lang="zh-CN" altLang="en-US" dirty="0">
                <a:sym typeface="+mn-ea"/>
              </a:rPr>
              <a:t>Definition: the ratio of the work done by non-electrostatic forces to the charge moved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  <a:p>
            <a:pPr lvl="1"/>
            <a:r>
              <a:rPr kumimoji="1" lang="en-US" altLang="zh-CN" b="0" i="1" smtClean="0">
                <a:solidFill>
                  <a:srgbClr val="FF0000"/>
                </a:solidFill>
                <a:latin typeface="Cambria Math" panose="02040503050406030204" pitchFamily="18" charset="0"/>
              </a:rPr>
              <a:t>𝐸</a:t>
            </a:r>
            <a:r>
              <a:rPr kumimoji="1" lang="en-US" altLang="zh-CN" b="0" i="1" smtClean="0">
                <a:solidFill>
                  <a:srgbClr val="FF0000"/>
                </a:solidFill>
                <a:latin typeface="Cambria Math" panose="02040503050406030204" pitchFamily="18" charset="0"/>
              </a:rPr>
              <a:t>=</a:t>
            </a:r>
            <a:r>
              <a:rPr kumimoji="1" lang="en-US" altLang="zh-CN" b="0" i="1" smtClean="0">
                <a:solidFill>
                  <a:srgbClr val="FF0000"/>
                </a:solidFill>
                <a:latin typeface="Cambria Math" panose="02040503050406030204" pitchFamily="18" charset="0"/>
              </a:rPr>
              <a:t>𝑊</a:t>
            </a:r>
            <a:r>
              <a:rPr kumimoji="1" lang="en-US" altLang="zh-CN" b="0" i="1" smtClean="0">
                <a:solidFill>
                  <a:srgbClr val="FF0000"/>
                </a:solidFill>
                <a:latin typeface="Cambria Math" panose="02040503050406030204" pitchFamily="18" charset="0"/>
              </a:rPr>
              <a:t>/</a:t>
            </a:r>
            <a:r>
              <a:rPr kumimoji="1" lang="en-US" altLang="zh-CN" b="0" i="1" smtClean="0">
                <a:solidFill>
                  <a:srgbClr val="FF0000"/>
                </a:solidFill>
                <a:latin typeface="Cambria Math" panose="02040503050406030204" pitchFamily="18" charset="0"/>
              </a:rPr>
              <a:t>𝑞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zh-CN" altLang="en-US" dirty="0"/>
              <a:t>Unit: volt (V)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046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613B7-7B34-C573-8A77-36A17766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zh-CN" altLang="en-US" dirty="0"/>
              <a:t>EMF and Voltage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8601BB2-7900-529C-FCB8-60166576F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898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FA4D7-4204-E0C3-1274-2529E1C8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EMF and Voltage</a:t>
            </a:r>
          </a:p>
        </p:txBody>
      </p:sp>
      <p:pic>
        <p:nvPicPr>
          <p:cNvPr id="1026" name="Picture 2" descr="Electric - Hydraulic Analogy: Charge, Voltage, and Current (introduction)">
            <a:extLst>
              <a:ext uri="{FF2B5EF4-FFF2-40B4-BE49-F238E27FC236}">
                <a16:creationId xmlns:a16="http://schemas.microsoft.com/office/drawing/2014/main" id="{73885D81-4056-0BC7-2925-B0674F0DACD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3969"/>
            <a:ext cx="51816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ctric current « KaiserScience">
            <a:extLst>
              <a:ext uri="{FF2B5EF4-FFF2-40B4-BE49-F238E27FC236}">
                <a16:creationId xmlns:a16="http://schemas.microsoft.com/office/drawing/2014/main" id="{B2382B35-22C0-0141-FED4-5CD7689855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50" y="2547144"/>
            <a:ext cx="39751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94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4" name="yt_shape_16144"/>
          <p:cNvSpPr txBox="1"/>
          <p:nvPr/>
        </p:nvSpPr>
        <p:spPr>
          <a:xfrm>
            <a:off x="149829" y="482514"/>
            <a:ext cx="1095171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Example 1 (Understanding EMF): Which statement is correct? (    )</a:t>
            </a:r>
          </a:p>
        </p:txBody>
      </p:sp>
      <p:graphicFrame>
        <p:nvGraphicFramePr>
          <p:cNvPr id="16145" name="yt_table_16145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149895" y="1066525"/>
          <a:ext cx="11737305" cy="2389632"/>
        </p:xfrm>
        <a:graphic>
          <a:graphicData uri="http://schemas.openxmlformats.org/drawingml/2006/table">
            <a:tbl>
              <a:tblPr/>
              <a:tblGrid>
                <a:gridCol w="11737305">
                  <a:extLst>
                    <a:ext uri="{9D8B030D-6E8A-4147-A177-3AD203B41FA5}">
                      <a16:colId xmlns:a16="http://schemas.microsoft.com/office/drawing/2014/main" val="10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A. The EMF of a source is proportional to the work done by non-electrostatic forces inside it, and inversely proportional to the charge that passes through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B. EMF has the same unit as voltage, so EMF is just the voltage between the two terminals of a source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C. The more work the non-electrostatic forces do, the greater the EMF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D. The EMF is determined by the nature of the non-electrostatic forces inside the source</a:t>
                      </a:r>
                      <a:r>
                        <a:rPr lang="en-US" b="1" sz="2800">
                          <a:solidFill>
                            <a:srgbClr val="C00000"/>
                          </a:solidFill>
                        </a:rPr>
                        <a:t>　√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7"/>
                  </a:ext>
                </a:extLst>
              </a:tr>
            </a:tbl>
          </a:graphicData>
        </a:graphic>
      </p:graphicFrame>
      <p:sp xmlns:a14="http://schemas.microsoft.com/office/drawing/2010/main">
        <p:nvSpPr>
          <p:cNvPr id="6" name="yt_shape_16148"/>
          <p:cNvSpPr txBox="1"/>
          <p:nvPr/>
        </p:nvSpPr>
        <p:spPr>
          <a:xfrm>
            <a:off x="149829" y="5200000"/>
            <a:ext cx="11924914" cy="1600000"/>
          </a:xfrm>
          <a:prstGeom prst="rect">
            <a:avLst/>
          </a:prstGeom>
        </p:spPr>
        <p:txBody>
          <a:bodyPr vert="horz" wrap="square" lIns="0" tIns="0" rIns="0" bIns="0" rtlCol="0">
            <a:normAutofit fontScale="68000" lnSpcReduction="20000"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Solution: E＝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𝑊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𝑞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is the defining equation of EMF; it does not mean E is proportional to W or inversely proportional to q. The EMF is determined by the nature of the non-electrostatic forces inside the source and does not depend on how much work they do, so A and C are wrong and D is correct. Although EMF has the same unit as voltage, EMF corresponds to the work done by non-electrostatic forces, while voltage corresponds to the work done by electrostatic forces, so B is wrong.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</a:p>
        </p:txBody>
      </p:sp>
    </p:spTree>
  </p:cSld>
  <p:clrMapOvr>
    <a:masterClrMapping/>
  </p:clrMapOvr>
  <p:transition xmlns:p14="http://schemas.microsoft.com/office/powerpoint/2010/main" xmlns:p15="http://schemas.microsoft.com/office/powerpoint/2012/main" spd="slow" p14:dur="1250">
    <p15:prstTrans prst="pageCurlDouble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0" name="yt_shape_16150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Example 2: A lead–acid battery has an EMF of 2 V; a dry cell, 1.5 V. Which of the following is correct? (    )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</a:p>
        </p:txBody>
      </p:sp>
      <p:graphicFrame>
        <p:nvGraphicFramePr>
          <p:cNvPr id="16151" name="yt_table_1615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54226"/>
          <a:ext cx="11543919" cy="2389632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A. The voltage between the terminals of the lead–acid battery is 2 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B. The dry cell can convert 1.5 J of chemical energy into electrical energy in 1 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C. The EMF of the lead–acid battery changes when it is connected to different circuits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D. For the same charge passing through the circuit, the non-electrostatic forces do more work in the lead–acid battery than in the dry cell</a:t>
                      </a:r>
                      <a:r>
                        <a:rPr lang="en-US" b="1" sz="2800">
                          <a:solidFill>
                            <a:srgbClr val="C00000"/>
                          </a:solidFill>
                        </a:rPr>
                        <a:t>　√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1"/>
                  </a:ext>
                </a:extLst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xmlns:p15="http://schemas.microsoft.com/office/powerpoint/2012/main" spd="slow" p14:dur="1250">
    <p15:prstTrans prst="pageCurlDouble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A6CBD-CAF0-CCF7-67E9-D901F091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zh-CN" altLang="en-US" dirty="0"/>
              <a:t>Write down the relationship between voltage, current and resistance in the circuit</a:t>
            </a:r>
          </a:p>
        </p:txBody>
      </p:sp>
      <p:pic>
        <p:nvPicPr>
          <p:cNvPr id="7" name="内容占位符 3" descr="墙上的钟表  AI 生成的内容可能不正确。">
            <a:extLst>
              <a:ext uri="{FF2B5EF4-FFF2-40B4-BE49-F238E27FC236}">
                <a16:creationId xmlns:a16="http://schemas.microsoft.com/office/drawing/2014/main" id="{D085FBB0-3C9F-2438-9632-7F13775B63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9593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4FD66-E3DB-1AFD-7880-7E5CA37C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How does the electric potential change?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D518C37-FFB3-6EC3-D9CE-DE1C30ED03F9}"/>
              </a:ext>
            </a:extLst>
          </p:cNvPr>
          <p:cNvGrpSpPr/>
          <p:nvPr/>
        </p:nvGrpSpPr>
        <p:grpSpPr>
          <a:xfrm>
            <a:off x="3476445" y="2205637"/>
            <a:ext cx="5239110" cy="3591314"/>
            <a:chOff x="13058" y="3699"/>
            <a:chExt cx="4846" cy="340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14A4EA9-DEF1-FE21-FED0-E096D9BD6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058" y="3699"/>
              <a:ext cx="4846" cy="3402"/>
            </a:xfrm>
            <a:prstGeom prst="rect">
              <a:avLst/>
            </a:prstGeom>
          </p:spPr>
        </p:pic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B2A32A4-D40A-1470-EFF1-4CC619CD16F8}"/>
                </a:ext>
              </a:extLst>
            </p:cNvPr>
            <p:cNvGrpSpPr/>
            <p:nvPr/>
          </p:nvGrpSpPr>
          <p:grpSpPr>
            <a:xfrm>
              <a:off x="15610" y="6670"/>
              <a:ext cx="227" cy="227"/>
              <a:chOff x="14759" y="2021"/>
              <a:chExt cx="283" cy="283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365D03C-9486-720A-5EF4-EA79E22DB6FF}"/>
                  </a:ext>
                </a:extLst>
              </p:cNvPr>
              <p:cNvSpPr/>
              <p:nvPr/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5A718FC7-73FB-C069-DF43-1B8681C1BDDA}"/>
                  </a:ext>
                </a:extLst>
              </p:cNvPr>
              <p:cNvCxnSpPr/>
              <p:nvPr/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56FCDD5-B10D-62F6-1A68-E13CF99C560D}"/>
                </a:ext>
              </a:extLst>
            </p:cNvPr>
            <p:cNvGrpSpPr/>
            <p:nvPr/>
          </p:nvGrpSpPr>
          <p:grpSpPr>
            <a:xfrm>
              <a:off x="17538" y="6392"/>
              <a:ext cx="227" cy="227"/>
              <a:chOff x="14759" y="2021"/>
              <a:chExt cx="283" cy="283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3EDBCC9A-4B43-E5EE-4797-FE794101D9E2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38132CF-17A2-279A-8331-5C816CB825DD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539BDC5-79A8-0A53-BFFC-1D81E219BC78}"/>
                </a:ext>
              </a:extLst>
            </p:cNvPr>
            <p:cNvGrpSpPr/>
            <p:nvPr/>
          </p:nvGrpSpPr>
          <p:grpSpPr>
            <a:xfrm>
              <a:off x="17191" y="3724"/>
              <a:ext cx="227" cy="227"/>
              <a:chOff x="14759" y="2021"/>
              <a:chExt cx="283" cy="283"/>
            </a:xfrm>
          </p:grpSpPr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3E083161-DDE1-FB49-EB0B-FC9E4D7B83FC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CF9A1D8-E59D-870D-06FD-6E4FA31B23F7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1F8FDF3-C5B1-F9F9-163F-1984493FDE5D}"/>
                </a:ext>
              </a:extLst>
            </p:cNvPr>
            <p:cNvGrpSpPr/>
            <p:nvPr/>
          </p:nvGrpSpPr>
          <p:grpSpPr>
            <a:xfrm>
              <a:off x="15627" y="6670"/>
              <a:ext cx="227" cy="227"/>
              <a:chOff x="14759" y="2021"/>
              <a:chExt cx="283" cy="283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A4AF2C9A-04E2-D822-AEDA-D5EEC4BFE1AF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2418662-8F5A-AD37-F973-06B52021D3BA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F1BE336-B45A-D690-3A93-06F577B314E6}"/>
                </a:ext>
              </a:extLst>
            </p:cNvPr>
            <p:cNvGrpSpPr/>
            <p:nvPr/>
          </p:nvGrpSpPr>
          <p:grpSpPr>
            <a:xfrm>
              <a:off x="14534" y="3724"/>
              <a:ext cx="227" cy="227"/>
              <a:chOff x="14759" y="2021"/>
              <a:chExt cx="283" cy="283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A07C2D69-CA03-E89D-1816-5FB7F44A1F7A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078D0BB-21DB-3088-7665-35D20444CE47}"/>
                  </a:ext>
                </a:extLst>
              </p:cNvPr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6E332BA-C0E2-E139-4A92-1E06BBF5D08D}"/>
                </a:ext>
              </a:extLst>
            </p:cNvPr>
            <p:cNvGrpSpPr/>
            <p:nvPr/>
          </p:nvGrpSpPr>
          <p:grpSpPr>
            <a:xfrm>
              <a:off x="13126" y="4037"/>
              <a:ext cx="227" cy="227"/>
              <a:chOff x="14759" y="2021"/>
              <a:chExt cx="283" cy="283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C19A08D-A7A5-2D9C-D365-5C5D6FF89308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10ADADB-69CF-4D2D-89C4-65F6455F54BF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4AD8D7B-2C7C-3BA1-0D16-52B38413DB15}"/>
                </a:ext>
              </a:extLst>
            </p:cNvPr>
            <p:cNvGrpSpPr/>
            <p:nvPr/>
          </p:nvGrpSpPr>
          <p:grpSpPr>
            <a:xfrm>
              <a:off x="13110" y="5202"/>
              <a:ext cx="227" cy="227"/>
              <a:chOff x="14759" y="2021"/>
              <a:chExt cx="283" cy="283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342F7200-191B-F0A5-11E7-E96A612B0DCF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9A5EEAE6-A0B5-12A0-13F4-6D181AA8105E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F1C0169-A076-11EE-40EA-932F0E5D2DCE}"/>
                </a:ext>
              </a:extLst>
            </p:cNvPr>
            <p:cNvGrpSpPr/>
            <p:nvPr/>
          </p:nvGrpSpPr>
          <p:grpSpPr>
            <a:xfrm>
              <a:off x="13404" y="6670"/>
              <a:ext cx="227" cy="227"/>
              <a:chOff x="14759" y="2021"/>
              <a:chExt cx="283" cy="283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541060B-5E5E-AAE9-3364-86D10C625EA3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4759" y="2021"/>
                <a:ext cx="283" cy="283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F4D61273-CC2A-ECB7-5321-1EA98580052A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4793" y="2163"/>
                <a:ext cx="227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AF83D5B-B63F-CE69-FAE1-B93598036C3D}"/>
                </a:ext>
              </a:extLst>
            </p:cNvPr>
            <p:cNvCxnSpPr/>
            <p:nvPr/>
          </p:nvCxnSpPr>
          <p:spPr>
            <a:xfrm>
              <a:off x="15854" y="6784"/>
              <a:ext cx="158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F1B81D3-DC0F-381E-A60B-D614D530984D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16200000">
              <a:off x="17264" y="6024"/>
              <a:ext cx="73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2CAD8BE-B94C-9407-FA32-00AF1962EF02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15857" y="3830"/>
              <a:ext cx="136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E01BD9B-0E83-ABCA-230F-36A11191EE72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>
              <a:off x="13431" y="3838"/>
              <a:ext cx="113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D2C8CE45-A694-6CCB-34E3-529279776CA4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rot="5400000" flipV="1">
              <a:off x="12813" y="4689"/>
              <a:ext cx="85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C2C364E-8F33-B64B-1D7A-6007F5A01981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rot="5400000" flipV="1">
              <a:off x="12671" y="5996"/>
              <a:ext cx="113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F71F1BB-4D54-63FA-DCF4-7DC5EC9A77EC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13631" y="6784"/>
              <a:ext cx="147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26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BF0F0-8388-0A5A-B271-ADB6E765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Inside the Source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EBA2EA-B283-D7F7-7E40-179D6324EA8B}"/>
              </a:ext>
            </a:extLst>
          </p:cNvPr>
          <p:cNvGrpSpPr/>
          <p:nvPr/>
        </p:nvGrpSpPr>
        <p:grpSpPr>
          <a:xfrm>
            <a:off x="4614862" y="3281204"/>
            <a:ext cx="2962275" cy="1440180"/>
            <a:chOff x="11842" y="4915"/>
            <a:chExt cx="4665" cy="2268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7B16571-CD9B-8817-3DBF-223F56930374}"/>
                </a:ext>
              </a:extLst>
            </p:cNvPr>
            <p:cNvCxnSpPr/>
            <p:nvPr/>
          </p:nvCxnSpPr>
          <p:spPr>
            <a:xfrm flipH="1">
              <a:off x="12978" y="4915"/>
              <a:ext cx="0" cy="22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AF7D7A8-34BB-5261-1E05-9EEF304A30D2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16200000" flipH="1">
              <a:off x="12409" y="5482"/>
              <a:ext cx="0" cy="1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4296F5A-A1CD-EEC9-ACEC-663BC85CDF99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15373" y="5199"/>
              <a:ext cx="0" cy="170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AB7D37E-B467-7ECC-0E9B-B388A2C7B5D3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rot="16200000" flipH="1">
              <a:off x="15940" y="5482"/>
              <a:ext cx="0" cy="1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3DE7595-5AF5-4FE4-6919-A97256EAB7C4}"/>
                </a:ext>
              </a:extLst>
            </p:cNvPr>
            <p:cNvSpPr txBox="1"/>
            <p:nvPr/>
          </p:nvSpPr>
          <p:spPr>
            <a:xfrm>
              <a:off x="12413" y="5295"/>
              <a:ext cx="58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+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794322-6CA7-0D5C-A4A3-ABD784F9176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5373" y="5244"/>
              <a:ext cx="58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/>
                <a:t>-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1AEE950-BADA-81AF-2A8E-08712C3C7C79}"/>
                </a:ext>
              </a:extLst>
            </p:cNvPr>
            <p:cNvGrpSpPr/>
            <p:nvPr/>
          </p:nvGrpSpPr>
          <p:grpSpPr>
            <a:xfrm>
              <a:off x="13020" y="5924"/>
              <a:ext cx="226" cy="226"/>
              <a:chOff x="12186" y="8172"/>
              <a:chExt cx="226" cy="226"/>
            </a:xfrm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EFAA7C47-9CA4-D91E-2C53-F1D54CC4E81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2186" y="8172"/>
                <a:ext cx="227" cy="227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E1A8AF12-ED38-A7F4-16C4-F220E3EDEBB6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12214" y="8280"/>
                <a:ext cx="18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171A702-CCE6-92D7-91CA-E1A6E45080FE}"/>
                </a:ext>
              </a:extLst>
            </p:cNvPr>
            <p:cNvGrpSpPr/>
            <p:nvPr/>
          </p:nvGrpSpPr>
          <p:grpSpPr>
            <a:xfrm>
              <a:off x="15095" y="5924"/>
              <a:ext cx="226" cy="226"/>
              <a:chOff x="12186" y="8172"/>
              <a:chExt cx="226" cy="226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A3389AB7-5B34-0DB4-38C8-71EF2AA43A10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2186" y="8172"/>
                <a:ext cx="227" cy="227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00E631C1-462B-0221-11F6-791BAEBC5965}"/>
                  </a:ext>
                </a:extLst>
              </p:cNvPr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12214" y="8280"/>
                <a:ext cx="18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C020661F-6C46-F43C-0702-673677ED0F35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>
              <a:off x="13288" y="6032"/>
              <a:ext cx="175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763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9EABA-FE21-2226-BDC6-2246BC97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Non-electrostatic Force</a:t>
            </a:r>
            <a:endParaRPr 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5D0A65F-95BB-CE75-9593-0651325B95D0}"/>
              </a:ext>
            </a:extLst>
          </p:cNvPr>
          <p:cNvGrpSpPr/>
          <p:nvPr/>
        </p:nvGrpSpPr>
        <p:grpSpPr>
          <a:xfrm>
            <a:off x="4614862" y="3282758"/>
            <a:ext cx="2962275" cy="1440180"/>
            <a:chOff x="8288020" y="2195830"/>
            <a:chExt cx="2962275" cy="144018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B7BC9739-3AD3-10A4-ECA4-AF4E4D2EB945}"/>
                </a:ext>
              </a:extLst>
            </p:cNvPr>
            <p:cNvGrpSpPr/>
            <p:nvPr/>
          </p:nvGrpSpPr>
          <p:grpSpPr>
            <a:xfrm>
              <a:off x="8288020" y="2195830"/>
              <a:ext cx="2962275" cy="1440180"/>
              <a:chOff x="11842" y="4915"/>
              <a:chExt cx="4665" cy="2268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299DEE1E-C0AC-3CE0-D433-12B7E4132D87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>
              <a:xfrm flipH="1">
                <a:off x="12978" y="4915"/>
                <a:ext cx="0" cy="22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4D54938-795E-7A05-14FD-E36837350064}"/>
                  </a:ext>
                </a:extLst>
              </p:cNvPr>
              <p:cNvCxnSpPr/>
              <p:nvPr>
                <p:custDataLst>
                  <p:tags r:id="rId7"/>
                </p:custDataLst>
              </p:nvPr>
            </p:nvCxnSpPr>
            <p:spPr>
              <a:xfrm rot="16200000" flipH="1">
                <a:off x="12409" y="5482"/>
                <a:ext cx="0" cy="113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EAA644F-BE82-CBB3-BB06-43C1A6F9D9A9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 flipH="1">
                <a:off x="15373" y="4915"/>
                <a:ext cx="0" cy="22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7650AD2-9914-A3C6-FB9F-6FB9949792FF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 rot="16200000" flipH="1">
                <a:off x="15940" y="5482"/>
                <a:ext cx="0" cy="113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49836F2-2FFA-8938-40D1-A1D013945FB7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413" y="5295"/>
                <a:ext cx="58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/>
                  <a:t>+</a:t>
                </a: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D82524F-ABB5-4611-C684-E59EC5E0DB29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5373" y="5244"/>
                <a:ext cx="580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/>
                  <a:t>-</a:t>
                </a:r>
              </a:p>
            </p:txBody>
          </p: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B5CCE438-CFFE-D053-67D4-EA5FA2CCAF5F}"/>
                  </a:ext>
                </a:extLst>
              </p:cNvPr>
              <p:cNvGrpSpPr/>
              <p:nvPr/>
            </p:nvGrpSpPr>
            <p:grpSpPr>
              <a:xfrm>
                <a:off x="13955" y="5941"/>
                <a:ext cx="227" cy="227"/>
                <a:chOff x="13121" y="8189"/>
                <a:chExt cx="227" cy="227"/>
              </a:xfrm>
            </p:grpSpPr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584E269F-2142-5F25-9CBE-488CDA594546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3121" y="8189"/>
                  <a:ext cx="227" cy="227"/>
                </a:xfrm>
                <a:prstGeom prst="ellipse">
                  <a:avLst/>
                </a:prstGeom>
                <a:noFill/>
                <a:ln w="19050">
                  <a:solidFill>
                    <a:srgbClr val="FFC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701FE47F-036D-FBFA-2A10-F2EFC6AF6FDD}"/>
                    </a:ext>
                  </a:extLst>
                </p:cNvPr>
                <p:cNvCxnSpPr/>
                <p:nvPr>
                  <p:custDataLst>
                    <p:tags r:id="rId13"/>
                  </p:custDataLst>
                </p:nvPr>
              </p:nvCxnSpPr>
              <p:spPr>
                <a:xfrm>
                  <a:off x="13149" y="8297"/>
                  <a:ext cx="182" cy="0"/>
                </a:xfrm>
                <a:prstGeom prst="line">
                  <a:avLst/>
                </a:prstGeom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30F122AB-6161-562B-C918-1B1AD25CB38A}"/>
                </a:ext>
              </a:extLst>
            </p:cNvPr>
            <p:cNvGrpSpPr/>
            <p:nvPr/>
          </p:nvGrpSpPr>
          <p:grpSpPr>
            <a:xfrm>
              <a:off x="9018270" y="2254250"/>
              <a:ext cx="1502410" cy="1334770"/>
              <a:chOff x="14202" y="3941"/>
              <a:chExt cx="2366" cy="2102"/>
            </a:xfrm>
          </p:grpSpPr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8FEDC7D9-8D66-16D6-5014-7D7254519914}"/>
                  </a:ext>
                </a:extLst>
              </p:cNvPr>
              <p:cNvCxnSpPr/>
              <p:nvPr/>
            </p:nvCxnSpPr>
            <p:spPr>
              <a:xfrm>
                <a:off x="14202" y="3941"/>
                <a:ext cx="2367" cy="23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A6E49F26-0A76-8F79-4C0B-1AF971D63761}"/>
                  </a:ext>
                </a:extLst>
              </p:cNvPr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14202" y="4635"/>
                <a:ext cx="2367" cy="2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1255823B-B2D8-7F59-E66B-2120286445E8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4202" y="5328"/>
                <a:ext cx="2367" cy="2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48C5B25C-5FDF-B9F2-BC3F-E210E6066453}"/>
                  </a:ext>
                </a:extLst>
              </p:cNvPr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14202" y="6021"/>
                <a:ext cx="2367" cy="2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44270D2-19FB-9922-E301-D3CF6918A6FB}"/>
                </a:ext>
              </a:extLst>
            </p:cNvPr>
            <p:cNvGrpSpPr/>
            <p:nvPr/>
          </p:nvGrpSpPr>
          <p:grpSpPr>
            <a:xfrm>
              <a:off x="8976995" y="2500630"/>
              <a:ext cx="647700" cy="420370"/>
              <a:chOff x="14139" y="4330"/>
              <a:chExt cx="1020" cy="662"/>
            </a:xfrm>
          </p:grpSpPr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937EFAC-A4F7-FA05-FFC3-E7E7E5DD90A4}"/>
                  </a:ext>
                </a:extLst>
              </p:cNvPr>
              <p:cNvCxnSpPr/>
              <p:nvPr>
                <p:custDataLst>
                  <p:tags r:id="rId2"/>
                </p:custDataLst>
              </p:nvPr>
            </p:nvCxnSpPr>
            <p:spPr>
              <a:xfrm flipH="1">
                <a:off x="14309" y="4992"/>
                <a:ext cx="850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620ED0F-6FED-B389-2D0A-A1168069DD71}"/>
                  </a:ext>
                </a:extLst>
              </p:cNvPr>
              <p:cNvSpPr txBox="1"/>
              <p:nvPr/>
            </p:nvSpPr>
            <p:spPr>
              <a:xfrm>
                <a:off x="14139" y="4330"/>
                <a:ext cx="78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rgbClr val="FF0000"/>
                    </a:solidFill>
                  </a:rPr>
                  <a:t>F</a:t>
                </a:r>
                <a:r>
                  <a:rPr lang="en-US" altLang="zh-CN" b="1" baseline="-2500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F5E22D4-996B-EC96-596B-08D2C0C5C1E0}"/>
                </a:ext>
              </a:extLst>
            </p:cNvPr>
            <p:cNvGrpSpPr/>
            <p:nvPr/>
          </p:nvGrpSpPr>
          <p:grpSpPr>
            <a:xfrm>
              <a:off x="9778365" y="2510790"/>
              <a:ext cx="805180" cy="412115"/>
              <a:chOff x="15193" y="8008"/>
              <a:chExt cx="1268" cy="649"/>
            </a:xfrm>
          </p:grpSpPr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A450E0B8-9889-4D57-D262-CF55CF4AD3D5}"/>
                  </a:ext>
                </a:extLst>
              </p:cNvPr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15193" y="8657"/>
                <a:ext cx="1134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109615-C0B3-84A0-6AA8-1BBF0655660B}"/>
                  </a:ext>
                </a:extLst>
              </p:cNvPr>
              <p:cNvSpPr txBox="1"/>
              <p:nvPr/>
            </p:nvSpPr>
            <p:spPr>
              <a:xfrm>
                <a:off x="15643" y="8008"/>
                <a:ext cx="81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rgbClr val="FF0000"/>
                    </a:solidFill>
                  </a:rPr>
                  <a:t>F</a:t>
                </a:r>
                <a:r>
                  <a:rPr lang="en-US" altLang="zh-CN" b="1" baseline="-25000">
                    <a:solidFill>
                      <a:srgbClr val="FF0000"/>
                    </a:solidFill>
                  </a:rPr>
                  <a:t>ne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3064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A8E3FC9-70EB-4FE5-3A0D-2F570F6BA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76400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6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E137A-EF16-59B9-DE0E-171CD31F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Energy Conversion</a:t>
            </a:r>
            <a:endParaRPr 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FCAAE2E-A9AA-826E-F748-C2F86E89BE45}"/>
              </a:ext>
            </a:extLst>
          </p:cNvPr>
          <p:cNvGrpSpPr/>
          <p:nvPr/>
        </p:nvGrpSpPr>
        <p:grpSpPr>
          <a:xfrm>
            <a:off x="989965" y="2804319"/>
            <a:ext cx="4878070" cy="2393950"/>
            <a:chOff x="1669" y="3718"/>
            <a:chExt cx="7682" cy="3770"/>
          </a:xfrm>
        </p:grpSpPr>
        <p:pic>
          <p:nvPicPr>
            <p:cNvPr id="6" name="图片 2">
              <a:extLst>
                <a:ext uri="{FF2B5EF4-FFF2-40B4-BE49-F238E27FC236}">
                  <a16:creationId xmlns:a16="http://schemas.microsoft.com/office/drawing/2014/main" id="{7D7FCAD7-0856-AF10-F06C-17F1A8ABA38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3526" y="3718"/>
              <a:ext cx="3969" cy="13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B4B118A-C9D0-F61F-4FF4-0C201E81C7F8}"/>
                </a:ext>
              </a:extLst>
            </p:cNvPr>
            <p:cNvSpPr txBox="1"/>
            <p:nvPr/>
          </p:nvSpPr>
          <p:spPr>
            <a:xfrm>
              <a:off x="1669" y="5018"/>
              <a:ext cx="7682" cy="2470"/>
            </a:xfrm>
            <a:prstGeom prst="rect">
              <a:avLst/>
            </a:prstGeom>
            <a:noFill/>
          </p:spPr>
          <p:txBody>
            <a:bodyPr wrap="square" rtlCol="0">
              <a:normAutofit fontScale="75000" lnSpcReduction="20000"/>
            </a:bodyPr>
            <a:lstStyle/>
            <a:p>
              <a:pPr indent="0" fontAlgn="auto">
                <a:lnSpc>
                  <a:spcPct val="200000"/>
                </a:lnSpc>
              </a:pPr>
              <a:r>
                <a:rPr lang="zh-CN" altLang="en-US" sz="2400" dirty="0"/>
                <a:t>In a chemical battery, the non-electrostatic force is chemical in nature; it converts chemical energy into electric potential energy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5CD23A4-D0AD-5F6C-4A3B-845DEFADCD22}"/>
              </a:ext>
            </a:extLst>
          </p:cNvPr>
          <p:cNvGrpSpPr/>
          <p:nvPr/>
        </p:nvGrpSpPr>
        <p:grpSpPr>
          <a:xfrm>
            <a:off x="6381115" y="2088674"/>
            <a:ext cx="4763770" cy="3825240"/>
            <a:chOff x="9917" y="1464"/>
            <a:chExt cx="7502" cy="6024"/>
          </a:xfrm>
        </p:grpSpPr>
        <p:pic>
          <p:nvPicPr>
            <p:cNvPr id="9" name="图片 8" descr="3db18b9931198256fd02fad6c405ec2">
              <a:extLst>
                <a:ext uri="{FF2B5EF4-FFF2-40B4-BE49-F238E27FC236}">
                  <a16:creationId xmlns:a16="http://schemas.microsoft.com/office/drawing/2014/main" id="{915E3AB0-6BB9-FC0F-550F-C1E7C1493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84" y="1464"/>
              <a:ext cx="3969" cy="3554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B6164DB-FD19-33D5-CC17-3A2AF7FA26B7}"/>
                </a:ext>
              </a:extLst>
            </p:cNvPr>
            <p:cNvSpPr txBox="1"/>
            <p:nvPr/>
          </p:nvSpPr>
          <p:spPr>
            <a:xfrm>
              <a:off x="9917" y="5018"/>
              <a:ext cx="7502" cy="2470"/>
            </a:xfrm>
            <a:prstGeom prst="rect">
              <a:avLst/>
            </a:prstGeom>
            <a:noFill/>
          </p:spPr>
          <p:txBody>
            <a:bodyPr wrap="square" rtlCol="0">
              <a:normAutofit fontScale="75000" lnSpcReduction="20000"/>
            </a:bodyPr>
            <a:lstStyle/>
            <a:p>
              <a:pPr indent="0" fontAlgn="auto">
                <a:lnSpc>
                  <a:spcPct val="200000"/>
                </a:lnSpc>
              </a:pPr>
              <a:r>
                <a:rPr lang="zh-CN" altLang="en-US" sz="2400">
                  <a:sym typeface="+mn-ea"/>
                </a:rPr>
                <a:t>In a generator, the non-electrostatic force is electromagnetic; it converts mechanical energy into electric potential 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94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536E5-B05C-F7A3-06EC-85239055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Electromotive Force (EMF)</a:t>
            </a:r>
            <a:endParaRPr lang="en-US" dirty="0"/>
          </a:p>
        </p:txBody>
      </p:sp>
      <p:sp xmlns:a14="http://schemas.microsoft.com/office/drawing/2010/main">
        <p:nvSpPr>
          <p:cNvPr id="3" name="内容占位符 2">
            <a:extLst>
              <a:ext uri="{FF2B5EF4-FFF2-40B4-BE49-F238E27FC236}">
                <a16:creationId xmlns:a16="http://schemas.microsoft.com/office/drawing/2014/main" id="{D91BBF38-D36A-BA42-DB77-51E5BCCC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Physical meaning: a quantity that measures how strongly a source converts other forms of energy into electric potential energy.</a:t>
            </a:r>
            <a:endParaRPr lang="en-US" altLang="zh-CN" dirty="0"/>
          </a:p>
          <a:p>
            <a:r>
              <a:rPr lang="en-US" altLang="zh-CN" b="0" i="1" smtClean="0">
                <a:latin typeface="Cambria Math" panose="02040503050406030204" pitchFamily="18" charset="0"/>
              </a:rPr>
              <a:t>𝐸</a:t>
            </a:r>
            <a:r>
              <a:rPr lang="en-US" altLang="zh-CN" b="0" i="1" smtClean="0">
                <a:latin typeface="Cambria Math" panose="02040503050406030204" pitchFamily="18" charset="0"/>
              </a:rPr>
              <a:t>=</a:t>
            </a:r>
            <a:r>
              <a:rPr lang="en-US" altLang="zh-CN" b="0" i="1" smtClean="0">
                <a:latin typeface="Cambria Math" panose="02040503050406030204" pitchFamily="18" charset="0"/>
              </a:rPr>
              <a:t>𝑊</a:t>
            </a:r>
            <a:r>
              <a:rPr lang="en-US" altLang="zh-CN" b="0" i="1" smtClean="0">
                <a:latin typeface="Cambria Math" panose="02040503050406030204" pitchFamily="18" charset="0"/>
              </a:rPr>
              <a:t>/</a:t>
            </a:r>
            <a:r>
              <a:rPr lang="en-US" altLang="zh-CN" b="0" i="1" smtClean="0">
                <a:latin typeface="Cambria Math" panose="02040503050406030204" pitchFamily="18" charset="0"/>
              </a:rPr>
              <a:t>𝑞</a:t>
            </a:r>
            <a:endParaRPr lang="en-US" altLang="zh-CN" dirty="0"/>
          </a:p>
          <a:p>
            <a:r>
              <a:rPr lang="zh-CN" altLang="en-US" dirty="0"/>
              <a:t>Unit: V</a:t>
            </a:r>
          </a:p>
          <a:p>
            <a:r>
              <a:rPr lang="zh-CN" altLang="en-US" dirty="0"/>
              <a:t>The EMF E of a source is determined by the nature of the source itself; it does not depend on the work W</a:t>
            </a:r>
            <a:r>
              <a:rPr lang="zh-CN" altLang="en-US" dirty="0" baseline="-25000"/>
              <a:t>non</a:t>
            </a:r>
            <a:r>
              <a:rPr lang="zh-CN" altLang="en-US" dirty="0"/>
              <a:t> done by non-electrostatic forces, the charge q moved, or the external circuit.</a:t>
            </a:r>
          </a:p>
        </p:txBody>
      </p:sp>
    </p:spTree>
    <p:extLst>
      <p:ext uri="{BB962C8B-B14F-4D97-AF65-F5344CB8AC3E}">
        <p14:creationId xmlns:p14="http://schemas.microsoft.com/office/powerpoint/2010/main" val="4015714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75A14-333B-F892-2CF8-A447C74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Which of the following statements about EMF is correct? (      )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DD70D9-5645-B08A-114D-D662F86DA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A. EMF is just voltage, and its unit is V</a:t>
            </a:r>
          </a:p>
          <a:p>
            <a:r>
              <a:rPr lang="en-US" altLang="zh-CN" dirty="0"/>
              <a:t>B. A source with a larger EMF must do more work</a:t>
            </a:r>
          </a:p>
          <a:p>
            <a:r>
              <a:rPr lang="en-US" altLang="zh-CN" dirty="0"/>
              <a:t>C. A source with a larger EMF must do work faster</a:t>
            </a:r>
          </a:p>
          <a:p>
            <a:r>
              <a:rPr lang="en-US" altLang="zh-CN" dirty="0"/>
              <a:t>D. The EMF equals the energy the source supplies for each unit of charge passing through the circuit</a:t>
            </a:r>
          </a:p>
        </p:txBody>
      </p:sp>
    </p:spTree>
    <p:extLst>
      <p:ext uri="{BB962C8B-B14F-4D97-AF65-F5344CB8AC3E}">
        <p14:creationId xmlns:p14="http://schemas.microsoft.com/office/powerpoint/2010/main" val="321058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07F6EC-B2B2-05E9-F24D-4116A6A9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A lead–acid battery has an EMF of 2 V; a dry cell has an EMF of 1.5 V. The two batteries are connected to separate circuits, carrying currents of 0.1 A and 0.2 A respectively. Both circuits run for 20 s. How much chemical energy does each source consume? Which battery is better at converting chemical energy into electrical energy?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7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8D5C66A-52F9-6820-4F0A-D48FFEE0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The EMF of a source reflects its ability to convert other forms of energy into electrical energy. Therefore (      )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71E2F5-967F-110B-C380-06E18E1FC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A. EMF is a kind of non-electrostatic force</a:t>
            </a:r>
          </a:p>
          <a:p>
            <a:r>
              <a:rPr lang="en-US" altLang="zh-CN" dirty="0"/>
              <a:t>B. A larger EMF means the source stores more electrical energy</a:t>
            </a:r>
          </a:p>
          <a:p>
            <a:r>
              <a:rPr lang="en-US" altLang="zh-CN" dirty="0"/>
              <a:t>C. The EMF reflects how much work the non-electrostatic forces can do</a:t>
            </a:r>
          </a:p>
          <a:p>
            <a:r>
              <a:rPr lang="en-US" altLang="zh-CN" dirty="0"/>
              <a:t>D. EMF is the voltage across the source in a closed circuit</a:t>
            </a:r>
          </a:p>
        </p:txBody>
      </p:sp>
    </p:spTree>
    <p:extLst>
      <p:ext uri="{BB962C8B-B14F-4D97-AF65-F5344CB8AC3E}">
        <p14:creationId xmlns:p14="http://schemas.microsoft.com/office/powerpoint/2010/main" val="653870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4B13-9786-BBE4-B96A-C20609CE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Take a Closer Look at the Source</a:t>
            </a:r>
            <a:endParaRPr lang="en-US" dirty="0"/>
          </a:p>
        </p:txBody>
      </p:sp>
      <p:pic>
        <p:nvPicPr>
          <p:cNvPr id="24" name="内容占位符 3" descr="图示  描述已自动生成">
            <a:extLst>
              <a:ext uri="{FF2B5EF4-FFF2-40B4-BE49-F238E27FC236}">
                <a16:creationId xmlns:a16="http://schemas.microsoft.com/office/drawing/2014/main" id="{576E2998-3D40-7B91-B818-904167573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3087" y="2648674"/>
            <a:ext cx="2425825" cy="27052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622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C4A5E-AC74-2766-B25E-ACCFF5E0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A source with internal resistance can be treated as an ideal source with no resistance, in series with a resistance r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28E758F-3F3A-BB22-4157-A98615EC4C99}"/>
              </a:ext>
            </a:extLst>
          </p:cNvPr>
          <p:cNvGrpSpPr/>
          <p:nvPr/>
        </p:nvGrpSpPr>
        <p:grpSpPr>
          <a:xfrm>
            <a:off x="3151888" y="3576955"/>
            <a:ext cx="1634400" cy="1080000"/>
            <a:chOff x="3433" y="6972"/>
            <a:chExt cx="2574" cy="1701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C5F521A-08A7-77BB-80B7-9CAEAC06B043}"/>
                </a:ext>
              </a:extLst>
            </p:cNvPr>
            <p:cNvCxnSpPr/>
            <p:nvPr/>
          </p:nvCxnSpPr>
          <p:spPr>
            <a:xfrm>
              <a:off x="3433" y="7823"/>
              <a:ext cx="11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0513D05-71F2-1955-7D86-BDAD1106DA84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 rot="5400000">
              <a:off x="3717" y="7822"/>
              <a:ext cx="170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37C62C1-84B1-1F8F-F136-E9C7BC3B1596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 rot="5400000">
              <a:off x="4300" y="7823"/>
              <a:ext cx="11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B30AAB1-ECA5-15DF-C0E4-5F4C50730D8C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4873" y="7823"/>
              <a:ext cx="11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78D8BD5-6F23-C72F-82B5-2D4864342A35}"/>
                </a:ext>
              </a:extLst>
            </p:cNvPr>
            <p:cNvSpPr txBox="1"/>
            <p:nvPr/>
          </p:nvSpPr>
          <p:spPr>
            <a:xfrm>
              <a:off x="3813" y="7103"/>
              <a:ext cx="51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/>
                <a:t>E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4A7F0DB-D12C-E078-BE23-ED8048A616F1}"/>
                </a:ext>
              </a:extLst>
            </p:cNvPr>
            <p:cNvSpPr txBox="1"/>
            <p:nvPr/>
          </p:nvSpPr>
          <p:spPr>
            <a:xfrm>
              <a:off x="4993" y="7083"/>
              <a:ext cx="45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/>
                <a:t>r</a:t>
              </a:r>
            </a:p>
          </p:txBody>
        </p:sp>
      </p:grpSp>
      <p:sp>
        <p:nvSpPr>
          <p:cNvPr id="11" name="右箭头 19">
            <a:extLst>
              <a:ext uri="{FF2B5EF4-FFF2-40B4-BE49-F238E27FC236}">
                <a16:creationId xmlns:a16="http://schemas.microsoft.com/office/drawing/2014/main" id="{1B652F64-09A5-85CA-7E0F-493CBD53FDA5}"/>
              </a:ext>
            </a:extLst>
          </p:cNvPr>
          <p:cNvSpPr/>
          <p:nvPr/>
        </p:nvSpPr>
        <p:spPr>
          <a:xfrm>
            <a:off x="5416298" y="3938905"/>
            <a:ext cx="558800" cy="3556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643483E-FFC1-B90A-231D-5E8F95142909}"/>
              </a:ext>
            </a:extLst>
          </p:cNvPr>
          <p:cNvGrpSpPr/>
          <p:nvPr/>
        </p:nvGrpSpPr>
        <p:grpSpPr>
          <a:xfrm>
            <a:off x="6627878" y="3429000"/>
            <a:ext cx="2895600" cy="1332000"/>
            <a:chOff x="10641" y="7023"/>
            <a:chExt cx="4560" cy="209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5406A62-0DD4-4B1E-BCA0-922EDE598DF4}"/>
                </a:ext>
              </a:extLst>
            </p:cNvPr>
            <p:cNvGrpSpPr/>
            <p:nvPr/>
          </p:nvGrpSpPr>
          <p:grpSpPr>
            <a:xfrm>
              <a:off x="10641" y="7256"/>
              <a:ext cx="4560" cy="1701"/>
              <a:chOff x="11487" y="7261"/>
              <a:chExt cx="4560" cy="1701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8412465-C8E0-6C1F-183F-A5B5847FF155}"/>
                  </a:ext>
                </a:extLst>
              </p:cNvPr>
              <p:cNvGrpSpPr/>
              <p:nvPr/>
            </p:nvGrpSpPr>
            <p:grpSpPr>
              <a:xfrm>
                <a:off x="11487" y="7261"/>
                <a:ext cx="3235" cy="1701"/>
                <a:chOff x="3433" y="6972"/>
                <a:chExt cx="3235" cy="1701"/>
              </a:xfrm>
            </p:grpSpPr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4EB57B56-964F-C3A6-33CB-9F053CF6093A}"/>
                    </a:ext>
                  </a:extLst>
                </p:cNvPr>
                <p:cNvCxnSpPr/>
                <p:nvPr>
                  <p:custDataLst>
                    <p:tags r:id="rId2"/>
                  </p:custDataLst>
                </p:nvPr>
              </p:nvCxnSpPr>
              <p:spPr>
                <a:xfrm>
                  <a:off x="3433" y="7823"/>
                  <a:ext cx="113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1CCB6EA2-B7E4-DFFE-A576-AFAC2F2D4ABA}"/>
                    </a:ext>
                  </a:extLst>
                </p:cNvPr>
                <p:cNvCxnSpPr/>
                <p:nvPr>
                  <p:custDataLst>
                    <p:tags r:id="rId3"/>
                  </p:custDataLst>
                </p:nvPr>
              </p:nvCxnSpPr>
              <p:spPr>
                <a:xfrm rot="5400000">
                  <a:off x="3717" y="7822"/>
                  <a:ext cx="1701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BBB8E662-97F2-DE30-FCAE-C268637FF768}"/>
                    </a:ext>
                  </a:extLst>
                </p:cNvPr>
                <p:cNvCxnSpPr/>
                <p:nvPr>
                  <p:custDataLst>
                    <p:tags r:id="rId4"/>
                  </p:custDataLst>
                </p:nvPr>
              </p:nvCxnSpPr>
              <p:spPr>
                <a:xfrm rot="5400000">
                  <a:off x="4300" y="7823"/>
                  <a:ext cx="113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20FD2C6C-7592-F004-0FD3-C757E90534F4}"/>
                    </a:ext>
                  </a:extLst>
                </p:cNvPr>
                <p:cNvCxnSpPr/>
                <p:nvPr>
                  <p:custDataLst>
                    <p:tags r:id="rId5"/>
                  </p:custDataLst>
                </p:nvPr>
              </p:nvCxnSpPr>
              <p:spPr>
                <a:xfrm>
                  <a:off x="4873" y="7823"/>
                  <a:ext cx="1134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E8B22D1-5F69-1FE3-8171-AD0F24F070F2}"/>
                    </a:ext>
                  </a:extLst>
                </p:cNvPr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813" y="7103"/>
                  <a:ext cx="514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/>
                    <a:t>E</a:t>
                  </a: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CC1BC51-E0D4-73C7-5820-539B181214DD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6213" y="6983"/>
                  <a:ext cx="455" cy="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/>
                    <a:t>r</a:t>
                  </a:r>
                </a:p>
              </p:txBody>
            </p: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ED4521-70D6-655B-C0D5-57D6CE547EC8}"/>
                  </a:ext>
                </a:extLst>
              </p:cNvPr>
              <p:cNvSpPr/>
              <p:nvPr/>
            </p:nvSpPr>
            <p:spPr>
              <a:xfrm>
                <a:off x="14067" y="7923"/>
                <a:ext cx="840" cy="3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287E708E-6200-A0BB-3A60-32FD3C53C228}"/>
                  </a:ext>
                </a:extLst>
              </p:cNvPr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14913" y="8097"/>
                <a:ext cx="11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DD9CA81-8857-84D4-7214-6FAFE4AB096E}"/>
                </a:ext>
              </a:extLst>
            </p:cNvPr>
            <p:cNvSpPr/>
            <p:nvPr/>
          </p:nvSpPr>
          <p:spPr>
            <a:xfrm>
              <a:off x="10924" y="7023"/>
              <a:ext cx="3660" cy="20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037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D7685-EC00-0402-5A45-DA574880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Try to write the relationship between these quantities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387985A-D796-C690-F17C-0CD94CA167F3}"/>
              </a:ext>
            </a:extLst>
          </p:cNvPr>
          <p:cNvGrpSpPr/>
          <p:nvPr/>
        </p:nvGrpSpPr>
        <p:grpSpPr>
          <a:xfrm>
            <a:off x="4656455" y="2825909"/>
            <a:ext cx="2879090" cy="2350770"/>
            <a:chOff x="12701" y="4487"/>
            <a:chExt cx="4534" cy="370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385786F-6259-2B5B-4237-D246D1FE0D9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2701" y="4487"/>
              <a:ext cx="4535" cy="3526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E480C6-E236-13FE-163F-DD4BB965495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3693" y="6659"/>
              <a:ext cx="2381" cy="153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726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6E291-8C57-3374-C54B-01BC706A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Terminal Voltage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5DCF654-EFF9-A530-13B2-5E21D325E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3163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7C618-4A9A-E622-1FB7-939A87EF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sz="3400" dirty="0"/>
              <a:t>In the circuit shown, the resistance R = 2.0 Ω, the EMF of the source is 3.0 V, and the internal resistance r = 1.0 Ω. After switch S is closed, the terminal voltage is</a:t>
            </a:r>
            <a:endParaRPr lang="en-US" sz="34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DC1458F-B095-7E92-4E0F-2D0091B88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526" y="1825625"/>
            <a:ext cx="559694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5873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2FED0-16B4-431C-9736-08C7EE51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sz="2800" dirty="0"/>
              <a:t>In the circuit shown, when S is closed the voltmeter and ammeter (both ideal) read 1.6 V and 0.4 A. When S is opened, their readings change by 0.1 V and 0.1 A respectively. Find the EMF and internal resistance of the source.</a:t>
            </a:r>
            <a:endParaRPr lang="en-US" sz="28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CCD8D0F-F280-A78C-A2A3-3D89CCE05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3604" y="1825625"/>
            <a:ext cx="5164792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2953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4" name="yt_shape_16214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Example 4 (Ohm's law with a motor): As shown, the source EMF is E＝6 V. Bulb L is rated “3 V, 0.9 W”. With switch S at position 1 and the rheostat set to R＝8 Ω, bulb L operates normally. With S at position 2, both bulb L and motor M work normally. The motor's coil resistance is R</a:t>
            </a:r>
            <a:r>
              <a:rPr lang="zh-CN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＝2 Ω. Find: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</a:p>
        </p:txBody>
      </p:sp>
      <p:pic>
        <p:nvPicPr>
          <p:cNvPr id="16215" name="yt_image_16215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9072" y="3013074"/>
            <a:ext cx="2553855" cy="197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17" name="yt_shape_16217"/>
          <p:cNvSpPr txBox="1"/>
          <p:nvPr/>
        </p:nvSpPr>
        <p:spPr>
          <a:xfrm>
            <a:off x="324000" y="5036689"/>
            <a:ext cx="305211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(1) the internal resistance of the source;</a:t>
            </a:r>
          </a:p>
        </p:txBody>
      </p:sp>
      <p:sp>
        <p:nvSpPr>
          <p:cNvPr id="16218" name="yt_shape_16218"/>
          <p:cNvSpPr txBox="1"/>
          <p:nvPr/>
        </p:nvSpPr>
        <p:spPr>
          <a:xfrm>
            <a:off x="324000" y="5619674"/>
            <a:ext cx="1702389" cy="5376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Answer: 2 Ω</a:t>
            </a:r>
          </a:p>
        </p:txBody>
      </p:sp>
    </p:spTree>
  </p:cSld>
  <p:clrMapOvr>
    <a:masterClrMapping/>
  </p:clrMapOvr>
  <p:transition xmlns:p14="http://schemas.microsoft.com/office/powerpoint/2010/main" xmlns:p15="http://schemas.microsoft.com/office/powerpoint/2012/main" spd="slow" p14:dur="1250">
    <p15:prstTrans prst="pageCurlDouble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18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14="http://schemas.microsoft.com/office/drawing/2010/main">
        <p:nvSpPr>
          <p:cNvPr id="16219" name="yt_shape_16219"/>
          <p:cNvSpPr txBox="1"/>
          <p:nvPr/>
        </p:nvSpPr>
        <p:spPr>
          <a:xfrm>
            <a:off x="324000" y="467999"/>
            <a:ext cx="7762574" cy="281673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Solution: normal bulb resistance R</a:t>
            </a:r>
            <a:r>
              <a:rPr lang="zh-CN" altLang="zh-CN" sz="2800" b="0" i="0" u="none" baseline="-2500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L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𝑈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rated</a:t>
            </a:r>
            <a:r>
              <a:rPr lang="en-US" altLang="zh-CN" sz="2800" b="0" i="0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2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𝑃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rated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＝10 Ω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The current through the bulb is I＝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𝑃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rated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𝑈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rated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＝0.3 A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With switch S at position 1: E＝I(R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L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＋r＋R)</a:t>
            </a:r>
          </a:p>
        </p:txBody>
      </p:sp>
      <p:sp>
        <p:nvSpPr>
          <p:cNvPr id="16221" name="yt_shape_16221"/>
          <p:cNvSpPr txBox="1"/>
          <p:nvPr/>
        </p:nvSpPr>
        <p:spPr>
          <a:xfrm>
            <a:off x="324000" y="3335520"/>
            <a:ext cx="354744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which gives the internal resistance r＝2 Ω.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14="http://schemas.microsoft.com/office/drawing/2010/main">
        <p:nvSpPr>
          <p:cNvPr id="16224" name="yt_shape_16224"/>
          <p:cNvSpPr txBox="1"/>
          <p:nvPr/>
        </p:nvSpPr>
        <p:spPr>
          <a:xfrm>
            <a:off x="267086" y="1803315"/>
            <a:ext cx="11924914" cy="4091441"/>
          </a:xfrm>
          <a:prstGeom prst="rect">
            <a:avLst/>
          </a:prstGeom>
        </p:spPr>
        <p:txBody>
          <a:bodyPr vert="horz" wrap="square" lIns="0" tIns="0" rIns="0" bIns="0" rtlCol="0">
            <a:normAutofit fontScale="80000" lnSpcReduction="10000"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Solution: with S at position 2 the bulb still works normally, so the current equals that with S at 1. Motor operating voltage U</a:t>
            </a:r>
            <a:r>
              <a:rPr lang="zh-CN" altLang="zh-CN" sz="2800" b="0" i="0" u="none" dirty="0" baseline="-2500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M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＝E－I(R</a:t>
            </a:r>
            <a:r>
              <a:rPr lang="zh-CN" altLang="zh-CN" sz="2800" b="0" i="0" u="none" dirty="0" baseline="-2500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L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＋r)＝2.4 V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Input power of the motor: P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in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＝U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I＝0.72 W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Heating power of the motor: P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heat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＝I</a:t>
            </a:r>
            <a:r>
              <a:rPr lang="zh-CN" altLang="zh-CN" sz="2800" b="0" i="0" u="none" dirty="0" baseline="30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R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＝0.18 W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Output power of the motor: P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out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＝P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in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－P</a:t>
            </a:r>
            <a:r>
              <a:rPr lang="zh-CN" altLang="zh-CN" sz="2800" b="0" i="0" u="none" dirty="0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heat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＝0.54 W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Efficiency of the motor: η＝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𝑃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out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𝑃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in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×100％＝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0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.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54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0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.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72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×100％＝75％.</a:t>
            </a:r>
          </a:p>
        </p:txBody>
      </p:sp>
      <p:sp>
        <p:nvSpPr>
          <p:cNvPr id="3" name="yt_shape_16222"/>
          <p:cNvSpPr txBox="1"/>
          <p:nvPr/>
        </p:nvSpPr>
        <p:spPr>
          <a:xfrm>
            <a:off x="267086" y="543775"/>
            <a:ext cx="70019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(2) the input power, output power and efficiency of the motor.</a:t>
            </a:r>
          </a:p>
        </p:txBody>
      </p:sp>
      <p:sp>
        <p:nvSpPr>
          <p:cNvPr id="4" name="yt_shape_16223"/>
          <p:cNvSpPr txBox="1"/>
          <p:nvPr/>
        </p:nvSpPr>
        <p:spPr>
          <a:xfrm>
            <a:off x="267086" y="1126760"/>
            <a:ext cx="488261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Answers: 0.72 W　0.54 W　75％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24" grpId="0"/>
      <p:bldP spid="4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9" name="yt_shape_16229"/>
          <p:cNvSpPr txBox="1"/>
          <p:nvPr/>
        </p:nvSpPr>
        <p:spPr>
          <a:xfrm>
            <a:off x="4989753" y="545874"/>
            <a:ext cx="2154436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How an Ohmmeter Works</a:t>
            </a:r>
          </a:p>
        </p:txBody>
      </p:sp>
      <p:sp>
        <p:nvSpPr>
          <p:cNvPr id="16230" name="yt_shape_16230"/>
          <p:cNvSpPr txBox="1"/>
          <p:nvPr/>
        </p:nvSpPr>
        <p:spPr>
          <a:xfrm>
            <a:off x="294971" y="1134566"/>
            <a:ext cx="260327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1. Principle of the ohmmeter</a:t>
            </a:r>
          </a:p>
        </p:txBody>
      </p:sp>
      <p:sp>
        <p:nvSpPr>
          <p:cNvPr id="16231" name="yt_shape_16231"/>
          <p:cNvSpPr txBox="1"/>
          <p:nvPr/>
        </p:nvSpPr>
        <p:spPr>
          <a:xfrm>
            <a:off x="294971" y="1718577"/>
            <a:ext cx="448840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(1) Circuit structure: as shown.</a:t>
            </a:r>
          </a:p>
        </p:txBody>
      </p:sp>
      <p:pic>
        <p:nvPicPr>
          <p:cNvPr id="16232" name="yt_image_1623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27" y="2453926"/>
            <a:ext cx="6561887" cy="262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34" name="yt_shape_16234"/>
          <p:cNvSpPr txBox="1"/>
          <p:nvPr/>
        </p:nvSpPr>
        <p:spPr>
          <a:xfrm>
            <a:off x="294971" y="5125098"/>
            <a:ext cx="628377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(2) Measuring principle: Ohm's law for closed circuits.</a:t>
            </a:r>
          </a:p>
        </p:txBody>
      </p:sp>
    </p:spTree>
  </p:cSld>
  <p:clrMapOvr>
    <a:masterClrMapping/>
  </p:clrMapOvr>
  <p:transition xmlns:p14="http://schemas.microsoft.com/office/powerpoint/2010/main" xmlns:p15="http://schemas.microsoft.com/office/powerpoint/2012/main" spd="slow" p14:dur="1250">
    <p15:prstTrans prst="pageCurlDouble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14="http://schemas.microsoft.com/office/drawing/2010/main">
        <p:nvSpPr>
          <p:cNvPr id="16235" name="yt_shape_16235"/>
          <p:cNvSpPr txBox="1"/>
          <p:nvPr/>
        </p:nvSpPr>
        <p:spPr>
          <a:xfrm>
            <a:off x="324071" y="467999"/>
            <a:ext cx="11543998" cy="2131930"/>
          </a:xfrm>
          <a:prstGeom prst="rect">
            <a:avLst/>
          </a:prstGeom>
        </p:spPr>
        <p:txBody>
          <a:bodyPr vert="horz" wrap="square" lIns="0" tIns="0" rIns="0" bIns="0" rtlCol="0">
            <a:normAutofit fontScale="80000" lnSpcReduction="10000"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(3) An ohmmeter is converted from a galvanometer: the current through the meter is I＝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𝐸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(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en-US" altLang="zh-CN" sz="2800" b="0" i="1" baseline="-2500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𝑥</a:t>
            </a:r>
            <a:r>
              <a:rPr lang="zh-CN" altLang="zh-CN" sz="2800" b="0" i="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＋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zh-CN" altLang="zh-CN" sz="2800" b="0" i="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＋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en-US" altLang="zh-CN" sz="2800" b="0" i="0" baseline="-2500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g</a:t>
            </a:r>
            <a:r>
              <a:rPr lang="zh-CN" altLang="zh-CN" sz="2800" b="0" i="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＋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𝑟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)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; 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  <a:sym typeface="_⨹_7_fb413"/>
              </a:rPr>
              <a:t>𝐸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  <a:sym typeface="_⨹_7_fb413"/>
              </a:rPr>
              <a:t>/</a:t>
            </a:r>
            <a: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  <a:sym typeface="_⨹_7_fb413"/>
              </a:rPr>
              <a:t>𝐼</a:t>
            </a:r>
            <a:br>
              <a:rPr lang="en-US" altLang="zh-CN" sz="2800" b="0" i="1">
                <a:solidFill>
                  <a:srgbClr val="010000"/>
                </a:solidFill>
                <a:effectLst/>
                <a:latin typeface="Cambria Math" panose="02040503050406030204" pitchFamily="18" charset="0"/>
                <a:ea typeface="Cambria Math" panose="02040503050406030204" pitchFamily="56" charset="0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－(R＋R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＋r). Each 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 matches one current I, so relabelling the current marks with resistance values makes an ohmmeter.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</a:p>
        </p:txBody>
      </p:sp>
      <p:sp>
        <p:nvSpPr>
          <p:cNvPr id="16237" name="yt_shape_16237"/>
          <p:cNvSpPr txBox="1"/>
          <p:nvPr/>
        </p:nvSpPr>
        <p:spPr>
          <a:xfrm>
            <a:off x="324000" y="2650717"/>
            <a:ext cx="60048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(4) Internal resistance of the ohmmeter: 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int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＝R＋R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＋r.</a:t>
            </a:r>
          </a:p>
        </p:txBody>
      </p:sp>
      <p:sp>
        <p:nvSpPr>
          <p:cNvPr id="16238" name="yt_shape_16238"/>
          <p:cNvSpPr txBox="1"/>
          <p:nvPr/>
        </p:nvSpPr>
        <p:spPr>
          <a:xfrm>
            <a:off x="324071" y="3233702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(5) Zero adjustment: R is a rheostat, also called the zero-adjusting resistor. By adjusting it, the pointer can be set to the “0 Ω” mark.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37" grpId="0"/>
      <p:bldP spid="162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9" name="yt_shape_16239"/>
          <p:cNvSpPr txBox="1"/>
          <p:nvPr/>
        </p:nvSpPr>
        <p:spPr>
          <a:xfrm>
            <a:off x="324000" y="467999"/>
            <a:ext cx="296234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2. Features of the scale markings</a:t>
            </a:r>
          </a:p>
        </p:txBody>
      </p:sp>
      <p:graphicFrame xmlns:a14="http://schemas.microsoft.com/office/drawing/2010/main">
        <p:nvGraphicFramePr>
          <p:cNvPr id="16240" name="yt_table_16240" title="H_452.11505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280457" y="1015688"/>
          <a:ext cx="11543996" cy="51444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2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Mark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How it is set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Position on dial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“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0Ω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”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Probes together; adjust zero knob to full scale; R</a:t>
                      </a:r>
                      <a:r>
                        <a:rPr lang="zh-CN" altLang="zh-CN" sz="2800" b="0" i="0" u="none" dirty="0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＝0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At the full-scale current I</a:t>
                      </a:r>
                      <a:r>
                        <a:rPr lang="zh-CN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g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”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Probes apart; no deflection; R</a:t>
                      </a:r>
                      <a:r>
                        <a:rPr lang="zh-CN" altLang="zh-CN" sz="2800" b="0" i="0" u="none" dirty="0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＝∞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At zero current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8d3df"/>
                        </a:rPr>
                        <a:t>Mid-scale resistance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1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＋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＋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g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At dial centre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“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1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”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Across R</a:t>
                      </a:r>
                      <a:r>
                        <a:rPr lang="zh-CN" altLang="zh-CN" sz="2800" b="0" i="0" u="none" dirty="0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; R</a:t>
                      </a:r>
                      <a:r>
                        <a:rPr lang="zh-CN" altLang="zh-CN" sz="2800" b="0" i="0" u="none" dirty="0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>
                          <a:solidFill>
                            <a:srgbClr val="010000"/>
                          </a:solidFill>
                          <a:effectLst/>
                          <a:latin typeface="Cambria Math" panose="02040503050406030204" pitchFamily="56" charset="0"/>
                          <a:ea typeface="Cambria Math" panose="02040503050406030204" pitchFamily="56" charset="0"/>
                        </a:rPr>
                        <a:t>E</a:t>
                      </a:r>
                      <a:r>
                        <a:rPr lang="en-US" altLang="zh-CN" sz="2800" b="0" i="0">
                          <a:solidFill>
                            <a:srgbClr val="010000"/>
                          </a:solidFill>
                          <a:effectLst/>
                          <a:latin typeface="Cambria Math" panose="02040503050406030204" pitchFamily="56" charset="0"/>
                          <a:ea typeface="Cambria Math" panose="02040503050406030204" pitchFamily="56" charset="0"/>
                        </a:rPr>
                        <a:t>/</a:t>
                      </a:r>
                      <a:r>
                        <a:rPr lang="en-US" altLang="zh-CN" sz="2800" b="0" i="0">
                          <a:solidFill>
                            <a:srgbClr val="010000"/>
                          </a:solidFill>
                          <a:effectLst/>
                          <a:latin typeface="Cambria Math" panose="02040503050406030204" pitchFamily="56" charset="0"/>
                          <a:ea typeface="Cambria Math" panose="02040503050406030204" pitchFamily="56" charset="0"/>
                        </a:rPr>
                        <a:t>I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－(R＋R</a:t>
                      </a:r>
                      <a:r>
                        <a:rPr lang="zh-CN" altLang="zh-CN" sz="2800" b="0" i="0" u="none" dirty="0" baseline="-2500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g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＋r)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At its current I</a:t>
                      </a:r>
                      <a:b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xmlns:p15="http://schemas.microsoft.com/office/powerpoint/2012/main" spd="slow" p14:dur="1250">
    <p15:prstTrans prst="pageCurlDouble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2" name="yt_shape_16242"/>
          <p:cNvSpPr txBox="1"/>
          <p:nvPr/>
        </p:nvSpPr>
        <p:spPr>
          <a:xfrm>
            <a:off x="324000" y="467999"/>
            <a:ext cx="718145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Worked Example: the working principle of an ohmmeter.</a:t>
            </a:r>
          </a:p>
        </p:txBody>
      </p:sp>
      <p:pic>
        <p:nvPicPr>
          <p:cNvPr id="16243" name="yt_image_16243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2423" y="1204374"/>
            <a:ext cx="3267152" cy="198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45" name="yt_shape_16245"/>
          <p:cNvSpPr txBox="1"/>
          <p:nvPr/>
        </p:nvSpPr>
        <p:spPr>
          <a:xfrm>
            <a:off x="324071" y="3242273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(1) Full-scale current I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＝500 μA, dry-cell EMF 1.5 V. Fill in the resistance value for each current mark: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</a:p>
        </p:txBody>
      </p:sp>
      <p:graphicFrame>
        <p:nvGraphicFramePr>
          <p:cNvPr id="16246" name="yt_table_16246" title="H_108.4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00" y="4561693"/>
          <a:ext cx="11543995" cy="1420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4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Current mark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0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μA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μA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500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μA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,isEnd"/>
                        </a:rPr>
                        <a:t>Resistance mark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,isEnd"/>
                        </a:rPr>
                        <a:t>∞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sz="3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2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                        </a:t>
                      </a:r>
                      <a:r>
                        <a:rPr sz="13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100" spc="-100">
                          <a:latin typeface="Times New Roman"/>
                        </a:rPr>
                        <a:t>⁠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sz="3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2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                   </a:t>
                      </a:r>
                      <a:r>
                        <a:rPr sz="1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100" spc="-100">
                          <a:latin typeface="Times New Roman"/>
                        </a:rPr>
                        <a:t>⁠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sz="3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20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800" u="sng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</a:rPr>
                        <a:t> </a:t>
                      </a:r>
                      <a:r>
                        <a:rPr sz="100" spc="-100">
                          <a:latin typeface="Times New Roman"/>
                        </a:rPr>
                        <a:t>⁠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62E4F650-D994-E792-D677-67453374F6A7}"/>
              </a:ext>
            </a:extLst>
          </p:cNvPr>
          <p:cNvSpPr txBox="1"/>
          <p:nvPr/>
        </p:nvSpPr>
        <p:spPr>
          <a:xfrm>
            <a:off x="4417844" y="5390374"/>
            <a:ext cx="1896174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4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5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×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10</a:t>
            </a:r>
            <a:r>
              <a:rPr kumimoji="0" lang="en-US" altLang="zh-CN" sz="2800" b="0" i="0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3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 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CFF05-FD5F-8D36-96ED-18450A3C7965}"/>
              </a:ext>
            </a:extLst>
          </p:cNvPr>
          <p:cNvSpPr txBox="1"/>
          <p:nvPr/>
        </p:nvSpPr>
        <p:spPr>
          <a:xfrm>
            <a:off x="6904232" y="5390374"/>
            <a:ext cx="1540574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2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×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10</a:t>
            </a:r>
            <a:r>
              <a:rPr kumimoji="0" lang="en-US" altLang="zh-CN" sz="2800" b="0" i="0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3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 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F052E1-4349-1650-9553-66C3E210F212}"/>
              </a:ext>
            </a:extLst>
          </p:cNvPr>
          <p:cNvSpPr txBox="1"/>
          <p:nvPr/>
        </p:nvSpPr>
        <p:spPr>
          <a:xfrm>
            <a:off x="9381096" y="5466574"/>
            <a:ext cx="3578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4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14="http://schemas.microsoft.com/office/drawing/2010/main">
        <p:nvSpPr>
          <p:cNvPr id="16248" name="yt_shape_16248"/>
          <p:cNvSpPr txBox="1"/>
          <p:nvPr/>
        </p:nvSpPr>
        <p:spPr>
          <a:xfrm>
            <a:off x="324071" y="468000"/>
            <a:ext cx="11924914" cy="2139380"/>
          </a:xfrm>
          <a:prstGeom prst="rect">
            <a:avLst/>
          </a:prstGeom>
        </p:spPr>
        <p:txBody>
          <a:bodyPr vert="horz" wrap="square" lIns="0" tIns="0" rIns="0" bIns="0" rtlCol="0">
            <a:normAutofit fontScale="80000" lnSpcReduction="10000"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Solution: the mark for current “0” is “∞”; for full-scale “500 μA” it is “0”. When zeroing, I</a:t>
            </a:r>
            <a:r>
              <a:rPr lang="zh-CN" altLang="zh-CN" sz="2800" b="0" i="0" u="none" dirty="0" baseline="-2500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g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＝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𝐸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(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en-US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g</a:t>
            </a:r>
            <a:r>
              <a:rPr lang="zh-CN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＋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𝑟</a:t>
            </a:r>
            <a:r>
              <a:rPr lang="zh-CN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＋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en-US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0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)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,</a:t>
            </a:r>
          </a:p>
        </p:txBody>
      </p:sp>
      <p:sp xmlns:a14="http://schemas.microsoft.com/office/drawing/2010/main">
        <p:nvSpPr>
          <p:cNvPr id="3" name="yt_shape_16250"/>
          <p:cNvSpPr txBox="1"/>
          <p:nvPr/>
        </p:nvSpPr>
        <p:spPr>
          <a:xfrm>
            <a:off x="236913" y="2398400"/>
            <a:ext cx="8785675" cy="440154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which gives the total internal resistance 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int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＋r＋R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𝐸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𝐼</a:t>
            </a:r>
            <a:r>
              <a:rPr lang="en-US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＝3 000 Ω.</a:t>
            </a:r>
          </a:p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When measuring a resistance 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: I＝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𝐸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(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zh-CN" altLang="zh-CN" sz="2800" b="0" i="0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int</a:t>
            </a:r>
            <a:r>
              <a:rPr lang="zh-CN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＋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𝑅</a:t>
            </a:r>
            <a:r>
              <a:rPr lang="en-US" altLang="zh-CN" sz="2800" b="0" i="1" baseline="-25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𝑥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)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,</a:t>
            </a:r>
          </a:p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so 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𝐸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𝐼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int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</a:p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When I＝200 μA: 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＝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1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.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5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V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(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200×1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0</a:t>
            </a:r>
            <a:r>
              <a:rPr lang="en-US" altLang="zh-CN" sz="2800" b="0" i="1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−</a:t>
            </a:r>
            <a:r>
              <a:rPr lang="en-US" altLang="zh-CN" sz="2800" b="0" i="0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6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 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A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)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－3 000 Ω＝4.5×10</a:t>
            </a:r>
            <a:r>
              <a:rPr lang="zh-CN" altLang="zh-CN" sz="2800" b="0" i="0" u="none" baseline="3000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Ω;</a:t>
            </a:r>
          </a:p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when I'＝300 μA: 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'＝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1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.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5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V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(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300×1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0</a:t>
            </a:r>
            <a:r>
              <a:rPr lang="en-US" altLang="zh-CN" sz="2800" b="0" i="1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−</a:t>
            </a:r>
            <a:r>
              <a:rPr lang="en-US" altLang="zh-CN" sz="2800" b="0" i="0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6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 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A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)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－3 000 Ω＝2×10</a:t>
            </a:r>
            <a:r>
              <a:rPr lang="zh-CN" altLang="zh-CN" sz="2800" b="0" i="0" u="none" baseline="3000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Ω.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14="http://schemas.microsoft.com/office/drawing/2010/main">
        <p:nvSpPr>
          <p:cNvPr id="16252" name="yt_shape_16252"/>
          <p:cNvSpPr txBox="1"/>
          <p:nvPr/>
        </p:nvSpPr>
        <p:spPr>
          <a:xfrm>
            <a:off x="324071" y="467999"/>
            <a:ext cx="11543998" cy="1386983"/>
          </a:xfrm>
          <a:prstGeom prst="rect">
            <a:avLst/>
          </a:prstGeom>
        </p:spPr>
        <p:txBody>
          <a:bodyPr vert="horz" wrap="square" lIns="0" tIns="0" rIns="0" bIns="0" rtlCol="0">
            <a:normAutofit fontScale="90000" lnSpcReduction="10000"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(2) The total internal resistance of this ohmmeter is 3 000 Ω. When the pointer deflects to </a:t>
            </a:r>
            <a:r>
              <a:rPr lang="en-US" altLang="zh-CN" sz="2800" b="0" i="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1</a:t>
            </a:r>
            <a:r>
              <a:rPr lang="en-US" altLang="zh-CN" sz="2800" b="0" i="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01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of full scale, the resistance being measured is 6 000 Ω.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</a:p>
        </p:txBody>
      </p:sp>
      <p:sp xmlns:a14="http://schemas.microsoft.com/office/drawing/2010/main">
        <p:nvSpPr>
          <p:cNvPr id="16254" name="yt_shape_16254"/>
          <p:cNvSpPr txBox="1"/>
          <p:nvPr/>
        </p:nvSpPr>
        <p:spPr>
          <a:xfrm>
            <a:off x="324071" y="1905770"/>
            <a:ext cx="11924914" cy="23337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Solution: from (1), the total internal resistance of the ohmmeter is 3 000 Ω. When the pointer deflects to 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1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of full scale, the current through the ohmmeter is I″＝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500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μA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(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5×1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0</a:t>
            </a:r>
            <a:r>
              <a:rPr lang="en-US" altLang="zh-CN" sz="2800" b="0" i="1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−</a:t>
            </a:r>
            <a:r>
              <a:rPr lang="en-US" altLang="zh-CN" sz="2800" b="0" i="0" baseline="3000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4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)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A.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″＝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𝐸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/</a:t>
            </a:r>
            <a:r>
              <a:rPr lang="en-US" altLang="zh-CN" sz="2800" b="0" i="1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Cambria Math" panose="02040503050406030204" pitchFamily="56" charset="0"/>
              </a:rPr>
              <a:t>𝐼</a:t>
            </a:r>
            <a:r>
              <a:rPr lang="zh-CN" altLang="zh-CN" sz="2800" b="0" i="0">
                <a:solidFill>
                  <a:srgbClr val="C00000"/>
                </a:solidFill>
                <a:effectLst/>
                <a:latin typeface="Cambria Math" panose="02040503050406030204" pitchFamily="56" charset="0"/>
                <a:ea typeface="宋体" panose="02040503050406030204" pitchFamily="56" charset="0"/>
              </a:rPr>
              <a:t>″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－R</a:t>
            </a:r>
            <a:r>
              <a:rPr lang="zh-CN" altLang="zh-CN" sz="2800" b="0" i="0" u="none" baseline="-2500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int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＝6 000 Ω.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54" grpId="0" build="allAtOnce"/>
      <p:bldP spid="2" grpId="0" build="allAtOnce"/>
      <p:bldP spid="3" grpId="0" build="allAtOnce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19</TotalTime>
  <Words>1713</Words>
  <Application>Microsoft Macintosh PowerPoint</Application>
  <PresentationFormat>Widescreen</PresentationFormat>
  <Paragraphs>127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方正新报宋_GBK</vt:lpstr>
      <vt:lpstr>仿宋</vt:lpstr>
      <vt:lpstr>微软雅黑</vt:lpstr>
      <vt:lpstr>宋体</vt:lpstr>
      <vt:lpstr>华文细黑</vt:lpstr>
      <vt:lpstr>Arial</vt:lpstr>
      <vt:lpstr>Cambria Math</vt:lpstr>
      <vt:lpstr>Times New Roman</vt:lpstr>
      <vt:lpstr>Office 主题​​</vt:lpstr>
      <vt:lpstr>闭合电路的欧姆定律</vt:lpstr>
      <vt:lpstr>电池为什么会发热？发热量的表达式是什么？</vt:lpstr>
      <vt:lpstr> 闭合电路</vt:lpstr>
      <vt:lpstr>电源</vt:lpstr>
      <vt:lpstr>电动势</vt:lpstr>
      <vt:lpstr>电动势和电压</vt:lpstr>
      <vt:lpstr>电动势和电压</vt:lpstr>
      <vt:lpstr>PowerPoint Presentation</vt:lpstr>
      <vt:lpstr>PowerPoint Presentation</vt:lpstr>
      <vt:lpstr>写出电路中电压，电流，电阻之间的关系</vt:lpstr>
      <vt:lpstr>电势是如何变化的？</vt:lpstr>
      <vt:lpstr>电源内部</vt:lpstr>
      <vt:lpstr>非静电力</vt:lpstr>
      <vt:lpstr>PowerPoint Presentation</vt:lpstr>
      <vt:lpstr>能量转化</vt:lpstr>
      <vt:lpstr>电动势</vt:lpstr>
      <vt:lpstr>下列关于电动势的说法正确的是（      ）</vt:lpstr>
      <vt:lpstr>PowerPoint Presentation</vt:lpstr>
      <vt:lpstr>电源电动势反映了电源把其他形式的能量转化为电能的能力，因此（      ）</vt:lpstr>
      <vt:lpstr>仔细观察电源</vt:lpstr>
      <vt:lpstr>有内阻的电源可以看作一个没有电阻的理想电源与电阻r的串联</vt:lpstr>
      <vt:lpstr>尝试写出其中物理量之间的关系</vt:lpstr>
      <vt:lpstr>路端电压（Terminal Voltage）</vt:lpstr>
      <vt:lpstr>在如图所示的电路中，电阻R=2.0𝛺，电源的电动势3.0V，内电阻r=1.0𝛺，闭合开关S后，路端电压为</vt:lpstr>
      <vt:lpstr>如图所示的电路中，当S闭合时，电压表和电流表（均为理想电表）的示数各为1.6V和0.4A。当S断开时，它们的示数各改变0.1V和0.1A，求电源的电动势和内阻。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2026-06-11T00:51:34Z</dcterms:created>
  <dcterms:modified xsi:type="dcterms:W3CDTF">2026-06-11T01:11:27Z</dcterms:modified>
</cp:coreProperties>
</file>