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8fbe20f8504aaf" /><Relationship Type="http://schemas.openxmlformats.org/officeDocument/2006/relationships/extended-properties" Target="/docProps/app.xml" Id="R8870bb554bd243aa" /><Relationship Type="http://schemas.openxmlformats.org/officeDocument/2006/relationships/officeDocument" Target="/ppt/presentation.xml" Id="Re2c1435fa75f49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5f524ddf14670"/>
  </p:sldMasterIdLst>
  <p:notesMasterIdLst>
    <p:notesMasterId xmlns:r="http://schemas.openxmlformats.org/officeDocument/2006/relationships" r:id="R398a53fd019e4684"/>
  </p:notesMasterIdLst>
  <p:sldIdLst>
    <p:sldId xmlns:r="http://schemas.openxmlformats.org/officeDocument/2006/relationships" id="256" r:id="R7b0e272af7784974"/>
    <p:sldId xmlns:r="http://schemas.openxmlformats.org/officeDocument/2006/relationships" id="257" r:id="R1395cecdcc6448a7"/>
    <p:sldId xmlns:r="http://schemas.openxmlformats.org/officeDocument/2006/relationships" id="258" r:id="R261870aaad184125"/>
    <p:sldId xmlns:r="http://schemas.openxmlformats.org/officeDocument/2006/relationships" id="259" r:id="Rcb81658c36974782"/>
    <p:sldId xmlns:r="http://schemas.openxmlformats.org/officeDocument/2006/relationships" id="260" r:id="R01c3de22095042c2"/>
    <p:sldId xmlns:r="http://schemas.openxmlformats.org/officeDocument/2006/relationships" id="261" r:id="R4dc7bac66c3e40a0"/>
    <p:sldId xmlns:r="http://schemas.openxmlformats.org/officeDocument/2006/relationships" id="262" r:id="Ra31344cad44d4541"/>
    <p:sldId xmlns:r="http://schemas.openxmlformats.org/officeDocument/2006/relationships" id="263" r:id="Rb1bfeeccc53d4297"/>
    <p:sldId xmlns:r="http://schemas.openxmlformats.org/officeDocument/2006/relationships" id="264" r:id="Rfa340f875b3d4b31"/>
    <p:sldId xmlns:r="http://schemas.openxmlformats.org/officeDocument/2006/relationships" id="265" r:id="R846dc153d3394c1c"/>
    <p:sldId xmlns:r="http://schemas.openxmlformats.org/officeDocument/2006/relationships" id="266" r:id="R14cc41cdd13c4285"/>
    <p:sldId xmlns:r="http://schemas.openxmlformats.org/officeDocument/2006/relationships" id="267" r:id="R345b813b58d241c7"/>
    <p:sldId xmlns:r="http://schemas.openxmlformats.org/officeDocument/2006/relationships" id="268" r:id="R5b12946b3a9541b4"/>
    <p:sldId xmlns:r="http://schemas.openxmlformats.org/officeDocument/2006/relationships" id="269" r:id="R6cf1c1411e2449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29b7b153f407f" /><Relationship Type="http://schemas.openxmlformats.org/officeDocument/2006/relationships/slideMaster" Target="/ppt/slideMasters/slideMaster1.xml" Id="R1795f524ddf14670" /><Relationship Type="http://schemas.openxmlformats.org/officeDocument/2006/relationships/notesMaster" Target="/ppt/notesMasters/notesMaster1.xml" Id="R398a53fd019e4684" /><Relationship Type="http://schemas.openxmlformats.org/officeDocument/2006/relationships/presProps" Target="/ppt/presProps.xml" Id="Rc304011f312d4cca" /><Relationship Type="http://schemas.openxmlformats.org/officeDocument/2006/relationships/viewProps" Target="/ppt/viewProps.xml" Id="R8f2c9ded09644cfb" /><Relationship Type="http://schemas.openxmlformats.org/officeDocument/2006/relationships/tableStyles" Target="/ppt/tableStyles.xml" Id="R2a0dd9e2e9404ddd" /><Relationship Type="http://schemas.openxmlformats.org/officeDocument/2006/relationships/slide" Target="/ppt/slides/slide1.xml" Id="R7b0e272af7784974" /><Relationship Type="http://schemas.openxmlformats.org/officeDocument/2006/relationships/slide" Target="/ppt/slides/slide2.xml" Id="R1395cecdcc6448a7" /><Relationship Type="http://schemas.openxmlformats.org/officeDocument/2006/relationships/slide" Target="/ppt/slides/slide3.xml" Id="R261870aaad184125" /><Relationship Type="http://schemas.openxmlformats.org/officeDocument/2006/relationships/slide" Target="/ppt/slides/slide4.xml" Id="Rcb81658c36974782" /><Relationship Type="http://schemas.openxmlformats.org/officeDocument/2006/relationships/slide" Target="/ppt/slides/slide5.xml" Id="R01c3de22095042c2" /><Relationship Type="http://schemas.openxmlformats.org/officeDocument/2006/relationships/slide" Target="/ppt/slides/slide6.xml" Id="R4dc7bac66c3e40a0" /><Relationship Type="http://schemas.openxmlformats.org/officeDocument/2006/relationships/slide" Target="/ppt/slides/slide7.xml" Id="Ra31344cad44d4541" /><Relationship Type="http://schemas.openxmlformats.org/officeDocument/2006/relationships/slide" Target="/ppt/slides/slide8.xml" Id="Rb1bfeeccc53d4297" /><Relationship Type="http://schemas.openxmlformats.org/officeDocument/2006/relationships/slide" Target="/ppt/slides/slide9.xml" Id="Rfa340f875b3d4b31" /><Relationship Type="http://schemas.openxmlformats.org/officeDocument/2006/relationships/slide" Target="/ppt/slides/slide10.xml" Id="R846dc153d3394c1c" /><Relationship Type="http://schemas.openxmlformats.org/officeDocument/2006/relationships/slide" Target="/ppt/slides/slide11.xml" Id="R14cc41cdd13c4285" /><Relationship Type="http://schemas.openxmlformats.org/officeDocument/2006/relationships/slide" Target="/ppt/slides/slide12.xml" Id="R345b813b58d241c7" /><Relationship Type="http://schemas.openxmlformats.org/officeDocument/2006/relationships/slide" Target="/ppt/slides/slide13.xml" Id="R5b12946b3a9541b4" /><Relationship Type="http://schemas.openxmlformats.org/officeDocument/2006/relationships/slide" Target="/ppt/slides/slide14.xml" Id="R6cf1c1411e2449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0c1c8ca0e4b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48c1c1e1c54e81" /><Relationship Type="http://schemas.openxmlformats.org/officeDocument/2006/relationships/notesMaster" Target="/ppt/notesMasters/notesMaster1.xml" Id="R87fc8a5a05e84a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4c6a74efd4cdc" /><Relationship Type="http://schemas.openxmlformats.org/officeDocument/2006/relationships/notesMaster" Target="/ppt/notesMasters/notesMaster1.xml" Id="Rddf0dc586644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8b3189f03490f" /><Relationship Type="http://schemas.openxmlformats.org/officeDocument/2006/relationships/notesMaster" Target="/ppt/notesMasters/notesMaster1.xml" Id="R5584598648b944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4f12d8e79948e4" /><Relationship Type="http://schemas.openxmlformats.org/officeDocument/2006/relationships/notesMaster" Target="/ppt/notesMasters/notesMaster1.xml" Id="R329333e6ffe84d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b7e8ef87034f2e" /><Relationship Type="http://schemas.openxmlformats.org/officeDocument/2006/relationships/notesMaster" Target="/ppt/notesMasters/notesMaster1.xml" Id="Rda2830012f414d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20fef376484407" /><Relationship Type="http://schemas.openxmlformats.org/officeDocument/2006/relationships/notesMaster" Target="/ppt/notesMasters/notesMaster1.xml" Id="R92e0dfc39b7841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cd45ba111498a" /><Relationship Type="http://schemas.openxmlformats.org/officeDocument/2006/relationships/notesMaster" Target="/ppt/notesMasters/notesMaster1.xml" Id="R9df2a25a25c44b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d5ec3ae6074142" /><Relationship Type="http://schemas.openxmlformats.org/officeDocument/2006/relationships/notesMaster" Target="/ppt/notesMasters/notesMaster1.xml" Id="Ree6cca99af3449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bdf6748fac4d32" /><Relationship Type="http://schemas.openxmlformats.org/officeDocument/2006/relationships/notesMaster" Target="/ppt/notesMasters/notesMaster1.xml" Id="Re0662fe8cf4f44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c1906268e44fe1" /><Relationship Type="http://schemas.openxmlformats.org/officeDocument/2006/relationships/notesMaster" Target="/ppt/notesMasters/notesMaster1.xml" Id="Rbafdd4d1347445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2a5ae507ce422f" /><Relationship Type="http://schemas.openxmlformats.org/officeDocument/2006/relationships/notesMaster" Target="/ppt/notesMasters/notesMaster1.xml" Id="R9c39a9598bd647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ee14690c614eff" /><Relationship Type="http://schemas.openxmlformats.org/officeDocument/2006/relationships/notesMaster" Target="/ppt/notesMasters/notesMaster1.xml" Id="R05f709fd53b442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11a1091f1c45cc" /><Relationship Type="http://schemas.openxmlformats.org/officeDocument/2006/relationships/notesMaster" Target="/ppt/notesMasters/notesMaster1.xml" Id="R21b8909d6b5043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d2b24943f84070" /><Relationship Type="http://schemas.openxmlformats.org/officeDocument/2006/relationships/notesMaster" Target="/ppt/notesMasters/notesMaster1.xml" Id="R859d0eab50f94f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prompt: Where have students seen capacitors? Ask why a camera flash can release energy much faster than a battery.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route. Tell students the equation will make sense only after they understand charge separation.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conservation of charge. The capacitor stores separated charge and an electric field between conductors.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historical image briefly: design and packaging changed, but every capacitor still contains two conductors separated by a dielectric.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'fully charged' means the capacitor voltage equals the supply voltage, not that the capacitor has reached its maximum possible charge.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the definition before calculating: at the same voltage, the capacitor holding more separated charge has the larger capacitance.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what a steeper Q-U line means. Emphasize that C is the slope and does not depend on which point is selected.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original water analogy, then explicitly identify its limitation so students do not imagine charge filling a single container.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parallel-plate result as a structural model. The definition C = Q/U tells what capacitance means; C = εA/d tells what determines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each panel as a controlled comparison: change one structural variable while keeping the others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Practice reading component labels. Point out that a typical electrolytic capacitor may be in microfarads, while timing and radio circuits may use nanofarads or picofarads.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rated voltage includes a safety margin. A capacitor's printed voltage is not its operating voltage; it is the maximum recommended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estimate the order of magnitude before calculating. Check that microfarads are converted to farads.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check as an exit ticket. Expected answer: for the same capacitor, doubling Q also doubles U, so Q/U remains constant.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6ff58742f4a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9a9d76fa7540d0" /><Relationship Type="http://schemas.openxmlformats.org/officeDocument/2006/relationships/slideLayout" Target="/ppt/slideLayouts/slideLayout1.xml" Id="R46ab54b640de43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b54b640de43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d422c13c4618" /><Relationship Type="http://schemas.openxmlformats.org/officeDocument/2006/relationships/image" Target="/ppt/media/image.jpeg" Id="R781804cc05504f89" /><Relationship Type="http://schemas.openxmlformats.org/officeDocument/2006/relationships/notesSlide" Target="/ppt/notesSlides/notesSlide1.xml" Id="R7c9ae12e1d28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5688357824384" /><Relationship Type="http://schemas.openxmlformats.org/officeDocument/2006/relationships/notesSlide" Target="/ppt/notesSlides/notesSlide2.xml" Id="R06c2fb1794f1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df8d93c1944b8" /><Relationship Type="http://schemas.openxmlformats.org/officeDocument/2006/relationships/notesSlide" Target="/ppt/notesSlides/notesSlide3.xml" Id="R5db0d3466a764f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acada9662453e" /><Relationship Type="http://schemas.openxmlformats.org/officeDocument/2006/relationships/image" Target="/ppt/media/image2.jpeg" Id="R70f3a37e25e04bb7" /><Relationship Type="http://schemas.openxmlformats.org/officeDocument/2006/relationships/image" Target="/ppt/media/image3.jpeg" Id="R5e4c719bfd1a4c6f" /><Relationship Type="http://schemas.openxmlformats.org/officeDocument/2006/relationships/notesSlide" Target="/ppt/notesSlides/notesSlide4.xml" Id="R298222bd93a3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9208024324eaf" /><Relationship Type="http://schemas.openxmlformats.org/officeDocument/2006/relationships/notesSlide" Target="/ppt/notesSlides/notesSlide5.xml" Id="R20f93c2e7f9049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7515d4e4a4463" /><Relationship Type="http://schemas.openxmlformats.org/officeDocument/2006/relationships/notesSlide" Target="/ppt/notesSlides/notesSlide6.xml" Id="Re67db4c912ed40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2b49d68ea4bbf" /><Relationship Type="http://schemas.openxmlformats.org/officeDocument/2006/relationships/notesSlide" Target="/ppt/notesSlides/notesSlide7.xml" Id="R5fe4d4f86adc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294d5d00143a3" /><Relationship Type="http://schemas.openxmlformats.org/officeDocument/2006/relationships/image" Target="/ppt/media/image4.jpeg" Id="R50dbf63f02f64f7c" /><Relationship Type="http://schemas.openxmlformats.org/officeDocument/2006/relationships/image" Target="/ppt/media/image.png" Id="R4437011e66cb49c9" /><Relationship Type="http://schemas.openxmlformats.org/officeDocument/2006/relationships/notesSlide" Target="/ppt/notesSlides/notesSlide8.xml" Id="R8051ae2e3869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0e8da74ff44a6" /><Relationship Type="http://schemas.openxmlformats.org/officeDocument/2006/relationships/notesSlide" Target="/ppt/notesSlides/notesSlide9.xml" Id="R0519bb7b945443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e441795214cf6" /><Relationship Type="http://schemas.openxmlformats.org/officeDocument/2006/relationships/notesSlide" Target="/ppt/notesSlides/notesSlide10.xml" Id="Rd0666aa71c2b47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c62d0ba154aa9" /><Relationship Type="http://schemas.openxmlformats.org/officeDocument/2006/relationships/image" Target="/ppt/media/image5.jpeg" Id="R68b8f97253a84692" /><Relationship Type="http://schemas.openxmlformats.org/officeDocument/2006/relationships/notesSlide" Target="/ppt/notesSlides/notesSlide11.xml" Id="R44da072c025643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e4294f15442d9" /><Relationship Type="http://schemas.openxmlformats.org/officeDocument/2006/relationships/image" Target="/ppt/media/image6.jpeg" Id="R6aeb0824d95f4fe5" /><Relationship Type="http://schemas.openxmlformats.org/officeDocument/2006/relationships/notesSlide" Target="/ppt/notesSlides/notesSlide12.xml" Id="R5e7814e24e0241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7e7626497402b" /><Relationship Type="http://schemas.openxmlformats.org/officeDocument/2006/relationships/notesSlide" Target="/ppt/notesSlides/notesSlide13.xml" Id="R2a7ca6f96f0941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7cac23d2a4820" /><Relationship Type="http://schemas.openxmlformats.org/officeDocument/2006/relationships/notesSlide" Target="/ppt/notesSlides/notesSlide14.xml" Id="R8d53ef62a3ed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D52950-9253-4367-98F0-6BEC7B32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CAPACITANCE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75124-FA0F-40F4-B283-01E47ECC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much charge</a:t>
            </a:r>
          </a:p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can one volt hold?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03F70-8D8F-4F8B-A05E-D10F9DC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14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A lesson on capacitors, charge separation, and the meaning of C = Q/U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5846E-7067-4470-95F7-C3D451B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C4"/>
          </a:solidFill>
          <a:ln xmlns:a="http://schemas.openxmlformats.org/drawingml/2006/main" w="0">
            <a:solidFill>
              <a:srgbClr val="F7E8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9C236-977D-480B-9FB8-5423F486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STORE • MEASURE •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0D897-DB06-46AE-A165-C093C0F3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804cc05504f89"/>
          <a:srcRect xmlns:a="http://schemas.openxmlformats.org/drawingml/2006/main" l="10417" t="0" r="10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FA869-F811-4B35-A73D-0C4A196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952500"/>
            <a:ext cx="5143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90502-892B-4528-9DD5-C3F288A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5922"/>
            <a:ext cx="356616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B0E7F-1996-4DDB-917D-3E21394B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716" y="2952750"/>
            <a:ext cx="27432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D8D98-BA24-476A-B220-1CA1339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308" y="2952750"/>
            <a:ext cx="27432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70918-875D-4731-95D4-0ECE7D26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740" y="3185922"/>
            <a:ext cx="356616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998B1-7985-41A3-9E46-ABA2811B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E8F76-EA83-47E5-889A-93C987C3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1A8A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1A8AF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58945-05CE-4D09-9CD2-3CE8F824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6472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0D381C-F4AC-4063-8CF1-135EA87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22E2CE-4B25-4D5F-9CBE-0816098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LESSON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77300-1F9F-4063-9CC1-3F76726E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Build the idea in four moves.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B5459-5A04-4A92-BAB4-9718782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990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38E33-00DB-481C-92F3-C2DC57FC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B64B5-F62F-49E6-9E97-88611172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05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DF4C4-8E7B-4863-901F-BA74009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SEPARATE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886EE-D531-4372-BF21-559A243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How two conductors store equal and opposite charge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6341D-2AC0-4BFC-BFA5-04D6ACD1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2149E-9DCE-4EC3-88BF-8B530B7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05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B9E28-BB44-4B80-9B61-9A0CFA50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8ADDA-CAA3-42C4-8888-5DCC800F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7195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Why capacitance means charge stored per volt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E638F-BDE2-4BF9-B9A1-D02DF73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421D0-B531-4CD9-B6AB-31F533DE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DE074-F314-4878-9876-CDCCD964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8779E-F487-4125-BD52-315F807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How area, spacing, and dielectric change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7A920-52F5-4E95-BC65-3808C3AD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AA228-6A64-4C55-A4D5-532F0388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AF968-D64B-47B2-BA89-DC941645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APPLY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A600A-89B2-4F41-8858-4DA9812F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2133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How to use units, ratings, and C = Q/U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BA851-8990-4D0E-9DCD-0B96156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Essential question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3C468-FCAB-481A-B593-5E8FFBC6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8637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What does a capacitor's capacitance tell us?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EAA5F-215E-42AA-B827-A0C2560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F6AEE-1EF2-4FD6-AEC3-0B8FEBBB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85520-3C0E-4A40-A7EF-E84A968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41258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CED88AC-0D9F-4442-8D21-E65E55F5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8EA1B7-47B2-4C99-BD15-E896445C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CHARGE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690A9-E9C7-48A6-9B0B-C4A0CD5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A capacitor stores charge by separating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037AD-F16E-4665-BFA9-6D529244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374D9-48B9-4526-9DFF-6C81470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28875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A262D-0418-4EB0-80E8-8A24565A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28875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2D900-8F21-460F-9D5D-8AD6AE5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00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8C709-D713-44D8-AD45-4252EA3E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9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40630-7B52-476E-9698-52C82B7D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003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585D9-B129-4D9B-BBC2-D15E7557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9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07A64-7C49-4E05-B8AA-281AF359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95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B3503-76F0-48B0-BBDA-339F6B4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86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45C01-4546-4741-9BE5-8C11F13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95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E55A6-0A50-48EC-A2D6-59E7C89B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86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40FA7-E4B3-44A2-B39E-E0E361D7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90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15F34-4337-4DAD-B5C9-53510D95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81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C7FEE-D4E8-4DE6-85C9-CBD7A260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90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6EBE8-41A2-4261-9D95-5BBC9E4D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1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6F66E-C56D-42A8-BAFF-60390843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86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4AB35-1779-4608-B0E1-51956BA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76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AA043-9DCB-4991-B4BA-8B2F4A17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86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77538-3717-4BA2-A470-0D08C513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76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B12D7-6FD2-4F8E-8492-0AA5686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81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D65A3-1842-473C-AA1D-4860850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F2ECA-BA56-4994-B02F-B3643ED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81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02458-AEF0-47C1-993D-1993EE2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72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9592B-E831-45E4-8FB4-A1922D6F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95A7D-F770-46A3-9ADC-3D561E8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48250"/>
            <a:ext cx="1952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AA5467-2748-44FC-931C-49AE94F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05197"/>
            <a:ext cx="356616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90F604-6DA7-49C3-B463-C49A7A43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866" y="4772025"/>
            <a:ext cx="27432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06323-D11B-4D78-9751-B15F88CF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458" y="4772025"/>
            <a:ext cx="27432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3FB99-F78F-486D-8E91-C36746A0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5005197"/>
            <a:ext cx="356616" cy="205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2A16A-7403-4F11-AE1D-59C07CED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372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conductor 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D68D22-3F22-45AA-8DEA-7DF35BC0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721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conductor 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386E2-C6DD-461C-AE41-D61441E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0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insulating gap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C05A3-10E9-454A-8C8A-F199DC8B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90825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+Q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9FAAF0-CD34-4427-9958-A83E2A0C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90825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−Q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F47827-13D7-421F-833A-0F14755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No net charge is created.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115027-636A-4A71-9F01-1C790CA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Electrons are moved from one conductor to the other. The plates carry equal-magnitude, opposite charges.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D7A1B2-B964-4363-B948-364E3391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solidFill>
              <a:srgbClr val="DCEC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214FF7-D5EF-47B7-88DC-93ABE781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A capacitor needs two conductors separated by an insulator.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9D098D-6C5A-4387-A242-1F7473F2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A54287-CAF9-42F5-8E10-694ECF4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8DA145-F8FA-4C88-AE48-A7FCB2EC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82770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593645-EFF2-4950-82BA-879778E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A37DFA-4418-4478-A596-5B1E6A4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SAME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F1F22-9B0D-4368-9533-7E5CC2A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From Leyden jars to modern components, the structure is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5F44B-A582-45C7-8EBE-6EF7E212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3a37e25e04bb7"/>
          <a:stretch xmlns:a="http://schemas.openxmlformats.org/drawingml/2006/main"/>
        </p:blipFill>
        <p:spPr>
          <a:xfrm xmlns:a="http://schemas.openxmlformats.org/drawingml/2006/main">
            <a:off x="1918617" y="1809750"/>
            <a:ext cx="2144465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ED4C0-5DF3-466D-AA6A-4F2142B4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C4"/>
          </a:solidFill>
          <a:ln xmlns:a="http://schemas.openxmlformats.org/drawingml/2006/main" w="0">
            <a:solidFill>
              <a:srgbClr val="F7E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D9A1C-CB12-48EE-9990-8D99ECC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67275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EARLY CHARGE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0529F-C67B-4809-AC4D-28E1565F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09750"/>
            <a:ext cx="4762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c719bfd1a4c6f"/>
          <a:srcRect xmlns:a="http://schemas.openxmlformats.org/drawingml/2006/main" l="0" t="5022" r="0" b="5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180975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B4150-0AB7-4A83-B7E5-08033A8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solidFill>
              <a:srgbClr val="DCE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58D00-9CCA-453E-9DA1-92A1BD3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67275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MODERN CAPACITORS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2F17A-13B6-4316-B548-86896AE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3AFD4-E9D6-483B-A72A-365ECA38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6737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conductors + insulator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827E7-70C2-41CA-961D-E80CF78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8BF9F-94A6-4E2F-BB5C-3477905F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773F6-8600-4467-B44A-6943D551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3158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B7E10F5-49CF-4F11-BC93-F7B3FB4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2BF02D-A8A9-46C7-8700-2EEE12BC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CHARGING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C6EEF-2BFC-4DE4-B94F-1084C425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A battery moves electrons until the capacitor voltage matches the supply.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B693B-F905-49AC-BCC7-D259C44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238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F98AD-2F42-4EF3-ACDD-DCF1EF31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solidFill>
              <a:srgbClr val="DCE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BA2D6-8662-446E-8A07-110C709E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50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UNCHARGED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120F0-2417-4393-81EC-1342F9A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57500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73170-97D5-4CA7-A767-4BCB81DD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57500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3509A-9CF9-4AD5-AEDD-E841D76F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U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73116-2D8A-4FBC-BBC3-529299F3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No charge separation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33083-DF3B-4571-B558-7D6B3F14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05000"/>
            <a:ext cx="3238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C4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C72FF-18B8-4991-8556-33172C19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67BF9-EF72-4B4D-BF90-9331848A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050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CHARGING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9A67D-0D84-46F3-A706-474BDC9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57500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7AD27-2184-4269-A772-0EBB87B9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57500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004AA-A5AF-4553-A3ED-1C70BB01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12D03-0598-4654-ADD7-7C652AE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19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15497-5010-4D79-81F0-3E91E70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336F0-046B-47AA-A4D6-04A56220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19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A4027-E089-4255-8864-C2DDB170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C6010-4674-4198-A493-F193B1C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533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8A456-1A84-4E02-BB9D-BFF392E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AC18E-4478-4A91-9D70-52F16AD0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33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1E6FB1-F9A1-42F7-B44D-68481366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1DB15-C4A9-4238-8028-FA8C908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48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A82C3-8FDE-4606-AE8D-DB7BD902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A975E-1928-463B-A4DD-FB4FECB1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E165BF-E05A-469F-A6AC-D2508FD2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0 &lt; U &lt; 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ED5D6-7635-4483-A510-7BF49F0C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Electrons are moving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EB655E-351C-4106-B689-DFA6074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238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A455A-0EE3-4C8D-A7C1-D512ED68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solidFill>
              <a:srgbClr val="DCEC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161F3E-F02C-465C-8D9E-F6C0B81C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050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FULLY CHARGED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7922C5-83D1-45FE-AA8A-B7746B00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52955-8B44-4BD2-8EBB-00C5E6B9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857500"/>
            <a:ext cx="114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EF4A23-6DCD-4548-B808-F810ED8C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048DB3-ED47-4EA9-A39F-B5EE467F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19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35B4FC-9AB8-462E-931F-CC16C5F5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DCB878-90CF-44CF-9333-0CAEB45C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2ED7A0-AA8F-4D7F-B346-673052AF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04720D-5502-4C4B-BC92-F52858C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76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426694-4E80-4971-8733-53BE1179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86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6DCEB4-C885-4382-B786-18B4EF6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76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9F93A5-EA5B-4FC1-A039-F3B3185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FF62B5-61A8-4D37-B2EE-5782DB99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33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BEFCAC-F297-4FC7-9296-F81B02FB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5293DD-8C89-4D4B-AE14-038B8866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33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717C27-81DD-44C3-8470-E3C944A3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578712-B67C-450E-BAC8-40B6E6D3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90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E1CBB4-909E-4487-ACD4-32FE42EA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00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8A6E4D-6EF7-46F9-8D68-F9EABD2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90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5070B4-5788-4A65-A7CC-B16C4EA5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A0E4CF-E56E-4EFA-AA14-F11FC2EB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48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4ACA8E-83BE-4DDF-B8B1-3F627A16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57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4139FC-2068-413C-BC06-8B027120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048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43E074-C329-4CDC-9D2F-70BCD7A9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U = V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82E6C6-8065-4D72-9C27-4B6880EB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482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Current falls to zero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2B3F61-ECF4-4650-ABCC-520B05F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DAC5B7-AA69-429A-940E-8D750550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5964AA-9D25-4EE3-A6AD-AAC2E777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10250"/>
            <a:ext cx="598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More separation → larger potential difference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70C17FB-8227-4096-9554-B31CADD8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899929-2A4A-4C13-81F1-574A22BF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2FF5A5-4B51-49D4-AFA0-BA60B11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7940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91D655-1B72-45CA-B2FE-60CD07DD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27C8D7-44F3-485D-B916-FE59FD06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E8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8C4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80BEC-21D4-4162-934E-F51D574E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Capacitance is charge stored per volt.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AFAB4-328F-42CF-9BC6-9A78EA52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C = Q / 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34806-EC39-433B-A5A2-AE692E7C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Q = magnitude of charge on either plate</a:t>
            </a:r>
          </a:p>
          <a:p xmlns:a="http://schemas.openxmlformats.org/drawingml/2006/main">
            <a:pPr algn="l">
              <a:defRPr sz="1650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U = potential difference between the plates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14A99-15AE-4613-BEF6-D1316D1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23950"/>
            <a:ext cx="95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759FE-41B0-4038-9A2A-F289FBB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90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Same voltage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A2F0D-D3B5-42D0-93F6-66F3D5D9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09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E"/>
          </a:solidFill>
          <a:ln xmlns:a="http://schemas.openxmlformats.org/drawingml/2006/main" w="11430">
            <a:solidFill>
              <a:srgbClr val="385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25C40-D0A9-4846-8E79-1FCC6D46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D0FA1-F478-42D5-A6A6-727C346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CC73-D8B3-4CCF-931F-DE692D54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F0206-27C0-4C35-8DD3-263C6A8C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15277-D2CD-4556-B2CD-2DD33BD0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BEF51-069D-4EF5-994E-56EA7DAA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33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0310E-5B21-4285-B6DC-173A72C9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5F587-7A1F-4B60-8745-4ECFBE3E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1F300-5685-4DAF-B831-9C81D364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666ED-9873-4A0B-AE23-FA822A5C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0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DCA00-78B1-4AD9-9CC1-405CA8A3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42FBF-7C7F-408F-99C8-D596DA3B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C9CA0-2AA6-450F-8E1A-18C7277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92A5C-10EF-4FA3-B36E-84AD3A18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67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4A7A73-C41E-4E22-98A4-A30F180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86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smaller 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827C4-9CFD-4C11-94E3-5D761416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05000"/>
            <a:ext cx="209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E"/>
          </a:solidFill>
          <a:ln xmlns:a="http://schemas.openxmlformats.org/drawingml/2006/main" w="11430">
            <a:solidFill>
              <a:srgbClr val="3850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EE7A7-1FCD-4C7E-84E7-D91CBD74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62200"/>
            <a:ext cx="95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CA7A7-FDD5-4550-87F5-9AD8374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62200"/>
            <a:ext cx="95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E412E-8651-4914-ACE3-E251563D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33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10B8E-DDAD-4AD2-AA30-B50315EB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F7425-5AFA-47E7-9815-BAAA05E3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33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E4F2C2-11C6-4CD3-8C1C-52F4797B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24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505D6-4DE1-4B8E-80BB-5E21420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416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86485E-1B89-4AC1-BB83-2BF3ADE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9463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AB26BB-E9EF-4B33-9AF0-FA65AF3E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0416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C42A3-64A4-4DE0-A5DE-E213BBB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9463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42C777-012D-43F8-8D01-EB01F58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7467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778C6-FD78-41BB-9183-2FF6BF7F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6514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9A8731-6B61-4F59-895C-B1682FD4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7467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F4005F-1035-4306-8782-B7186034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6514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7B0957-A2EC-4881-B21A-DAAE4C6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4518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562AD7-B1AF-4B6B-AADE-AB4F374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565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2314F0-C1F3-4716-8660-3B18D550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4518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6072EC-2BE6-4FE9-ACE0-8C669E46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3565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66468F-43B0-45C5-B7E2-84B25555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569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051124-F08B-48F7-A2CF-B2207DC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616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EF3882-C863-4566-9411-20A44279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1569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670BC8-750E-48C1-99ED-1E056FE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0616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8E7185-9B91-4F03-B852-8370CB39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A66E13-62D8-4CD9-A644-163922EE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078BC7-A7B2-4E13-BEA2-6C7E0B5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8C65BC-18FE-43F1-8B60-500628F7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76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4B0D39-A634-4F02-96D0-AFACB7E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86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larger Q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C63608-57EE-4516-A6BA-733A90AC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95875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Higher capacitance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E955EA-97A2-4531-AB75-58D94E3F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E4BE85-D28E-427A-9606-BDCA9A0A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1A8A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1A8AF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A4A29A-504D-43A8-BE4F-1D772CF0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174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BC9BB4-664B-448D-A784-B1644B98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5AED89-7A2C-4E4D-90D3-ABAE206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Q–U RELATIONSHIP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CDC27-CC97-43F7-BEB0-3AB031D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For one capacitor, Q ∝ U—and the slope is 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A3BEE-4524-4B65-A10B-4C8FB65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DB52B-7B40-4880-B657-A401B80E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BE230-CB2D-4F7C-AB85-9A3FAAD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8575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5F659-1204-42DA-A902-CDB9FAD5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FB0B6-DC4A-4ADA-992F-1CB5EDA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81225"/>
            <a:ext cx="266700" cy="4000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6F683-D13A-49FE-BD15-F743582B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U (V)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B514B-F227-4B6B-B0FE-38C49F4A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Q (C)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7C431-4255-41EF-9D9F-BE5B28A0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C446D-6B24-428A-AA9D-5641C36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cxnSp>
        <p:nvCxnSpPr>
          <p:cNvPr id="13" name=""/>
          <p:cNvCxnSpPr>
            <a:stCxn xmlns:a="http://schemas.openxmlformats.org/drawingml/2006/main" id="11" idx="7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V="1">
            <a:off x="1635510" y="2730885"/>
            <a:ext cx="4701405" cy="232015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D6B6B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AC156-B794-483C-AD0A-4B72A2D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72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C9E57-99AD-44E5-A649-5728D11C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91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1EEDD-0463-4DDE-A897-041B6C3B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6EA29-69AB-449F-B95C-88304EB1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1322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52B35-D1CE-4DE0-BC86-F8B1B990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slope = ΔQ / ΔU = 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68B73-698F-40A4-B88B-C2D1C1B7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Changing Q and U moves the operating point along the same 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32785-DD0B-4A9F-ADA4-45258265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solidFill>
              <a:srgbClr val="DCEC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2F61D-AEAB-472C-9AC6-D86F953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The line's slope stays fixed because C is a property of the capacitor.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54212-CA93-4862-AB1D-F54BA1D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Key distinction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AC3FD-A487-4590-8707-0B1C8EA8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81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C does not increase just because Q increases.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F2B89-22B4-4004-8BE4-8F42820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9D06B1-8BE5-4819-A8A1-A0E43D78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C68526-76BE-4593-9158-4323DDC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1716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CE2FC11-43C9-43C0-8079-53CDC455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35911B-C8A6-4E09-9BE6-265761B0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ANALOGY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AD664-710D-409A-8765-CD765C08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094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Water storage is useful—until the analogy starts to mislead.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D0ECD-3F3B-4C6E-9A31-AD21496E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bf63f02f64f7c"/>
          <a:stretch xmlns:a="http://schemas.openxmlformats.org/drawingml/2006/main"/>
        </p:blipFill>
        <p:spPr>
          <a:xfrm xmlns:a="http://schemas.openxmlformats.org/drawingml/2006/main">
            <a:off x="857250" y="2095500"/>
            <a:ext cx="2095500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7011e66cb49c9"/>
          <a:stretch xmlns:a="http://schemas.openxmlformats.org/drawingml/2006/main"/>
        </p:blipFill>
        <p:spPr>
          <a:xfrm xmlns:a="http://schemas.openxmlformats.org/drawingml/2006/main">
            <a:off x="3219450" y="21145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D91B0-4850-4A52-8705-F96768B5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amount of water ↔ separated charge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84012-6DEC-46EA-83DB-2B134B0E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container capacity ↔ capacitance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6046E-7800-42D1-86F4-878628EF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52578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5EA54-067F-494F-A53A-0153C054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Use the analogy for comparison: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81C05-77A0-4DA3-8A51-C6CA87DE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286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 the same “pressure,” a larger-capacitance device holds more charge.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0F1D8-CBDB-424D-9933-E8F6F69A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F9948-363E-4D80-B532-9F48DE8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But remember: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74319-EF79-425A-9A91-614D83D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Voltage is potential difference, not literal fill height. Charge is separated across two conductors.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C632F-2A4A-4086-A3C9-215F6FCF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F07EC-1819-4522-A0AE-3145A1EF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0B94E-1F34-4D07-92F7-21734AF6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88344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2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4BD667-D138-4773-930C-412CD338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45B667-2E4E-4874-ADB2-EAA93BB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E8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8C4"/>
                </a:solidFill>
                <a:latin typeface="Arial"/>
                <a:ea typeface="Arial"/>
                <a:cs typeface="Arial"/>
              </a:rPr>
              <a:t>PHYSICAL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F40C3-6F6F-48CE-AA04-91DAD971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5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Geometry and dielectric set capacitance.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646B2-1BF6-45F0-9C62-63D1F9FB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Parallel plates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51D4C-FC80-4C26-AE86-CB3DE3D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C7368-C35B-4F93-BCD6-2FC101A0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99293-A8ED-409A-92A4-5ED1A11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47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A71C6-C340-4BE1-9163-171E7BD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2A96C-852F-49A3-973C-3C238CE7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FB1C7-9329-48EC-8BB8-55BC2C1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38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7D885-0049-41AD-BC3C-CC7A698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087D9-0B04-4F61-8450-6A2FAD31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64701-3E1F-4399-8E1D-7B68840E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AA6B4-6CD2-41E2-B0CE-89F53158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4A697-7BB4-4E31-9477-992331A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55DBB-9193-4EC1-83C7-43A6CCED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29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3E4B9-E1C4-4C7A-A14F-F984EA68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57C1C-7EEC-4038-9858-511F8C78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29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0E6F2-7FD9-4DF8-8E25-3048EC9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3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FA30F-53F2-41AB-BCCA-0BE593AB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24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6D091-8517-4428-976F-A4EC2BD5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AC58D-0B33-48FB-8481-5C18C37D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243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1B51EC-DBA4-4841-BB22-98CA2DA7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6D57ED-2804-42F0-9B82-D130968B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19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F765BF-FF40-4EDF-82AA-C75A4C00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B07BB-03E7-4FA8-ABBF-C006C9B7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196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5A7C5-E020-4509-80F9-1FE0F90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29000"/>
            <a:ext cx="1028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D1AA4-C77F-4D62-B52A-F44585DA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E29D8-8822-4D45-98D3-B943825D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overlap area 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5872D6-1EB9-4EC1-A6C1-B9315ABF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F02A9-DA54-4272-915E-1D0628CF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095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C = εA / 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FFEC54-B957-4B42-B85A-DAEDDA21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141FA0-0D4B-45B3-9E9B-BE0B2EB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337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CAB362-7736-45CB-B0B9-0941BB8F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plate overlap area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FA03C0-F2CD-4358-B956-488C5F4A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larger A → larger 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64B8C5-7EFA-4978-8842-E1E4D288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E05E41-F498-441C-85FE-F81F848F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B1AE75-88B4-4BF1-BDF7-23C52AD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plate separation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5572EE-0E05-4DDD-8D5A-D5DC652E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957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smaller d → larger 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E572D9-F47B-4990-BC46-37AB1A7B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81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E1FDB5-8980-40CD-9498-7B00C61A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81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2B4E8C-B1D7-4962-8409-46E71D6F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625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dielectric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33CA82-E557-4DB0-95E1-59D54029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96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larger ε → larger 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C6B6EC-7BB1-4167-88BC-274590A6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11F72C-E564-42BD-9BF7-9CA3ED2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1A8A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1A8AF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CB608B-1855-4761-B52E-5F0E58E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2695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D0F1DD-D2CB-41A5-8A70-4200DBA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FCEFA3-12ED-4B06-9996-1F6F3950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CONTROLLED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BD57B-D566-4A50-BBEA-5FB241D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Three design changes make capacitance larger.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4C240-3D02-4E05-AF28-D8BF589B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D41DE-6A3D-4F63-948D-8346F24C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729FC-5376-4E44-BCC6-3307276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288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A9DB0-8AAE-441B-BB23-7B483FA4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813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4BDD1-351E-482D-8C24-91480AED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813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5AEC5-BD45-4BB9-A6D2-EAB19ECF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49CDA-3CA8-4939-97C7-32CB6A29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AF77F-080D-4508-9E9E-738E8455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3B7FB-89B3-44FC-8770-04F35BF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678D6-E142-4132-B644-A734E2D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2898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D0367-3D62-4A6B-B18E-A076ED4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194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0F16D-FEE6-4905-BC9F-BCB659B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2898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3D710-9D1E-4E53-8971-B6F79AB8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194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EFF97-791B-4B0E-9597-A8C5ADA9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0AD34-B940-4930-80F6-8DE1F929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38486-4B13-41E7-8B16-4D404C76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E1124-0696-4481-AF0A-05025708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C1F6D-7D0A-4415-9A4E-8B5B50A3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814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C4C13-E046-4205-9D9B-A4A82C9F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7193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04298-C8B3-4EF7-9A3E-D12026D5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814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E74B0-467D-48B3-BEB4-D6A719D4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7193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DC05DA-C5BB-4772-A126-6F5B0059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7BD8F-689F-43E3-9260-45C9CA5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48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6633A5-F164-43E3-9AAD-BC736E5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769C0-07A5-46F8-93EC-BD15925A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48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4DF25-4861-4F00-92B3-A4DD6DC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AD181D-9568-4DFF-8BF0-47F01518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A 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B12AF6-C36E-48D3-98CF-1831FB53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more charge can face across the gap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4B31D-94EF-46E2-8D32-687C503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948BF5-B098-432A-A82D-98F7CAE9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6EBB2-9C9D-4FA7-9419-458D577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288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SMALLER GAP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D9263-5448-452A-9A4D-48A7729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81300"/>
            <a:ext cx="19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C7900-1A38-4BDF-8F61-A51A0F88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19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5D95B-FD1C-47E7-93EF-976A9883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D9C41-D2E5-4251-B9DA-8A1B37E1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2733AE-2896-4E75-A387-7207ADC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CDAD14-92EF-4EB8-96CC-FC0250FE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03EA02-0F71-4BBB-9AE8-15288859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2898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223DC8-C8FC-4914-B839-389C88EC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194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2A3656-FBFF-4BD3-94AE-15BEF0FB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2898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0EB934-C198-4445-8F55-6F73C7BB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94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7B1F42-EE2C-4CC0-AE0D-F799247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4062ED-5CC8-4FFB-9AF0-8A1B329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AC2E90-4C1D-43B0-B8FB-C6949C6C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4C9D79-31A1-46D0-9E99-FD56E43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703DC9-CD38-49A0-AC06-EB2329B0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814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D624DB-1385-4AEF-91E0-2E5EF9B7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7193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8BCC0E-5151-4E43-91E0-63BCAF35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14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9E5978-DFE6-4501-8A60-5F6B6C17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193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F89DB5-1BE7-49F8-9542-D1A142E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AE95B6-043D-4E48-B379-96328D27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48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2D1FD4-0BE7-42D6-A2FB-A61EA71D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45AB9A-CD92-4701-BD2F-894687EB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48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E4FB56-B4A9-466A-87A2-F7CE28D5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76250" cy="2476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42D87D-BE10-474C-8F02-F8C3FF20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4762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EA1A54-3B76-44D1-B931-BD95EE00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28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38A668-6151-4B7E-A189-A9D7B60F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530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opposite charges interact more strongly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D9C2F2-A57D-4A4E-B705-B89D1D3A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2CBE8E-2E3D-4C0F-A7E3-3BDAB642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76EB11-7A93-4FFA-B323-4856642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288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DIELECTRIC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3D4E60-6EA9-4B39-9F67-80E1280A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171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281ECA-1C92-4671-9EAA-56260ABC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81300"/>
            <a:ext cx="171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FC6A82-186B-4AC2-B2B2-3F4F59B9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65BF5A-09A1-48E4-A877-E0D113C9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8394C9-F2A1-4680-917E-C42CE26F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AB9514-4098-468A-820E-2D2CDD8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26080C-65BB-4CFE-B871-E29EA84C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2898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5AF36B-4F5F-4BD6-949D-E3B5E69A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94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28CD92-C8CA-42A7-B5EA-1434E7A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2898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122F9E-DAE8-4C15-8BEF-75BA8EF4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19463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033356-6704-45E9-A39C-BAE347F2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11F61C-906D-408C-B78B-02F96365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9A5657B-C856-4C75-A83B-1489A796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052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F15DE29-C607-4AE7-8DA6-FB06285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60D1BD1-4630-4C6B-A352-3080ED1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14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111E13-F745-4A9A-AB13-D8C927D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7193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9C1E3C-385A-44E2-B2BA-915EFDEE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814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9D5CB2-BFB0-4F62-99BA-FD10D502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71938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2F3D23-87F5-4A6D-B500-29A4AA36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57F8B6-32BB-49B2-881D-9941CD5C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48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E84C69-F825-41ED-93EA-5C2A743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57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98EA654-5EE6-485E-97CC-05F1399C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481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16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6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726AF0-452E-4280-857E-0395C6B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552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C4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D4CA199-6037-4E65-8E93-D763A249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552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ε ↑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1FE490-CBD4-4C0F-A304-88E3BFCD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polarization reduces the voltage per Q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6F4D89C-F038-4828-AA97-8D69E5B8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578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All three changes increase C.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F973E6-6E8C-4292-BC5F-A94B30C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AA79A5-A850-4426-9E12-6720AD66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05836B-89FB-4FD0-9D02-AD9892EA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6398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479715-FEDB-43FB-975D-070A097B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8B331F-3D75-4064-A39A-455AC4D4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UNITS &amp;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5503C-4F4A-4F95-B52E-39305D8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One farad is large, so most components use sub-units.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8f97253a84692"/>
          <a:srcRect xmlns:a="http://schemas.openxmlformats.org/drawingml/2006/main" l="6389" t="0" r="6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485775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14612-2FFC-4D0C-8DEE-20ECDA87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11430">
            <a:solidFill>
              <a:srgbClr val="B9C4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789B3-C1B5-47AF-A409-CE58987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76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B24E2-3EB3-46DD-8BF7-38895959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7425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700F2-0DCC-4DFC-A01A-C80B9D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764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farad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1AEE7-0A96-4E7E-842A-6A7BAC1A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1 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EB069-FBEB-4154-9BB7-79DFC39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mF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9A8D6-6421-455E-907E-5A83C82A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6A8D8-BE91-4F61-BD3F-4C71F80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millifarad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396E2-8728-4B32-B433-6F349627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337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10⁻³ 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7FAC9-5BA4-4FD4-B42B-D2F78A97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718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µF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614F3-5CEC-4628-9959-A36FBBB4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52825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3D024-CBD2-4BEF-BB6B-E528C240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718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microfarad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D9D84-6B7E-4236-BAB7-E885F085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10⁻⁶ 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63CF3-CA08-4CE4-9CA7-B607AF1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nF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769CA-2C4B-44C8-AE6A-451295B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005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3E5DD-5404-4587-AC4C-DB7B2E6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nanofarad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CC631-598A-4461-8E2D-9F9C361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29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10⁻⁹ 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BDF9A-8A0D-4D65-BF93-B715DB03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pF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BB6B2-2CEC-4BBF-9B56-4F6DD8DE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48225"/>
            <a:ext cx="971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7078"/>
          </a:solidFill>
          <a:ln xmlns:a="http://schemas.openxmlformats.org/drawingml/2006/main" w="0">
            <a:solidFill>
              <a:srgbClr val="6170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083DD-A57F-4F9B-8581-D32EAEFD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picofarad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1847F-2D45-4989-8CAF-7916F35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768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10⁻¹² 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2332D-DFA1-4B65-A1C2-6FF121A2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1 F = 1 C/V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3CEBE2-5CBF-4363-A242-8A30A1D8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C760F6-B86B-4788-9BC3-6F75753A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FD4AC-A760-4E54-9939-30322115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87787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A3C70FF-32FD-4F5C-B091-E44EFACA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B74AA4-5B20-4385-9267-C5C2EA2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E8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8C4"/>
                </a:solidFill>
                <a:latin typeface="Arial"/>
                <a:ea typeface="Arial"/>
                <a:cs typeface="Arial"/>
              </a:rPr>
              <a:t>VOLTAGE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251F0-BB63-4F59-9297-280805E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47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Capacitance is useful only below the voltage limit.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b0824d95f4fe5"/>
          <a:srcRect xmlns:a="http://schemas.openxmlformats.org/drawingml/2006/main" l="0" t="4651" r="0" b="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09750"/>
            <a:ext cx="409575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2AED3-5753-4C1D-A167-9D0C8D0A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5905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53E"/>
          </a:solidFill>
          <a:ln xmlns:a="http://schemas.openxmlformats.org/drawingml/2006/main" w="11430">
            <a:solidFill>
              <a:srgbClr val="3850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8D7E8-99C2-4399-97AF-333324A6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28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6A01-0177-407C-A12B-EA1C93A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0">
            <a:solidFill>
              <a:srgbClr val="0D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9F93F-8519-4FF0-A408-8877403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09DD6-F5F8-4C72-8F37-D032AC51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E7829-7A97-4229-8D25-173191A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1A8A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1A8AF"/>
                </a:solidFill>
                <a:latin typeface="Arial"/>
                <a:ea typeface="Arial"/>
                <a:cs typeface="Arial"/>
              </a:rPr>
              <a:t>0 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04B93-C430-4A8F-8D1C-D19A22FD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rated voltage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39563-967F-4F57-BDB7-A279E9E4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95875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breakdown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88178-DE36-4599-A3CC-4CB88F98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CECE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DCECE8"/>
                </a:solidFill>
                <a:latin typeface="Arial"/>
                <a:ea typeface="Arial"/>
                <a:cs typeface="Arial"/>
              </a:rPr>
              <a:t>normal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FD3C6-274B-41F4-874A-96876B7B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Stay at or below the rated voltage.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9868C-8214-4C7A-B946-9A2BA3F5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Beyond breakdown, the dielectric conducts.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FC581-3796-4B1B-BD43-BD68FE8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150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breakdown voltage &gt; rated voltage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7E2CB-D570-4782-B55D-3263213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8E3E3-7CC8-4D60-8DD2-6864C59D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1A8A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1A8AF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4A2F4-997F-4FBF-A5F1-FAF15F3B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7830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C451DE-FFCA-44E5-B8AC-266B4540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1EE9615-AA70-4B3B-BF51-16032CE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28065-8DF0-4A47-9012-0B17E4DB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13222A"/>
                </a:solidFill>
                <a:latin typeface="Avenir Next"/>
                <a:ea typeface="Avenir Next"/>
                <a:cs typeface="Avenir Next"/>
              </a:rPr>
              <a:t>Use C = Q/U by choosing the unknown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422B8-A6A9-444D-BD09-322D3912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5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8"/>
          </a:solidFill>
          <a:ln xmlns:a="http://schemas.openxmlformats.org/drawingml/2006/main" w="0">
            <a:solidFill>
              <a:srgbClr val="DCEC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86E45-82A5-4A61-B2AF-C5F96EBF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0429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A 220 µF capacitor is connected to 12 V. What charge magnitude is stored on either plate?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E9297-64D2-4640-94C2-45430DB9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B8202-AEDC-427F-A279-E1335D7C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3D794-F3A2-4861-8878-51A93069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24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Rearrange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C2920-FC67-492F-A711-955AD33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290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Q = 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D2608-0126-4E36-A520-398C5A18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59D40-C57F-42AD-B807-F5E01E1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9B3F9-E262-497D-989F-063FE435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00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Convert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4DFA5-C85E-49EA-AB16-1C5C88BA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053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220 µF = 220 × 10⁻⁶ 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FEB8C-AEF7-4D4D-A278-1B9B7747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05C37-2B2B-4E2B-9EE0-6633DDC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C5272-EA70-4F24-AD36-88B780A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76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CE978-8885-41E2-AD7F-3770661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7524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3222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3222A"/>
                </a:solidFill>
                <a:latin typeface="Arial"/>
                <a:ea typeface="Arial"/>
                <a:cs typeface="Arial"/>
              </a:rPr>
              <a:t>Q = (220 × 10⁻⁶)(12) = 2.64 × 10⁻³ 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AFBFC2-EF9D-4BF5-A3C4-093BAD7B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2A"/>
          </a:solidFill>
          <a:ln xmlns:a="http://schemas.openxmlformats.org/drawingml/2006/main" w="0">
            <a:solidFill>
              <a:srgbClr val="1322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F6E6A-F58F-4E1A-93B3-3E1EEF1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7921F-DC2C-4D24-91DB-800F228D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2.64 mC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363D8-B069-48CD-9B9D-D029E2DB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on each plate</a:t>
            </a:r>
          </a:p>
          <a:p xmlns:a="http://schemas.openxmlformats.org/drawingml/2006/main">
            <a:pPr algn="ctr">
              <a:defRPr sz="1125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(equal magnitude,</a:t>
            </a:r>
          </a:p>
          <a:p xmlns:a="http://schemas.openxmlformats.org/drawingml/2006/main">
            <a:pPr algn="ctr">
              <a:defRPr sz="1125" b="0" i="0">
                <a:solidFill>
                  <a:srgbClr val="C7D4D6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4D6"/>
                </a:solidFill>
                <a:latin typeface="Arial"/>
                <a:ea typeface="Arial"/>
                <a:cs typeface="Arial"/>
              </a:rPr>
              <a:t>opposite sign)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4E51C-8C6D-4750-9006-ADC16463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2"/>
          </a:solidFill>
          <a:ln xmlns:a="http://schemas.openxmlformats.org/drawingml/2006/main" w="0">
            <a:solidFill>
              <a:srgbClr val="B9C4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3E86C-F31C-4E54-9F53-CF405A97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1707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17078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3D8A2-E23D-4C14-93EC-F21CE8A6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67499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22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37398BF-0AD2-4EDA-A434-00BF5490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40929AB-B36E-4469-88A5-17E3F3CE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7E8C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7E8C4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CB0F3-3A9A-43A6-8AFF-F2D6E4E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51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complete mental model answers three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8FAB2-0237-430D-8716-7811E3F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11430">
            <a:solidFill>
              <a:srgbClr val="D95D3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72F1D-8640-479D-AFFF-8AD51496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2D70F-ABB4-4383-8520-57652C15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5D39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5D39"/>
                </a:solidFill>
                <a:latin typeface="Arial"/>
                <a:ea typeface="Arial"/>
                <a:cs typeface="Arial"/>
              </a:rPr>
              <a:t>WHAT IS STORED?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112C3-D11B-49ED-96F3-21AC9C7C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Equal-magnitude, opposite charges separated across two conductors.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2CF56-0039-4789-A28F-7BD9668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D02DD-7664-45F1-B638-EA20045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6B"/>
          </a:solidFill>
          <a:ln xmlns:a="http://schemas.openxmlformats.org/drawingml/2006/main" w="11430">
            <a:solidFill>
              <a:srgbClr val="0D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DE65-2F27-4FF1-8AD2-156C7C1F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107B7-9435-4272-B184-747D95E2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D6B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6B6B"/>
                </a:solidFill>
                <a:latin typeface="Arial"/>
                <a:ea typeface="Arial"/>
                <a:cs typeface="Arial"/>
              </a:rPr>
              <a:t>WHAT DOES C MEAN?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18E38-8182-4E1A-9775-A6EF877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 stored per volt: C = Q/U. For one capacitor, C is constant.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8689A-2D98-4F5C-B4DD-93A57BE1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BE7CD-465D-438B-A3C6-572B5247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11430">
            <a:solidFill>
              <a:srgbClr val="F2A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BBA3E-0E6F-4B91-91C1-A31DBFAF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0558B-CD6A-4EDC-A013-0208D1A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WHAT SETS C?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402C4-6207-4BFC-86AB-BCF3F1C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Geometry and dielectric: larger A, smaller d, larger 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357665-CC48-45B2-B5ED-974FFB56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Final check: Why does doubling Q not automatically double C?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4B2E0-8BDA-407E-9168-261B720D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A"/>
          </a:solidFill>
          <a:ln xmlns:a="http://schemas.openxmlformats.org/drawingml/2006/main" w="0">
            <a:solidFill>
              <a:srgbClr val="3850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0D5AE-A15B-4969-A07D-4D6DFB68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91A8A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1A8AF"/>
                </a:solidFill>
                <a:latin typeface="Arial"/>
                <a:ea typeface="Arial"/>
                <a:cs typeface="Arial"/>
              </a:rPr>
              <a:t>CAPACITANCE • PHYSICS LESSON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673F2-A604-45CB-929A-6F9737C0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A93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8298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2026-06-12T23:46:44.8280000Z</dcterms:created>
  <dcterms:modified xsi:type="dcterms:W3CDTF">2026-06-12T23:46:44.8280000Z</dcterms:modified>
</coreProperties>
</file>